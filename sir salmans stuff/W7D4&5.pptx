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_rels/notesSlide15.xml.rels" ContentType="application/vnd.openxmlformats-package.relationships+xml"/>
  <Override PartName="/ppt/notesSlides/_rels/notesSlide6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5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19.xml.rels" ContentType="application/vnd.openxmlformats-package.relationships+xml"/>
  <Override PartName="/ppt/notesSlides/_rels/notesSlide18.xml.rels" ContentType="application/vnd.openxmlformats-package.relationships+xml"/>
  <Override PartName="/ppt/notesSlides/_rels/notesSlide8.xml.rels" ContentType="application/vnd.openxmlformats-package.relationships+xml"/>
  <Override PartName="/ppt/notesSlides/_rels/notesSlide17.xml.rels" ContentType="application/vnd.openxmlformats-package.relationships+xml"/>
  <Override PartName="/ppt/notesSlides/_rels/notesSlide4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1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6.xml.rels" ContentType="application/vnd.openxmlformats-package.relationships+xml"/>
  <Override PartName="/ppt/notesSlides/notesSlide9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7.xml" ContentType="application/vnd.openxmlformats-officedocument.presentationml.notesSlid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gif" ContentType="image/gif"/>
  <Override PartName="/ppt/media/image5.jpeg" ContentType="image/jpeg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9.xml" ContentType="application/vnd.openxmlformats-officedocument.presentationml.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3.xml.rels" ContentType="application/vnd.openxmlformats-package.relationships+xml"/>
  <Override PartName="/ppt/slides/_rels/slide16.xml.rels" ContentType="application/vnd.openxmlformats-package.relationships+xml"/>
  <Override PartName="/ppt/slides/_rels/slide12.xml.rels" ContentType="application/vnd.openxmlformats-package.relationships+xml"/>
  <Override PartName="/ppt/slides/_rels/slide15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4.xml.rels" ContentType="application/vnd.openxmlformats-package.relationships+xml"/>
  <Override PartName="/ppt/slides/_rels/slide8.xml.rels" ContentType="application/vnd.openxmlformats-package.relationships+xml"/>
  <Override PartName="/ppt/slides/_rels/slide19.xml.rels" ContentType="application/vnd.openxmlformats-package.relationships+xml"/>
  <Override PartName="/ppt/slides/_rels/slide18.xml.rels" ContentType="application/vnd.openxmlformats-package.relationships+xml"/>
  <Override PartName="/ppt/slides/_rels/slide17.xml.rels" ContentType="application/vnd.openxmlformats-package.relationships+xml"/>
  <Override PartName="/ppt/slides/_rels/slide1.xml.rels" ContentType="application/vnd.openxmlformats-package.relationships+xml"/>
  <Override PartName="/ppt/slides/slide16.xml" ContentType="application/vnd.openxmlformats-officedocument.presentationml.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</p:sldIdLst>
  <p:sldSz cx="9144000" cy="51435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move the slide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7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6D43A82A-3D72-43CA-99EF-4173792A2BB4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laceHolder 1"/>
          <p:cNvSpPr>
            <a:spLocks noGrp="1"/>
          </p:cNvSpPr>
          <p:nvPr>
            <p:ph type="sldImg"/>
          </p:nvPr>
        </p:nvSpPr>
        <p:spPr>
          <a:xfrm>
            <a:off x="571680" y="714240"/>
            <a:ext cx="4570920" cy="1928160"/>
          </a:xfrm>
          <a:prstGeom prst="rect">
            <a:avLst/>
          </a:prstGeom>
          <a:ln w="0">
            <a:noFill/>
          </a:ln>
        </p:spPr>
      </p:sp>
      <p:sp>
        <p:nvSpPr>
          <p:cNvPr id="134" name="PlaceHolder 2"/>
          <p:cNvSpPr>
            <a:spLocks noGrp="1"/>
          </p:cNvSpPr>
          <p:nvPr>
            <p:ph type="body"/>
          </p:nvPr>
        </p:nvSpPr>
        <p:spPr>
          <a:xfrm>
            <a:off x="571680" y="2750400"/>
            <a:ext cx="4570920" cy="224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PlaceHolder 3"/>
          <p:cNvSpPr>
            <a:spLocks noGrp="1"/>
          </p:cNvSpPr>
          <p:nvPr>
            <p:ph type="sldNum" idx="4"/>
          </p:nvPr>
        </p:nvSpPr>
        <p:spPr>
          <a:xfrm>
            <a:off x="3237480" y="5428440"/>
            <a:ext cx="2475720" cy="28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75B39F8-9F0D-4745-9CA9-00AD796F7EFC}" type="slidenum">
              <a: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PlaceHolder 1"/>
          <p:cNvSpPr>
            <a:spLocks noGrp="1"/>
          </p:cNvSpPr>
          <p:nvPr>
            <p:ph type="sldImg"/>
          </p:nvPr>
        </p:nvSpPr>
        <p:spPr>
          <a:xfrm>
            <a:off x="571680" y="714240"/>
            <a:ext cx="4570920" cy="1928160"/>
          </a:xfrm>
          <a:prstGeom prst="rect">
            <a:avLst/>
          </a:prstGeom>
          <a:ln w="0">
            <a:noFill/>
          </a:ln>
        </p:spPr>
      </p:sp>
      <p:sp>
        <p:nvSpPr>
          <p:cNvPr id="137" name="PlaceHolder 2"/>
          <p:cNvSpPr>
            <a:spLocks noGrp="1"/>
          </p:cNvSpPr>
          <p:nvPr>
            <p:ph type="body"/>
          </p:nvPr>
        </p:nvSpPr>
        <p:spPr>
          <a:xfrm>
            <a:off x="571680" y="2750400"/>
            <a:ext cx="4570920" cy="224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PlaceHolder 3"/>
          <p:cNvSpPr>
            <a:spLocks noGrp="1"/>
          </p:cNvSpPr>
          <p:nvPr>
            <p:ph type="sldNum" idx="5"/>
          </p:nvPr>
        </p:nvSpPr>
        <p:spPr>
          <a:xfrm>
            <a:off x="3237480" y="5428440"/>
            <a:ext cx="2475720" cy="28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7F1D5BF-1AB4-4B7D-B648-7E7A769F4AB3}" type="slidenum">
              <a: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PlaceHolder 1"/>
          <p:cNvSpPr>
            <a:spLocks noGrp="1"/>
          </p:cNvSpPr>
          <p:nvPr>
            <p:ph type="sldImg"/>
          </p:nvPr>
        </p:nvSpPr>
        <p:spPr>
          <a:xfrm>
            <a:off x="571680" y="714240"/>
            <a:ext cx="4570920" cy="1928160"/>
          </a:xfrm>
          <a:prstGeom prst="rect">
            <a:avLst/>
          </a:prstGeom>
          <a:ln w="0">
            <a:noFill/>
          </a:ln>
        </p:spPr>
      </p:sp>
      <p:sp>
        <p:nvSpPr>
          <p:cNvPr id="140" name="PlaceHolder 2"/>
          <p:cNvSpPr>
            <a:spLocks noGrp="1"/>
          </p:cNvSpPr>
          <p:nvPr>
            <p:ph type="body"/>
          </p:nvPr>
        </p:nvSpPr>
        <p:spPr>
          <a:xfrm>
            <a:off x="571680" y="2750400"/>
            <a:ext cx="4570920" cy="224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PlaceHolder 3"/>
          <p:cNvSpPr>
            <a:spLocks noGrp="1"/>
          </p:cNvSpPr>
          <p:nvPr>
            <p:ph type="sldNum" idx="6"/>
          </p:nvPr>
        </p:nvSpPr>
        <p:spPr>
          <a:xfrm>
            <a:off x="3237480" y="5428440"/>
            <a:ext cx="2475720" cy="28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BDFBEE7-0A3F-4990-8853-4D4A9B910D98}" type="slidenum">
              <a: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PlaceHolder 1"/>
          <p:cNvSpPr>
            <a:spLocks noGrp="1"/>
          </p:cNvSpPr>
          <p:nvPr>
            <p:ph type="sldImg"/>
          </p:nvPr>
        </p:nvSpPr>
        <p:spPr>
          <a:xfrm>
            <a:off x="571680" y="714240"/>
            <a:ext cx="4570920" cy="1928160"/>
          </a:xfrm>
          <a:prstGeom prst="rect">
            <a:avLst/>
          </a:prstGeom>
          <a:ln w="0">
            <a:noFill/>
          </a:ln>
        </p:spPr>
      </p:sp>
      <p:sp>
        <p:nvSpPr>
          <p:cNvPr id="143" name="PlaceHolder 2"/>
          <p:cNvSpPr>
            <a:spLocks noGrp="1"/>
          </p:cNvSpPr>
          <p:nvPr>
            <p:ph type="body"/>
          </p:nvPr>
        </p:nvSpPr>
        <p:spPr>
          <a:xfrm>
            <a:off x="571680" y="2750400"/>
            <a:ext cx="4570920" cy="224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PlaceHolder 3"/>
          <p:cNvSpPr>
            <a:spLocks noGrp="1"/>
          </p:cNvSpPr>
          <p:nvPr>
            <p:ph type="sldNum" idx="7"/>
          </p:nvPr>
        </p:nvSpPr>
        <p:spPr>
          <a:xfrm>
            <a:off x="3237480" y="5428440"/>
            <a:ext cx="2475720" cy="28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A2030A4-9F10-4109-9895-AA89ED0D65A4}" type="slidenum">
              <a: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/>
          </p:cNvSpPr>
          <p:nvPr>
            <p:ph type="sldImg"/>
          </p:nvPr>
        </p:nvSpPr>
        <p:spPr>
          <a:xfrm>
            <a:off x="571680" y="714240"/>
            <a:ext cx="4570920" cy="1928160"/>
          </a:xfrm>
          <a:prstGeom prst="rect">
            <a:avLst/>
          </a:prstGeom>
          <a:ln w="0">
            <a:noFill/>
          </a:ln>
        </p:spPr>
      </p:sp>
      <p:sp>
        <p:nvSpPr>
          <p:cNvPr id="146" name="PlaceHolder 2"/>
          <p:cNvSpPr>
            <a:spLocks noGrp="1"/>
          </p:cNvSpPr>
          <p:nvPr>
            <p:ph type="body"/>
          </p:nvPr>
        </p:nvSpPr>
        <p:spPr>
          <a:xfrm>
            <a:off x="571680" y="2750400"/>
            <a:ext cx="4570920" cy="224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PlaceHolder 3"/>
          <p:cNvSpPr>
            <a:spLocks noGrp="1"/>
          </p:cNvSpPr>
          <p:nvPr>
            <p:ph type="sldNum" idx="8"/>
          </p:nvPr>
        </p:nvSpPr>
        <p:spPr>
          <a:xfrm>
            <a:off x="3237480" y="5428440"/>
            <a:ext cx="2475720" cy="28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E0E4F3E-BE4C-47AD-AA1A-74124128DC74}" type="slidenum">
              <a: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laceHolder 1"/>
          <p:cNvSpPr>
            <a:spLocks noGrp="1"/>
          </p:cNvSpPr>
          <p:nvPr>
            <p:ph type="sldImg"/>
          </p:nvPr>
        </p:nvSpPr>
        <p:spPr>
          <a:xfrm>
            <a:off x="571680" y="714240"/>
            <a:ext cx="4570920" cy="1928160"/>
          </a:xfrm>
          <a:prstGeom prst="rect">
            <a:avLst/>
          </a:prstGeom>
          <a:ln w="0">
            <a:noFill/>
          </a:ln>
        </p:spPr>
      </p:sp>
      <p:sp>
        <p:nvSpPr>
          <p:cNvPr id="149" name="PlaceHolder 2"/>
          <p:cNvSpPr>
            <a:spLocks noGrp="1"/>
          </p:cNvSpPr>
          <p:nvPr>
            <p:ph type="body"/>
          </p:nvPr>
        </p:nvSpPr>
        <p:spPr>
          <a:xfrm>
            <a:off x="571680" y="2750400"/>
            <a:ext cx="4570920" cy="224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PlaceHolder 3"/>
          <p:cNvSpPr>
            <a:spLocks noGrp="1"/>
          </p:cNvSpPr>
          <p:nvPr>
            <p:ph type="sldNum" idx="9"/>
          </p:nvPr>
        </p:nvSpPr>
        <p:spPr>
          <a:xfrm>
            <a:off x="3237480" y="5428440"/>
            <a:ext cx="2475720" cy="28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1E400EC-474D-47A5-8188-5A033D7C3A1C}" type="slidenum">
              <a: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PlaceHolder 1"/>
          <p:cNvSpPr>
            <a:spLocks noGrp="1"/>
          </p:cNvSpPr>
          <p:nvPr>
            <p:ph type="sldImg"/>
          </p:nvPr>
        </p:nvSpPr>
        <p:spPr>
          <a:xfrm>
            <a:off x="571680" y="714240"/>
            <a:ext cx="4570920" cy="1928160"/>
          </a:xfrm>
          <a:prstGeom prst="rect">
            <a:avLst/>
          </a:prstGeom>
          <a:ln w="0">
            <a:noFill/>
          </a:ln>
        </p:spPr>
      </p:sp>
      <p:sp>
        <p:nvSpPr>
          <p:cNvPr id="152" name="PlaceHolder 2"/>
          <p:cNvSpPr>
            <a:spLocks noGrp="1"/>
          </p:cNvSpPr>
          <p:nvPr>
            <p:ph type="body"/>
          </p:nvPr>
        </p:nvSpPr>
        <p:spPr>
          <a:xfrm>
            <a:off x="571680" y="2750400"/>
            <a:ext cx="4570920" cy="224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PlaceHolder 3"/>
          <p:cNvSpPr>
            <a:spLocks noGrp="1"/>
          </p:cNvSpPr>
          <p:nvPr>
            <p:ph type="sldNum" idx="10"/>
          </p:nvPr>
        </p:nvSpPr>
        <p:spPr>
          <a:xfrm>
            <a:off x="3237480" y="5428440"/>
            <a:ext cx="2475720" cy="28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DAA4EF9-B1E4-48C7-977C-D67D49459108}" type="slidenum">
              <a: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PlaceHolder 1"/>
          <p:cNvSpPr>
            <a:spLocks noGrp="1"/>
          </p:cNvSpPr>
          <p:nvPr>
            <p:ph type="sldImg"/>
          </p:nvPr>
        </p:nvSpPr>
        <p:spPr>
          <a:xfrm>
            <a:off x="571680" y="714240"/>
            <a:ext cx="4570920" cy="1928160"/>
          </a:xfrm>
          <a:prstGeom prst="rect">
            <a:avLst/>
          </a:prstGeom>
          <a:ln w="0">
            <a:noFill/>
          </a:ln>
        </p:spPr>
      </p:sp>
      <p:sp>
        <p:nvSpPr>
          <p:cNvPr id="155" name="PlaceHolder 2"/>
          <p:cNvSpPr>
            <a:spLocks noGrp="1"/>
          </p:cNvSpPr>
          <p:nvPr>
            <p:ph type="body"/>
          </p:nvPr>
        </p:nvSpPr>
        <p:spPr>
          <a:xfrm>
            <a:off x="571680" y="2750400"/>
            <a:ext cx="4570920" cy="224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PlaceHolder 3"/>
          <p:cNvSpPr>
            <a:spLocks noGrp="1"/>
          </p:cNvSpPr>
          <p:nvPr>
            <p:ph type="sldNum" idx="11"/>
          </p:nvPr>
        </p:nvSpPr>
        <p:spPr>
          <a:xfrm>
            <a:off x="3237480" y="5428440"/>
            <a:ext cx="2475720" cy="28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4CFEBCF-D153-4BD3-BA67-ADE08788040B}" type="slidenum">
              <a: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PlaceHolder 1"/>
          <p:cNvSpPr>
            <a:spLocks noGrp="1"/>
          </p:cNvSpPr>
          <p:nvPr>
            <p:ph type="sldImg"/>
          </p:nvPr>
        </p:nvSpPr>
        <p:spPr>
          <a:xfrm>
            <a:off x="571680" y="714240"/>
            <a:ext cx="4570920" cy="1928160"/>
          </a:xfrm>
          <a:prstGeom prst="rect">
            <a:avLst/>
          </a:prstGeom>
          <a:ln w="0">
            <a:noFill/>
          </a:ln>
        </p:spPr>
      </p:sp>
      <p:sp>
        <p:nvSpPr>
          <p:cNvPr id="158" name="PlaceHolder 2"/>
          <p:cNvSpPr>
            <a:spLocks noGrp="1"/>
          </p:cNvSpPr>
          <p:nvPr>
            <p:ph type="body"/>
          </p:nvPr>
        </p:nvSpPr>
        <p:spPr>
          <a:xfrm>
            <a:off x="571680" y="2750400"/>
            <a:ext cx="4570920" cy="224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PlaceHolder 3"/>
          <p:cNvSpPr>
            <a:spLocks noGrp="1"/>
          </p:cNvSpPr>
          <p:nvPr>
            <p:ph type="sldNum" idx="12"/>
          </p:nvPr>
        </p:nvSpPr>
        <p:spPr>
          <a:xfrm>
            <a:off x="3237480" y="5428440"/>
            <a:ext cx="2475720" cy="28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396C478-B034-4C63-9BCF-4FFEDEAA79BC}" type="slidenum">
              <a: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PlaceHolder 1"/>
          <p:cNvSpPr>
            <a:spLocks noGrp="1"/>
          </p:cNvSpPr>
          <p:nvPr>
            <p:ph type="sldImg"/>
          </p:nvPr>
        </p:nvSpPr>
        <p:spPr>
          <a:xfrm>
            <a:off x="571680" y="714240"/>
            <a:ext cx="4570920" cy="1928160"/>
          </a:xfrm>
          <a:prstGeom prst="rect">
            <a:avLst/>
          </a:prstGeom>
          <a:ln w="0">
            <a:noFill/>
          </a:ln>
        </p:spPr>
      </p:sp>
      <p:sp>
        <p:nvSpPr>
          <p:cNvPr id="161" name="PlaceHolder 2"/>
          <p:cNvSpPr>
            <a:spLocks noGrp="1"/>
          </p:cNvSpPr>
          <p:nvPr>
            <p:ph type="body"/>
          </p:nvPr>
        </p:nvSpPr>
        <p:spPr>
          <a:xfrm>
            <a:off x="571680" y="2750400"/>
            <a:ext cx="4570920" cy="224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PlaceHolder 3"/>
          <p:cNvSpPr>
            <a:spLocks noGrp="1"/>
          </p:cNvSpPr>
          <p:nvPr>
            <p:ph type="sldNum" idx="13"/>
          </p:nvPr>
        </p:nvSpPr>
        <p:spPr>
          <a:xfrm>
            <a:off x="3237480" y="5428440"/>
            <a:ext cx="2475720" cy="28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1B29ED4-853E-4881-99C6-E1971B971C36}" type="slidenum">
              <a: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PlaceHolder 1"/>
          <p:cNvSpPr>
            <a:spLocks noGrp="1"/>
          </p:cNvSpPr>
          <p:nvPr>
            <p:ph type="sldImg"/>
          </p:nvPr>
        </p:nvSpPr>
        <p:spPr>
          <a:xfrm>
            <a:off x="571680" y="714240"/>
            <a:ext cx="4570920" cy="1928160"/>
          </a:xfrm>
          <a:prstGeom prst="rect">
            <a:avLst/>
          </a:prstGeom>
          <a:ln w="0">
            <a:noFill/>
          </a:ln>
        </p:spPr>
      </p:sp>
      <p:sp>
        <p:nvSpPr>
          <p:cNvPr id="164" name="PlaceHolder 2"/>
          <p:cNvSpPr>
            <a:spLocks noGrp="1"/>
          </p:cNvSpPr>
          <p:nvPr>
            <p:ph type="body"/>
          </p:nvPr>
        </p:nvSpPr>
        <p:spPr>
          <a:xfrm>
            <a:off x="571680" y="2750400"/>
            <a:ext cx="4570920" cy="224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PlaceHolder 3"/>
          <p:cNvSpPr>
            <a:spLocks noGrp="1"/>
          </p:cNvSpPr>
          <p:nvPr>
            <p:ph type="sldNum" idx="14"/>
          </p:nvPr>
        </p:nvSpPr>
        <p:spPr>
          <a:xfrm>
            <a:off x="3237480" y="5428440"/>
            <a:ext cx="2475720" cy="28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8B594FA-459A-478D-B065-74D5944480B4}" type="slidenum">
              <a: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PlaceHolder 1"/>
          <p:cNvSpPr>
            <a:spLocks noGrp="1"/>
          </p:cNvSpPr>
          <p:nvPr>
            <p:ph type="sldImg"/>
          </p:nvPr>
        </p:nvSpPr>
        <p:spPr>
          <a:xfrm>
            <a:off x="571680" y="714240"/>
            <a:ext cx="4570920" cy="1928160"/>
          </a:xfrm>
          <a:prstGeom prst="rect">
            <a:avLst/>
          </a:prstGeom>
          <a:ln w="0">
            <a:noFill/>
          </a:ln>
        </p:spPr>
      </p:sp>
      <p:sp>
        <p:nvSpPr>
          <p:cNvPr id="167" name="PlaceHolder 2"/>
          <p:cNvSpPr>
            <a:spLocks noGrp="1"/>
          </p:cNvSpPr>
          <p:nvPr>
            <p:ph type="body"/>
          </p:nvPr>
        </p:nvSpPr>
        <p:spPr>
          <a:xfrm>
            <a:off x="571680" y="2750400"/>
            <a:ext cx="4570920" cy="224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PlaceHolder 3"/>
          <p:cNvSpPr>
            <a:spLocks noGrp="1"/>
          </p:cNvSpPr>
          <p:nvPr>
            <p:ph type="sldNum" idx="15"/>
          </p:nvPr>
        </p:nvSpPr>
        <p:spPr>
          <a:xfrm>
            <a:off x="3237480" y="5428440"/>
            <a:ext cx="2475720" cy="28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7C74CB1-9C93-40F1-B89F-C78D4A7C38D5}" type="slidenum">
              <a: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PlaceHolder 1"/>
          <p:cNvSpPr>
            <a:spLocks noGrp="1"/>
          </p:cNvSpPr>
          <p:nvPr>
            <p:ph type="sldImg"/>
          </p:nvPr>
        </p:nvSpPr>
        <p:spPr>
          <a:xfrm>
            <a:off x="571680" y="714240"/>
            <a:ext cx="4570920" cy="1928160"/>
          </a:xfrm>
          <a:prstGeom prst="rect">
            <a:avLst/>
          </a:prstGeom>
          <a:ln w="0">
            <a:noFill/>
          </a:ln>
        </p:spPr>
      </p:sp>
      <p:sp>
        <p:nvSpPr>
          <p:cNvPr id="170" name="PlaceHolder 2"/>
          <p:cNvSpPr>
            <a:spLocks noGrp="1"/>
          </p:cNvSpPr>
          <p:nvPr>
            <p:ph type="body"/>
          </p:nvPr>
        </p:nvSpPr>
        <p:spPr>
          <a:xfrm>
            <a:off x="571680" y="2750400"/>
            <a:ext cx="4570920" cy="224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PlaceHolder 3"/>
          <p:cNvSpPr>
            <a:spLocks noGrp="1"/>
          </p:cNvSpPr>
          <p:nvPr>
            <p:ph type="sldNum" idx="16"/>
          </p:nvPr>
        </p:nvSpPr>
        <p:spPr>
          <a:xfrm>
            <a:off x="3237480" y="5428440"/>
            <a:ext cx="2475720" cy="28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6F05F4F-565F-45B5-88E6-FFBFF241BF4C}" type="slidenum">
              <a: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PlaceHolder 1"/>
          <p:cNvSpPr>
            <a:spLocks noGrp="1"/>
          </p:cNvSpPr>
          <p:nvPr>
            <p:ph type="sldImg"/>
          </p:nvPr>
        </p:nvSpPr>
        <p:spPr>
          <a:xfrm>
            <a:off x="571680" y="714240"/>
            <a:ext cx="4570920" cy="1928160"/>
          </a:xfrm>
          <a:prstGeom prst="rect">
            <a:avLst/>
          </a:prstGeom>
          <a:ln w="0">
            <a:noFill/>
          </a:ln>
        </p:spPr>
      </p:sp>
      <p:sp>
        <p:nvSpPr>
          <p:cNvPr id="173" name="PlaceHolder 2"/>
          <p:cNvSpPr>
            <a:spLocks noGrp="1"/>
          </p:cNvSpPr>
          <p:nvPr>
            <p:ph type="body"/>
          </p:nvPr>
        </p:nvSpPr>
        <p:spPr>
          <a:xfrm>
            <a:off x="571680" y="2750400"/>
            <a:ext cx="4570920" cy="224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PlaceHolder 3"/>
          <p:cNvSpPr>
            <a:spLocks noGrp="1"/>
          </p:cNvSpPr>
          <p:nvPr>
            <p:ph type="sldNum" idx="17"/>
          </p:nvPr>
        </p:nvSpPr>
        <p:spPr>
          <a:xfrm>
            <a:off x="3237480" y="5428440"/>
            <a:ext cx="2475720" cy="28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22A26C1-BDC7-4AA7-84A9-245B65686C46}" type="slidenum">
              <a: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PlaceHolder 1"/>
          <p:cNvSpPr>
            <a:spLocks noGrp="1"/>
          </p:cNvSpPr>
          <p:nvPr>
            <p:ph type="sldImg"/>
          </p:nvPr>
        </p:nvSpPr>
        <p:spPr>
          <a:xfrm>
            <a:off x="571680" y="714240"/>
            <a:ext cx="4570920" cy="1928160"/>
          </a:xfrm>
          <a:prstGeom prst="rect">
            <a:avLst/>
          </a:prstGeom>
          <a:ln w="0">
            <a:noFill/>
          </a:ln>
        </p:spPr>
      </p:sp>
      <p:sp>
        <p:nvSpPr>
          <p:cNvPr id="176" name="PlaceHolder 2"/>
          <p:cNvSpPr>
            <a:spLocks noGrp="1"/>
          </p:cNvSpPr>
          <p:nvPr>
            <p:ph type="body"/>
          </p:nvPr>
        </p:nvSpPr>
        <p:spPr>
          <a:xfrm>
            <a:off x="571680" y="2750400"/>
            <a:ext cx="4570920" cy="224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PlaceHolder 3"/>
          <p:cNvSpPr>
            <a:spLocks noGrp="1"/>
          </p:cNvSpPr>
          <p:nvPr>
            <p:ph type="sldNum" idx="18"/>
          </p:nvPr>
        </p:nvSpPr>
        <p:spPr>
          <a:xfrm>
            <a:off x="3237480" y="5428440"/>
            <a:ext cx="2475720" cy="28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98623EF-B100-467A-88B9-B2DEF4C027FE}" type="slidenum">
              <a: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PlaceHolder 1"/>
          <p:cNvSpPr>
            <a:spLocks noGrp="1"/>
          </p:cNvSpPr>
          <p:nvPr>
            <p:ph type="sldImg"/>
          </p:nvPr>
        </p:nvSpPr>
        <p:spPr>
          <a:xfrm>
            <a:off x="571680" y="714240"/>
            <a:ext cx="4570920" cy="1928160"/>
          </a:xfrm>
          <a:prstGeom prst="rect">
            <a:avLst/>
          </a:prstGeom>
          <a:ln w="0">
            <a:noFill/>
          </a:ln>
        </p:spPr>
      </p:sp>
      <p:sp>
        <p:nvSpPr>
          <p:cNvPr id="179" name="PlaceHolder 2"/>
          <p:cNvSpPr>
            <a:spLocks noGrp="1"/>
          </p:cNvSpPr>
          <p:nvPr>
            <p:ph type="body"/>
          </p:nvPr>
        </p:nvSpPr>
        <p:spPr>
          <a:xfrm>
            <a:off x="571680" y="2750400"/>
            <a:ext cx="4570920" cy="224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PlaceHolder 3"/>
          <p:cNvSpPr>
            <a:spLocks noGrp="1"/>
          </p:cNvSpPr>
          <p:nvPr>
            <p:ph type="sldNum" idx="19"/>
          </p:nvPr>
        </p:nvSpPr>
        <p:spPr>
          <a:xfrm>
            <a:off x="3237480" y="5428440"/>
            <a:ext cx="2475720" cy="28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FF11DFD-9145-4574-873A-97B8A44BF9A6}" type="slidenum">
              <a: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PlaceHolder 1"/>
          <p:cNvSpPr>
            <a:spLocks noGrp="1"/>
          </p:cNvSpPr>
          <p:nvPr>
            <p:ph type="sldImg"/>
          </p:nvPr>
        </p:nvSpPr>
        <p:spPr>
          <a:xfrm>
            <a:off x="571680" y="714240"/>
            <a:ext cx="4570920" cy="1928160"/>
          </a:xfrm>
          <a:prstGeom prst="rect">
            <a:avLst/>
          </a:prstGeom>
          <a:ln w="0">
            <a:noFill/>
          </a:ln>
        </p:spPr>
      </p:sp>
      <p:sp>
        <p:nvSpPr>
          <p:cNvPr id="182" name="PlaceHolder 2"/>
          <p:cNvSpPr>
            <a:spLocks noGrp="1"/>
          </p:cNvSpPr>
          <p:nvPr>
            <p:ph type="body"/>
          </p:nvPr>
        </p:nvSpPr>
        <p:spPr>
          <a:xfrm>
            <a:off x="571680" y="2750400"/>
            <a:ext cx="4570920" cy="224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PlaceHolder 3"/>
          <p:cNvSpPr>
            <a:spLocks noGrp="1"/>
          </p:cNvSpPr>
          <p:nvPr>
            <p:ph type="sldNum" idx="20"/>
          </p:nvPr>
        </p:nvSpPr>
        <p:spPr>
          <a:xfrm>
            <a:off x="3237480" y="5428440"/>
            <a:ext cx="2475720" cy="28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C46DE65-A632-4783-BD28-3EC417322BBE}" type="slidenum">
              <a: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PlaceHolder 1"/>
          <p:cNvSpPr>
            <a:spLocks noGrp="1"/>
          </p:cNvSpPr>
          <p:nvPr>
            <p:ph type="sldImg"/>
          </p:nvPr>
        </p:nvSpPr>
        <p:spPr>
          <a:xfrm>
            <a:off x="571680" y="714240"/>
            <a:ext cx="4570920" cy="1928160"/>
          </a:xfrm>
          <a:prstGeom prst="rect">
            <a:avLst/>
          </a:prstGeom>
          <a:ln w="0">
            <a:noFill/>
          </a:ln>
        </p:spPr>
      </p:sp>
      <p:sp>
        <p:nvSpPr>
          <p:cNvPr id="185" name="PlaceHolder 2"/>
          <p:cNvSpPr>
            <a:spLocks noGrp="1"/>
          </p:cNvSpPr>
          <p:nvPr>
            <p:ph type="body"/>
          </p:nvPr>
        </p:nvSpPr>
        <p:spPr>
          <a:xfrm>
            <a:off x="571680" y="2750400"/>
            <a:ext cx="4570920" cy="224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PlaceHolder 3"/>
          <p:cNvSpPr>
            <a:spLocks noGrp="1"/>
          </p:cNvSpPr>
          <p:nvPr>
            <p:ph type="sldNum" idx="21"/>
          </p:nvPr>
        </p:nvSpPr>
        <p:spPr>
          <a:xfrm>
            <a:off x="3237480" y="5428440"/>
            <a:ext cx="2475720" cy="28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B34D8B7-D6CF-4E75-93C1-742726F9C3D6}" type="slidenum">
              <a: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PlaceHolder 1"/>
          <p:cNvSpPr>
            <a:spLocks noGrp="1"/>
          </p:cNvSpPr>
          <p:nvPr>
            <p:ph type="sldImg"/>
          </p:nvPr>
        </p:nvSpPr>
        <p:spPr>
          <a:xfrm>
            <a:off x="571680" y="714240"/>
            <a:ext cx="4570920" cy="1928160"/>
          </a:xfrm>
          <a:prstGeom prst="rect">
            <a:avLst/>
          </a:prstGeom>
          <a:ln w="0">
            <a:noFill/>
          </a:ln>
        </p:spPr>
      </p:sp>
      <p:sp>
        <p:nvSpPr>
          <p:cNvPr id="188" name="PlaceHolder 2"/>
          <p:cNvSpPr>
            <a:spLocks noGrp="1"/>
          </p:cNvSpPr>
          <p:nvPr>
            <p:ph type="body"/>
          </p:nvPr>
        </p:nvSpPr>
        <p:spPr>
          <a:xfrm>
            <a:off x="571680" y="2750400"/>
            <a:ext cx="4570920" cy="224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PlaceHolder 3"/>
          <p:cNvSpPr>
            <a:spLocks noGrp="1"/>
          </p:cNvSpPr>
          <p:nvPr>
            <p:ph type="sldNum" idx="22"/>
          </p:nvPr>
        </p:nvSpPr>
        <p:spPr>
          <a:xfrm>
            <a:off x="3237480" y="5428440"/>
            <a:ext cx="2475720" cy="28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3F0366C-7429-4463-B47C-D1FB81D0BBE6}" type="slidenum">
              <a: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1.xml"/><Relationship Id="rId5" Type="http://schemas.openxmlformats.org/officeDocument/2006/relationships/slideLayout" Target="../slideLayouts/slideLayout2.xml"/><Relationship Id="rId6" Type="http://schemas.openxmlformats.org/officeDocument/2006/relationships/slideLayout" Target="../slideLayouts/slideLayout3.xml"/><Relationship Id="rId7" Type="http://schemas.openxmlformats.org/officeDocument/2006/relationships/slideLayout" Target="../slideLayouts/slideLayout4.xml"/><Relationship Id="rId8" Type="http://schemas.openxmlformats.org/officeDocument/2006/relationships/slideLayout" Target="../slideLayouts/slideLayout5.xml"/><Relationship Id="rId9" Type="http://schemas.openxmlformats.org/officeDocument/2006/relationships/slideLayout" Target="../slideLayouts/slideLayout6.xml"/><Relationship Id="rId10" Type="http://schemas.openxmlformats.org/officeDocument/2006/relationships/slideLayout" Target="../slideLayouts/slideLayout7.xml"/><Relationship Id="rId11" Type="http://schemas.openxmlformats.org/officeDocument/2006/relationships/slideLayout" Target="../slideLayouts/slideLayout8.xml"/><Relationship Id="rId12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0.xml"/><Relationship Id="rId14" Type="http://schemas.openxmlformats.org/officeDocument/2006/relationships/slideLayout" Target="../slideLayouts/slideLayout11.xml"/><Relationship Id="rId15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13.xml"/><Relationship Id="rId5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6.xml"/><Relationship Id="rId8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Google Shape;51;p13"/>
          <p:cNvSpPr/>
          <p:nvPr/>
        </p:nvSpPr>
        <p:spPr>
          <a:xfrm>
            <a:off x="0" y="0"/>
            <a:ext cx="9143280" cy="5142600"/>
          </a:xfrm>
          <a:prstGeom prst="rect">
            <a:avLst/>
          </a:prstGeom>
          <a:solidFill>
            <a:srgbClr val="d6f5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6160" rIns="56160" tIns="57240" bIns="572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Google Shape;52;p13"/>
          <p:cNvSpPr/>
          <p:nvPr/>
        </p:nvSpPr>
        <p:spPr>
          <a:xfrm>
            <a:off x="0" y="0"/>
            <a:ext cx="9143280" cy="51426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6160" rIns="56160" tIns="57240" bIns="572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" name="Google Shape;53;p13" descr="preencoded.png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8024400" y="4843440"/>
            <a:ext cx="1075680" cy="25632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  <p:sldLayoutId id="2147483660" r:id="rId15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105;p26"/>
          <p:cNvSpPr/>
          <p:nvPr/>
        </p:nvSpPr>
        <p:spPr>
          <a:xfrm>
            <a:off x="0" y="0"/>
            <a:ext cx="9143280" cy="5142600"/>
          </a:xfrm>
          <a:prstGeom prst="rect">
            <a:avLst/>
          </a:prstGeom>
          <a:solidFill>
            <a:srgbClr val="d6f5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6160" rIns="56160" tIns="57240" bIns="572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Google Shape;106;p26"/>
          <p:cNvSpPr/>
          <p:nvPr/>
        </p:nvSpPr>
        <p:spPr>
          <a:xfrm>
            <a:off x="0" y="0"/>
            <a:ext cx="9143280" cy="51426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6160" rIns="56160" tIns="57240" bIns="572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3" name="Google Shape;107;p26" descr="preencoded.png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8024400" y="4843440"/>
            <a:ext cx="1075680" cy="256320"/>
          </a:xfrm>
          <a:prstGeom prst="rect">
            <a:avLst/>
          </a:prstGeom>
          <a:ln w="0">
            <a:noFill/>
          </a:ln>
        </p:spPr>
      </p:pic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4.gif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1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163;p39"/>
          <p:cNvSpPr/>
          <p:nvPr/>
        </p:nvSpPr>
        <p:spPr>
          <a:xfrm>
            <a:off x="496080" y="822960"/>
            <a:ext cx="3902400" cy="265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24000"/>
              </a:lnSpc>
              <a:tabLst>
                <a:tab algn="l" pos="0"/>
              </a:tabLst>
            </a:pPr>
            <a:r>
              <a:rPr b="1" lang="en" sz="2800" spc="-1" strike="noStrike">
                <a:solidFill>
                  <a:srgbClr val="333f70"/>
                </a:solidFill>
                <a:latin typeface="Unbounded"/>
                <a:ea typeface="Unbounded"/>
              </a:rPr>
              <a:t>Artificial Intelligence (Machine Learning &amp; Deep Learning)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24000"/>
              </a:lnSpc>
              <a:tabLst>
                <a:tab algn="l" pos="0"/>
              </a:tabLst>
            </a:pP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24000"/>
              </a:lnSpc>
              <a:tabLst>
                <a:tab algn="l" pos="0"/>
              </a:tabLst>
            </a:pP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" name="Google Shape;164;p39"/>
          <p:cNvSpPr/>
          <p:nvPr/>
        </p:nvSpPr>
        <p:spPr>
          <a:xfrm>
            <a:off x="496080" y="3828240"/>
            <a:ext cx="8151120" cy="22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62000"/>
              </a:lnSpc>
              <a:tabLst>
                <a:tab algn="l" pos="0"/>
              </a:tabLst>
            </a:pPr>
            <a:r>
              <a:rPr b="0" lang="en" sz="1100" spc="-1" strike="noStrike">
                <a:solidFill>
                  <a:srgbClr val="333f70"/>
                </a:solidFill>
                <a:latin typeface="Open Sans"/>
                <a:ea typeface="Open Sans"/>
              </a:rPr>
              <a:t>NAVTTC &amp; Strings Technologies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" name="Google Shape;165;p39"/>
          <p:cNvSpPr/>
          <p:nvPr/>
        </p:nvSpPr>
        <p:spPr>
          <a:xfrm>
            <a:off x="496080" y="4224960"/>
            <a:ext cx="226080" cy="226080"/>
          </a:xfrm>
          <a:prstGeom prst="roundRect">
            <a:avLst>
              <a:gd name="adj" fmla="val 25194296"/>
            </a:avLst>
          </a:prstGeom>
          <a:noFill/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6160" rIns="56160" tIns="57240" bIns="572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91" name="Google Shape;166;p39" descr="preencoded.png"/>
          <p:cNvPicPr/>
          <p:nvPr/>
        </p:nvPicPr>
        <p:blipFill>
          <a:blip r:embed="rId1"/>
          <a:stretch/>
        </p:blipFill>
        <p:spPr>
          <a:xfrm>
            <a:off x="500760" y="4229640"/>
            <a:ext cx="216720" cy="216720"/>
          </a:xfrm>
          <a:prstGeom prst="rect">
            <a:avLst/>
          </a:prstGeom>
          <a:ln w="0">
            <a:noFill/>
          </a:ln>
        </p:spPr>
      </p:pic>
      <p:sp>
        <p:nvSpPr>
          <p:cNvPr id="92" name="Google Shape;167;p39"/>
          <p:cNvSpPr/>
          <p:nvPr/>
        </p:nvSpPr>
        <p:spPr>
          <a:xfrm>
            <a:off x="793800" y="4214520"/>
            <a:ext cx="217332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1" lang="en" sz="1400" spc="-1" strike="noStrike">
                <a:solidFill>
                  <a:srgbClr val="333f70"/>
                </a:solidFill>
                <a:latin typeface="Open Sans"/>
                <a:ea typeface="Open Sans"/>
              </a:rPr>
              <a:t>by Salman Ahmad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93" name="Google Shape;168;p39" descr=""/>
          <p:cNvPicPr/>
          <p:nvPr/>
        </p:nvPicPr>
        <p:blipFill>
          <a:blip r:embed="rId2"/>
          <a:stretch/>
        </p:blipFill>
        <p:spPr>
          <a:xfrm>
            <a:off x="6710400" y="0"/>
            <a:ext cx="2428560" cy="5143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174;p40"/>
          <p:cNvSpPr/>
          <p:nvPr/>
        </p:nvSpPr>
        <p:spPr>
          <a:xfrm>
            <a:off x="1776960" y="1158840"/>
            <a:ext cx="5695200" cy="340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4572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●"/>
            </a:pPr>
            <a:r>
              <a:rPr b="1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Convolutional Neural Network (CNN)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lvl="1" marL="9144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○"/>
            </a:pPr>
            <a:r>
              <a:rPr b="1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2D CNN for image classification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lvl="1" marL="9144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○"/>
            </a:pPr>
            <a:r>
              <a:rPr b="1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1D CNN for text document classification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" name="Google Shape;175;p40"/>
          <p:cNvSpPr/>
          <p:nvPr/>
        </p:nvSpPr>
        <p:spPr>
          <a:xfrm>
            <a:off x="1468080" y="218160"/>
            <a:ext cx="5817600" cy="44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24000"/>
              </a:lnSpc>
              <a:tabLst>
                <a:tab algn="l" pos="0"/>
              </a:tabLst>
            </a:pPr>
            <a:r>
              <a:rPr b="1" lang="en" sz="2800" spc="-1" strike="noStrike">
                <a:solidFill>
                  <a:srgbClr val="333f70"/>
                </a:solidFill>
                <a:latin typeface="Unbounded"/>
                <a:ea typeface="Unbounded"/>
              </a:rPr>
              <a:t>Outline Week 7 Day 4 &amp; 5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181;p41"/>
          <p:cNvSpPr/>
          <p:nvPr/>
        </p:nvSpPr>
        <p:spPr>
          <a:xfrm>
            <a:off x="375840" y="810360"/>
            <a:ext cx="8407800" cy="401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4572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●"/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A specialized type of neural network designed to handle grid-like data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●"/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Contains convolution layers which perform convolution operation on input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●"/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CNNs learn spatial hierarchies by using filters (kernels) that capture local patterns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●"/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Originally developed for image data, now widely used in text, audio, and more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" name="Google Shape;182;p41"/>
          <p:cNvSpPr/>
          <p:nvPr/>
        </p:nvSpPr>
        <p:spPr>
          <a:xfrm>
            <a:off x="1468080" y="218160"/>
            <a:ext cx="6004080" cy="44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24000"/>
              </a:lnSpc>
              <a:tabLst>
                <a:tab algn="l" pos="0"/>
              </a:tabLst>
            </a:pPr>
            <a:r>
              <a:rPr b="1" lang="en" sz="1800" spc="-1" strike="noStrike">
                <a:solidFill>
                  <a:srgbClr val="333f70"/>
                </a:solidFill>
                <a:latin typeface="Unbounded"/>
                <a:ea typeface="Unbounded"/>
              </a:rPr>
              <a:t>What is a Convolutional Neural Network?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188;p42"/>
          <p:cNvSpPr/>
          <p:nvPr/>
        </p:nvSpPr>
        <p:spPr>
          <a:xfrm>
            <a:off x="375840" y="660600"/>
            <a:ext cx="8407800" cy="431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4572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●"/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a mathematical process where two functions are combined to produce a third function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●"/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important in signal processing and image processing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●"/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involves sliding a filter (also known as a kernel) over an input, performing element-wise multiplication, and summing the results to produce a feature map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●"/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Kernel or filter is a small matrix of numbers that defines the operation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●"/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The dimension of the convolutional filter (kernel) is directly related to the dimensionality of the input data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●"/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1D kernel for 1D signal and 2D kernel for 2D signal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9" name="Google Shape;189;p42"/>
          <p:cNvSpPr/>
          <p:nvPr/>
        </p:nvSpPr>
        <p:spPr>
          <a:xfrm>
            <a:off x="1468080" y="218160"/>
            <a:ext cx="6004080" cy="44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24000"/>
              </a:lnSpc>
              <a:tabLst>
                <a:tab algn="l" pos="0"/>
              </a:tabLst>
            </a:pPr>
            <a:r>
              <a:rPr b="1" lang="en" sz="1800" spc="-1" strike="noStrike">
                <a:solidFill>
                  <a:srgbClr val="333f70"/>
                </a:solidFill>
                <a:latin typeface="Unbounded"/>
                <a:ea typeface="Unbounded"/>
              </a:rPr>
              <a:t>What is Convolution Operation?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95;p43"/>
          <p:cNvSpPr/>
          <p:nvPr/>
        </p:nvSpPr>
        <p:spPr>
          <a:xfrm>
            <a:off x="1468080" y="218160"/>
            <a:ext cx="6004080" cy="44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24000"/>
              </a:lnSpc>
              <a:tabLst>
                <a:tab algn="l" pos="0"/>
              </a:tabLst>
            </a:pPr>
            <a:r>
              <a:rPr b="1" lang="en" sz="1800" spc="-1" strike="noStrike">
                <a:solidFill>
                  <a:srgbClr val="333f70"/>
                </a:solidFill>
                <a:latin typeface="Unbounded"/>
                <a:ea typeface="Unbounded"/>
              </a:rPr>
              <a:t>What is Convolution Operation?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01" name="Google Shape;196;p43" descr="a picture of a convolved feature with numbers and letters (Provided by Tenor)"/>
          <p:cNvPicPr/>
          <p:nvPr/>
        </p:nvPicPr>
        <p:blipFill>
          <a:blip r:embed="rId1"/>
          <a:stretch/>
        </p:blipFill>
        <p:spPr>
          <a:xfrm>
            <a:off x="1752480" y="813240"/>
            <a:ext cx="4743000" cy="34477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202;p44"/>
          <p:cNvSpPr/>
          <p:nvPr/>
        </p:nvSpPr>
        <p:spPr>
          <a:xfrm>
            <a:off x="375840" y="660600"/>
            <a:ext cx="8407800" cy="431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4572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●"/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Autonomous feature extraction at large scale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●"/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Translation invariant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●"/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State of the art performance on image classification and other tasks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●"/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Versatile: computer vision, natural language processing, time series analysis, and speech recognition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3" name="Google Shape;203;p44"/>
          <p:cNvSpPr/>
          <p:nvPr/>
        </p:nvSpPr>
        <p:spPr>
          <a:xfrm>
            <a:off x="1468080" y="218160"/>
            <a:ext cx="6004080" cy="44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24000"/>
              </a:lnSpc>
              <a:tabLst>
                <a:tab algn="l" pos="0"/>
              </a:tabLst>
            </a:pPr>
            <a:r>
              <a:rPr b="1" lang="en" sz="1800" spc="-1" strike="noStrike">
                <a:solidFill>
                  <a:srgbClr val="333f70"/>
                </a:solidFill>
                <a:latin typeface="Unbounded"/>
                <a:ea typeface="Unbounded"/>
              </a:rPr>
              <a:t>Why CNN?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209;p45"/>
          <p:cNvSpPr/>
          <p:nvPr/>
        </p:nvSpPr>
        <p:spPr>
          <a:xfrm>
            <a:off x="1468080" y="218160"/>
            <a:ext cx="6004080" cy="44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24000"/>
              </a:lnSpc>
              <a:tabLst>
                <a:tab algn="l" pos="0"/>
              </a:tabLst>
            </a:pPr>
            <a:r>
              <a:rPr b="1" lang="en" sz="1800" spc="-1" strike="noStrike">
                <a:solidFill>
                  <a:srgbClr val="333f70"/>
                </a:solidFill>
                <a:latin typeface="Unbounded"/>
                <a:ea typeface="Unbounded"/>
              </a:rPr>
              <a:t>CNN Architecture – Components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graphicFrame>
        <p:nvGraphicFramePr>
          <p:cNvPr id="105" name="Google Shape;210;p45"/>
          <p:cNvGraphicFramePr/>
          <p:nvPr/>
        </p:nvGraphicFramePr>
        <p:xfrm>
          <a:off x="1514520" y="1091880"/>
          <a:ext cx="6114240" cy="2272680"/>
        </p:xfrm>
        <a:graphic>
          <a:graphicData uri="http://schemas.openxmlformats.org/drawingml/2006/table">
            <a:tbl>
              <a:tblPr/>
              <a:tblGrid>
                <a:gridCol w="2107080"/>
                <a:gridCol w="4007160"/>
              </a:tblGrid>
              <a:tr h="237960">
                <a:tc>
                  <a:txBody>
                    <a:bodyPr lIns="91080" rIns="91080" tIns="91080" bIns="91080" anchor="t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1" lang="en" sz="1100" spc="-1" strike="noStrike">
                          <a:solidFill>
                            <a:schemeClr val="dk2"/>
                          </a:solidFill>
                          <a:latin typeface="Arial"/>
                          <a:ea typeface="Arial"/>
                        </a:rPr>
                        <a:t>Component</a:t>
                      </a:r>
                      <a:endParaRPr b="0" lang="en-US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1" lang="en" sz="1100" spc="-1" strike="noStrike">
                          <a:solidFill>
                            <a:schemeClr val="dk2"/>
                          </a:solidFill>
                          <a:latin typeface="Arial"/>
                          <a:ea typeface="Arial"/>
                        </a:rPr>
                        <a:t>Description</a:t>
                      </a:r>
                      <a:endParaRPr b="0" lang="en-US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37960"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" sz="1100" spc="-1" strike="noStrike">
                          <a:solidFill>
                            <a:schemeClr val="dk2"/>
                          </a:solidFill>
                          <a:latin typeface="Arial"/>
                          <a:ea typeface="Arial"/>
                        </a:rPr>
                        <a:t>Convolutional Layer</a:t>
                      </a:r>
                      <a:endParaRPr b="0" lang="en-US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400" spc="-1" strike="noStrike">
                          <a:solidFill>
                            <a:schemeClr val="dk2"/>
                          </a:solidFill>
                          <a:latin typeface="Arial"/>
                          <a:ea typeface="Arial"/>
                        </a:rPr>
                        <a:t>Applies filters to extract features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37960"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" sz="1100" spc="-1" strike="noStrike">
                          <a:solidFill>
                            <a:schemeClr val="dk2"/>
                          </a:solidFill>
                          <a:latin typeface="Arial"/>
                          <a:ea typeface="Arial"/>
                        </a:rPr>
                        <a:t>Activation Function</a:t>
                      </a:r>
                      <a:endParaRPr b="0" lang="en-US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400" spc="-1" strike="noStrike">
                          <a:solidFill>
                            <a:schemeClr val="dk2"/>
                          </a:solidFill>
                          <a:latin typeface="Arial"/>
                          <a:ea typeface="Arial"/>
                        </a:rPr>
                        <a:t>Adds non-linearity (ReLU)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37960"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" sz="1100" spc="-1" strike="noStrike">
                          <a:solidFill>
                            <a:schemeClr val="dk2"/>
                          </a:solidFill>
                          <a:latin typeface="Arial"/>
                          <a:ea typeface="Arial"/>
                        </a:rPr>
                        <a:t>Pooling Layer</a:t>
                      </a:r>
                      <a:endParaRPr b="0" lang="en-US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400" spc="-1" strike="noStrike">
                          <a:solidFill>
                            <a:schemeClr val="dk2"/>
                          </a:solidFill>
                          <a:latin typeface="Arial"/>
                          <a:ea typeface="Arial"/>
                        </a:rPr>
                        <a:t>Downsamples the features (e.g., max pooling)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37960"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" sz="1100" spc="-1" strike="noStrike">
                          <a:solidFill>
                            <a:schemeClr val="dk2"/>
                          </a:solidFill>
                          <a:latin typeface="Arial"/>
                          <a:ea typeface="Arial"/>
                        </a:rPr>
                        <a:t>Fully Connected Layer</a:t>
                      </a:r>
                      <a:endParaRPr b="0" lang="en-US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400" spc="-1" strike="noStrike">
                          <a:solidFill>
                            <a:schemeClr val="dk2"/>
                          </a:solidFill>
                          <a:latin typeface="Arial"/>
                          <a:ea typeface="Arial"/>
                        </a:rPr>
                        <a:t>Connects to classifier output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37960"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" sz="1100" spc="-1" strike="noStrike">
                          <a:solidFill>
                            <a:schemeClr val="dk2"/>
                          </a:solidFill>
                          <a:latin typeface="Arial"/>
                          <a:ea typeface="Arial"/>
                        </a:rPr>
                        <a:t>Softmax / Sigmoid</a:t>
                      </a:r>
                      <a:endParaRPr b="0" lang="en-US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400" spc="-1" strike="noStrike">
                          <a:solidFill>
                            <a:schemeClr val="dk2"/>
                          </a:solidFill>
                          <a:latin typeface="Arial"/>
                          <a:ea typeface="Arial"/>
                        </a:rPr>
                        <a:t>Outputs class probabilities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216;p46"/>
          <p:cNvSpPr/>
          <p:nvPr/>
        </p:nvSpPr>
        <p:spPr>
          <a:xfrm>
            <a:off x="375840" y="660600"/>
            <a:ext cx="8407800" cy="431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457200" indent="-311040">
              <a:lnSpc>
                <a:spcPct val="200000"/>
              </a:lnSpc>
              <a:buClr>
                <a:srgbClr val="333f70"/>
              </a:buClr>
              <a:buFont typeface="Unbounded"/>
              <a:buChar char="●"/>
            </a:pPr>
            <a:r>
              <a:rPr b="0" lang="en" sz="1300" spc="-1" strike="noStrike">
                <a:solidFill>
                  <a:srgbClr val="333f70"/>
                </a:solidFill>
                <a:latin typeface="Unbounded"/>
                <a:ea typeface="Unbounded"/>
              </a:rPr>
              <a:t>A 2D convolution layer that applies learnable filters (kernels) to 2D spatial data.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marL="457200" indent="-311040">
              <a:lnSpc>
                <a:spcPct val="200000"/>
              </a:lnSpc>
              <a:buClr>
                <a:srgbClr val="333f70"/>
              </a:buClr>
              <a:buFont typeface="Unbounded"/>
              <a:buChar char="●"/>
            </a:pPr>
            <a:r>
              <a:rPr b="0" lang="en" sz="1300" spc="-1" strike="noStrike">
                <a:solidFill>
                  <a:srgbClr val="333f70"/>
                </a:solidFill>
                <a:latin typeface="Unbounded"/>
                <a:ea typeface="Unbounded"/>
              </a:rPr>
              <a:t>Commonly used for image inputs with shape (height, width, channels).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marL="457200" indent="-311040">
              <a:lnSpc>
                <a:spcPct val="200000"/>
              </a:lnSpc>
              <a:buClr>
                <a:srgbClr val="333f70"/>
              </a:buClr>
              <a:buFont typeface="Unbounded"/>
              <a:buChar char="●"/>
            </a:pPr>
            <a:r>
              <a:rPr b="0" lang="en" sz="1300" spc="-1" strike="noStrike">
                <a:solidFill>
                  <a:srgbClr val="333f70"/>
                </a:solidFill>
                <a:latin typeface="Unbounded"/>
                <a:ea typeface="Unbounded"/>
              </a:rPr>
              <a:t>Syntax: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marL="457200">
              <a:lnSpc>
                <a:spcPct val="200000"/>
              </a:lnSpc>
              <a:tabLst>
                <a:tab algn="l" pos="0"/>
              </a:tabLst>
            </a:pPr>
            <a:r>
              <a:rPr b="0" lang="en" sz="1400" spc="-1" strike="noStrike">
                <a:solidFill>
                  <a:srgbClr val="333f70"/>
                </a:solidFill>
                <a:latin typeface="Montserrat"/>
                <a:ea typeface="Montserrat"/>
              </a:rPr>
              <a:t>tf.keras.layers.Conv2D(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>
              <a:lnSpc>
                <a:spcPct val="200000"/>
              </a:lnSpc>
              <a:tabLst>
                <a:tab algn="l" pos="0"/>
              </a:tabLst>
            </a:pPr>
            <a:r>
              <a:rPr b="0" lang="en" sz="1400" spc="-1" strike="noStrike">
                <a:solidFill>
                  <a:srgbClr val="333f70"/>
                </a:solidFill>
                <a:latin typeface="Montserrat"/>
                <a:ea typeface="Montserrat"/>
              </a:rPr>
              <a:t>	</a:t>
            </a:r>
            <a:r>
              <a:rPr b="0" lang="en" sz="1400" spc="-1" strike="noStrike">
                <a:solidFill>
                  <a:srgbClr val="333f70"/>
                </a:solidFill>
                <a:latin typeface="Montserrat"/>
                <a:ea typeface="Montserrat"/>
              </a:rPr>
              <a:t>filters,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>
              <a:lnSpc>
                <a:spcPct val="200000"/>
              </a:lnSpc>
              <a:tabLst>
                <a:tab algn="l" pos="0"/>
              </a:tabLst>
            </a:pPr>
            <a:r>
              <a:rPr b="0" lang="en" sz="1400" spc="-1" strike="noStrike">
                <a:solidFill>
                  <a:srgbClr val="333f70"/>
                </a:solidFill>
                <a:latin typeface="Montserrat"/>
                <a:ea typeface="Montserrat"/>
              </a:rPr>
              <a:t>	</a:t>
            </a:r>
            <a:r>
              <a:rPr b="0" lang="en" sz="1400" spc="-1" strike="noStrike">
                <a:solidFill>
                  <a:srgbClr val="333f70"/>
                </a:solidFill>
                <a:latin typeface="Montserrat"/>
                <a:ea typeface="Montserrat"/>
              </a:rPr>
              <a:t>kernel_size,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>
              <a:lnSpc>
                <a:spcPct val="200000"/>
              </a:lnSpc>
              <a:tabLst>
                <a:tab algn="l" pos="0"/>
              </a:tabLst>
            </a:pPr>
            <a:r>
              <a:rPr b="0" lang="en" sz="1400" spc="-1" strike="noStrike">
                <a:solidFill>
                  <a:srgbClr val="333f70"/>
                </a:solidFill>
                <a:latin typeface="Montserrat"/>
                <a:ea typeface="Montserrat"/>
              </a:rPr>
              <a:t>	</a:t>
            </a:r>
            <a:r>
              <a:rPr b="0" lang="en" sz="1400" spc="-1" strike="noStrike">
                <a:solidFill>
                  <a:srgbClr val="333f70"/>
                </a:solidFill>
                <a:latin typeface="Montserrat"/>
                <a:ea typeface="Montserrat"/>
              </a:rPr>
              <a:t>strides=(1, 1),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>
              <a:lnSpc>
                <a:spcPct val="200000"/>
              </a:lnSpc>
              <a:tabLst>
                <a:tab algn="l" pos="0"/>
              </a:tabLst>
            </a:pPr>
            <a:r>
              <a:rPr b="0" lang="en" sz="1400" spc="-1" strike="noStrike">
                <a:solidFill>
                  <a:srgbClr val="333f70"/>
                </a:solidFill>
                <a:latin typeface="Montserrat"/>
                <a:ea typeface="Montserrat"/>
              </a:rPr>
              <a:t>	</a:t>
            </a:r>
            <a:r>
              <a:rPr b="0" lang="en" sz="1400" spc="-1" strike="noStrike">
                <a:solidFill>
                  <a:srgbClr val="333f70"/>
                </a:solidFill>
                <a:latin typeface="Montserrat"/>
                <a:ea typeface="Montserrat"/>
              </a:rPr>
              <a:t>padding='valid',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>
              <a:lnSpc>
                <a:spcPct val="200000"/>
              </a:lnSpc>
              <a:tabLst>
                <a:tab algn="l" pos="0"/>
              </a:tabLst>
            </a:pPr>
            <a:r>
              <a:rPr b="0" lang="en" sz="1400" spc="-1" strike="noStrike">
                <a:solidFill>
                  <a:srgbClr val="333f70"/>
                </a:solidFill>
                <a:latin typeface="Montserrat"/>
                <a:ea typeface="Montserrat"/>
              </a:rPr>
              <a:t>	</a:t>
            </a:r>
            <a:r>
              <a:rPr b="0" lang="en" sz="1400" spc="-1" strike="noStrike">
                <a:solidFill>
                  <a:srgbClr val="333f70"/>
                </a:solidFill>
                <a:latin typeface="Montserrat"/>
                <a:ea typeface="Montserrat"/>
              </a:rPr>
              <a:t>activation=None,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>
              <a:lnSpc>
                <a:spcPct val="200000"/>
              </a:lnSpc>
              <a:tabLst>
                <a:tab algn="l" pos="0"/>
              </a:tabLst>
            </a:pPr>
            <a:r>
              <a:rPr b="0" lang="en" sz="1400" spc="-1" strike="noStrike">
                <a:solidFill>
                  <a:srgbClr val="333f70"/>
                </a:solidFill>
                <a:latin typeface="Montserrat"/>
                <a:ea typeface="Montserrat"/>
              </a:rPr>
              <a:t>	</a:t>
            </a:r>
            <a:r>
              <a:rPr b="0" lang="en" sz="1400" spc="-1" strike="noStrike">
                <a:solidFill>
                  <a:srgbClr val="333f70"/>
                </a:solidFill>
                <a:latin typeface="Montserrat"/>
                <a:ea typeface="Montserrat"/>
              </a:rPr>
              <a:t>use_bias=True,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>
              <a:lnSpc>
                <a:spcPct val="200000"/>
              </a:lnSpc>
              <a:tabLst>
                <a:tab algn="l" pos="0"/>
              </a:tabLst>
            </a:pPr>
            <a:r>
              <a:rPr b="0" lang="en" sz="1400" spc="-1" strike="noStrike">
                <a:solidFill>
                  <a:srgbClr val="333f70"/>
                </a:solidFill>
                <a:latin typeface="Montserrat"/>
                <a:ea typeface="Montserrat"/>
              </a:rPr>
              <a:t>	</a:t>
            </a:r>
            <a:r>
              <a:rPr b="0" lang="en" sz="1400" spc="-1" strike="noStrike">
                <a:solidFill>
                  <a:srgbClr val="333f70"/>
                </a:solidFill>
                <a:latin typeface="Montserrat"/>
                <a:ea typeface="Montserrat"/>
              </a:rPr>
              <a:t>input_shape=(H, W, C))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7" name="Google Shape;217;p46"/>
          <p:cNvSpPr/>
          <p:nvPr/>
        </p:nvSpPr>
        <p:spPr>
          <a:xfrm>
            <a:off x="1468080" y="218160"/>
            <a:ext cx="6004080" cy="44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24000"/>
              </a:lnSpc>
              <a:tabLst>
                <a:tab algn="l" pos="0"/>
              </a:tabLst>
            </a:pPr>
            <a:r>
              <a:rPr b="1" lang="en" sz="1800" spc="-1" strike="noStrike">
                <a:solidFill>
                  <a:srgbClr val="333f70"/>
                </a:solidFill>
                <a:latin typeface="Unbounded"/>
                <a:ea typeface="Unbounded"/>
              </a:rPr>
              <a:t>tf.keras.layers.Conv2D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223;p47"/>
          <p:cNvSpPr/>
          <p:nvPr/>
        </p:nvSpPr>
        <p:spPr>
          <a:xfrm>
            <a:off x="1468080" y="218160"/>
            <a:ext cx="6004080" cy="44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24000"/>
              </a:lnSpc>
              <a:tabLst>
                <a:tab algn="l" pos="0"/>
              </a:tabLst>
            </a:pPr>
            <a:r>
              <a:rPr b="1" lang="en" sz="1800" spc="-1" strike="noStrike">
                <a:solidFill>
                  <a:srgbClr val="333f70"/>
                </a:solidFill>
                <a:latin typeface="Unbounded"/>
                <a:ea typeface="Unbounded"/>
              </a:rPr>
              <a:t>tf.keras.layers.Conv2D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graphicFrame>
        <p:nvGraphicFramePr>
          <p:cNvPr id="109" name="Google Shape;224;p47"/>
          <p:cNvGraphicFramePr/>
          <p:nvPr/>
        </p:nvGraphicFramePr>
        <p:xfrm>
          <a:off x="788760" y="1131840"/>
          <a:ext cx="7566120" cy="2733480"/>
        </p:xfrm>
        <a:graphic>
          <a:graphicData uri="http://schemas.openxmlformats.org/drawingml/2006/table">
            <a:tbl>
              <a:tblPr/>
              <a:tblGrid>
                <a:gridCol w="1608840"/>
                <a:gridCol w="5957280"/>
              </a:tblGrid>
              <a:tr h="237960">
                <a:tc>
                  <a:txBody>
                    <a:bodyPr lIns="91080" rIns="91080" tIns="91080" bIns="91080" anchor="t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1" lang="en" sz="1300" spc="-1" strike="noStrike">
                          <a:solidFill>
                            <a:schemeClr val="dk2"/>
                          </a:solidFill>
                          <a:latin typeface="Arial"/>
                          <a:ea typeface="Arial"/>
                        </a:rPr>
                        <a:t>Parameter</a:t>
                      </a:r>
                      <a:endParaRPr b="0" lang="en-U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1" lang="en" sz="1300" spc="-1" strike="noStrike">
                          <a:solidFill>
                            <a:schemeClr val="dk2"/>
                          </a:solidFill>
                          <a:latin typeface="Arial"/>
                          <a:ea typeface="Arial"/>
                        </a:rPr>
                        <a:t>Description</a:t>
                      </a:r>
                      <a:endParaRPr b="0" lang="en-U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37960"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200" spc="-1" strike="noStrike">
                          <a:solidFill>
                            <a:schemeClr val="dk2"/>
                          </a:solidFill>
                          <a:latin typeface="Montserrat"/>
                          <a:ea typeface="Montserrat"/>
                        </a:rPr>
                        <a:t>filters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200" spc="-1" strike="noStrike">
                          <a:solidFill>
                            <a:schemeClr val="dk2"/>
                          </a:solidFill>
                          <a:latin typeface="Montserrat"/>
                          <a:ea typeface="Montserrat"/>
                        </a:rPr>
                        <a:t>Number of output feature maps (a.k.a. number of kernels)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37960"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200" spc="-1" strike="noStrike">
                          <a:solidFill>
                            <a:schemeClr val="dk2"/>
                          </a:solidFill>
                          <a:latin typeface="Montserrat"/>
                          <a:ea typeface="Montserrat"/>
                        </a:rPr>
                        <a:t>kernel_size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200" spc="-1" strike="noStrike">
                          <a:solidFill>
                            <a:schemeClr val="dk2"/>
                          </a:solidFill>
                          <a:latin typeface="Montserrat"/>
                          <a:ea typeface="Montserrat"/>
                        </a:rPr>
                        <a:t>Size of each filter, e.g., (3, 3) for a 3×3 kernel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37960"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200" spc="-1" strike="noStrike">
                          <a:solidFill>
                            <a:schemeClr val="dk2"/>
                          </a:solidFill>
                          <a:latin typeface="Montserrat"/>
                          <a:ea typeface="Montserrat"/>
                        </a:rPr>
                        <a:t>strides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200" spc="-1" strike="noStrike">
                          <a:solidFill>
                            <a:schemeClr val="dk2"/>
                          </a:solidFill>
                          <a:latin typeface="Montserrat"/>
                          <a:ea typeface="Montserrat"/>
                        </a:rPr>
                        <a:t>Step size the kernel moves across the input (default = (1, 1))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37960"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200" spc="-1" strike="noStrike">
                          <a:solidFill>
                            <a:schemeClr val="dk2"/>
                          </a:solidFill>
                          <a:latin typeface="Montserrat"/>
                          <a:ea typeface="Montserrat"/>
                        </a:rPr>
                        <a:t>padding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200" spc="-1" strike="noStrike">
                          <a:solidFill>
                            <a:schemeClr val="dk2"/>
                          </a:solidFill>
                          <a:latin typeface="Montserrat"/>
                          <a:ea typeface="Montserrat"/>
                        </a:rPr>
                        <a:t>'valid' = no padding, 'same' = output same size as input (with padding)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37960"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200" spc="-1" strike="noStrike">
                          <a:solidFill>
                            <a:schemeClr val="dk2"/>
                          </a:solidFill>
                          <a:latin typeface="Montserrat"/>
                          <a:ea typeface="Montserrat"/>
                        </a:rPr>
                        <a:t>activation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200" spc="-1" strike="noStrike">
                          <a:solidFill>
                            <a:schemeClr val="dk2"/>
                          </a:solidFill>
                          <a:latin typeface="Montserrat"/>
                          <a:ea typeface="Montserrat"/>
                        </a:rPr>
                        <a:t>Non-linear function applied after convolution (e.g., 'relu')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37960"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200" spc="-1" strike="noStrike">
                          <a:solidFill>
                            <a:schemeClr val="dk2"/>
                          </a:solidFill>
                          <a:latin typeface="Montserrat"/>
                          <a:ea typeface="Montserrat"/>
                        </a:rPr>
                        <a:t>input_shape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200" spc="-1" strike="noStrike">
                          <a:solidFill>
                            <a:schemeClr val="dk2"/>
                          </a:solidFill>
                          <a:latin typeface="Montserrat"/>
                          <a:ea typeface="Montserrat"/>
                        </a:rPr>
                        <a:t>Shape of input, only needed for first layer: (height, width, channels)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230;p48"/>
          <p:cNvSpPr/>
          <p:nvPr/>
        </p:nvSpPr>
        <p:spPr>
          <a:xfrm>
            <a:off x="375840" y="660600"/>
            <a:ext cx="8407800" cy="431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457200" indent="-311040">
              <a:lnSpc>
                <a:spcPct val="200000"/>
              </a:lnSpc>
              <a:buClr>
                <a:srgbClr val="333f70"/>
              </a:buClr>
              <a:buFont typeface="Unbounded"/>
              <a:buChar char="●"/>
            </a:pPr>
            <a:r>
              <a:rPr b="0" lang="en" sz="1300" spc="-1" strike="noStrike">
                <a:solidFill>
                  <a:srgbClr val="333f70"/>
                </a:solidFill>
                <a:latin typeface="Unbounded"/>
                <a:ea typeface="Unbounded"/>
              </a:rPr>
              <a:t>A downsampling operation used in Convolutional Neural Networks (CNNs).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marL="457200" indent="-311040">
              <a:lnSpc>
                <a:spcPct val="200000"/>
              </a:lnSpc>
              <a:buClr>
                <a:srgbClr val="333f70"/>
              </a:buClr>
              <a:buFont typeface="Unbounded"/>
              <a:buChar char="●"/>
            </a:pPr>
            <a:r>
              <a:rPr b="0" lang="en" sz="1300" spc="-1" strike="noStrike">
                <a:solidFill>
                  <a:srgbClr val="333f70"/>
                </a:solidFill>
                <a:latin typeface="Unbounded"/>
                <a:ea typeface="Unbounded"/>
              </a:rPr>
              <a:t>It reduces the spatial dimensions (height and width) of the input feature maps.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marL="457200" indent="-311040">
              <a:lnSpc>
                <a:spcPct val="200000"/>
              </a:lnSpc>
              <a:buClr>
                <a:srgbClr val="333f70"/>
              </a:buClr>
              <a:buFont typeface="Unbounded"/>
              <a:buChar char="●"/>
            </a:pPr>
            <a:r>
              <a:rPr b="0" lang="en" sz="1300" spc="-1" strike="noStrike">
                <a:solidFill>
                  <a:srgbClr val="333f70"/>
                </a:solidFill>
                <a:latin typeface="Unbounded"/>
                <a:ea typeface="Unbounded"/>
              </a:rPr>
              <a:t>It works by sliding a window (pool size) over the input and taking the maximum value in each region.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marL="457200" indent="-311040">
              <a:lnSpc>
                <a:spcPct val="200000"/>
              </a:lnSpc>
              <a:buClr>
                <a:srgbClr val="333f70"/>
              </a:buClr>
              <a:buFont typeface="Unbounded"/>
              <a:buChar char="●"/>
            </a:pPr>
            <a:r>
              <a:rPr b="0" lang="en" sz="1300" spc="-1" strike="noStrike">
                <a:solidFill>
                  <a:srgbClr val="333f70"/>
                </a:solidFill>
                <a:latin typeface="Unbounded"/>
                <a:ea typeface="Unbounded"/>
              </a:rPr>
              <a:t>Syntax: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marL="457200">
              <a:lnSpc>
                <a:spcPct val="200000"/>
              </a:lnSpc>
              <a:tabLst>
                <a:tab algn="l" pos="0"/>
              </a:tabLst>
            </a:pPr>
            <a:r>
              <a:rPr b="0" lang="en" sz="1400" spc="-1" strike="noStrike">
                <a:solidFill>
                  <a:srgbClr val="333f70"/>
                </a:solidFill>
                <a:latin typeface="Montserrat"/>
                <a:ea typeface="Montserrat"/>
              </a:rPr>
              <a:t>tf.keras.layers.MaxPooling2D(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>
              <a:lnSpc>
                <a:spcPct val="200000"/>
              </a:lnSpc>
              <a:tabLst>
                <a:tab algn="l" pos="0"/>
              </a:tabLst>
            </a:pPr>
            <a:r>
              <a:rPr b="0" lang="en" sz="1400" spc="-1" strike="noStrike">
                <a:solidFill>
                  <a:srgbClr val="333f70"/>
                </a:solidFill>
                <a:latin typeface="Montserrat"/>
                <a:ea typeface="Montserrat"/>
              </a:rPr>
              <a:t>	</a:t>
            </a:r>
            <a:r>
              <a:rPr b="0" lang="en" sz="1400" spc="-1" strike="noStrike">
                <a:solidFill>
                  <a:srgbClr val="333f70"/>
                </a:solidFill>
                <a:latin typeface="Montserrat"/>
                <a:ea typeface="Montserrat"/>
              </a:rPr>
              <a:t>pool_size=(2, 2),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>
              <a:lnSpc>
                <a:spcPct val="200000"/>
              </a:lnSpc>
              <a:tabLst>
                <a:tab algn="l" pos="0"/>
              </a:tabLst>
            </a:pPr>
            <a:r>
              <a:rPr b="0" lang="en" sz="1400" spc="-1" strike="noStrike">
                <a:solidFill>
                  <a:srgbClr val="333f70"/>
                </a:solidFill>
                <a:latin typeface="Montserrat"/>
                <a:ea typeface="Montserrat"/>
              </a:rPr>
              <a:t>	</a:t>
            </a:r>
            <a:r>
              <a:rPr b="0" lang="en" sz="1400" spc="-1" strike="noStrike">
                <a:solidFill>
                  <a:srgbClr val="333f70"/>
                </a:solidFill>
                <a:latin typeface="Montserrat"/>
                <a:ea typeface="Montserrat"/>
              </a:rPr>
              <a:t>strides=None,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>
              <a:lnSpc>
                <a:spcPct val="200000"/>
              </a:lnSpc>
              <a:tabLst>
                <a:tab algn="l" pos="0"/>
              </a:tabLst>
            </a:pPr>
            <a:r>
              <a:rPr b="0" lang="en" sz="1400" spc="-1" strike="noStrike">
                <a:solidFill>
                  <a:srgbClr val="333f70"/>
                </a:solidFill>
                <a:latin typeface="Montserrat"/>
                <a:ea typeface="Montserrat"/>
              </a:rPr>
              <a:t>	</a:t>
            </a:r>
            <a:r>
              <a:rPr b="0" lang="en" sz="1400" spc="-1" strike="noStrike">
                <a:solidFill>
                  <a:srgbClr val="333f70"/>
                </a:solidFill>
                <a:latin typeface="Montserrat"/>
                <a:ea typeface="Montserrat"/>
              </a:rPr>
              <a:t>padding='valid'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>
              <a:lnSpc>
                <a:spcPct val="200000"/>
              </a:lnSpc>
              <a:tabLst>
                <a:tab algn="l" pos="0"/>
              </a:tabLst>
            </a:pPr>
            <a:r>
              <a:rPr b="0" lang="en" sz="1400" spc="-1" strike="noStrike">
                <a:solidFill>
                  <a:srgbClr val="333f70"/>
                </a:solidFill>
                <a:latin typeface="Montserrat"/>
                <a:ea typeface="Montserrat"/>
              </a:rPr>
              <a:t>)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1" name="Google Shape;231;p48"/>
          <p:cNvSpPr/>
          <p:nvPr/>
        </p:nvSpPr>
        <p:spPr>
          <a:xfrm>
            <a:off x="1468080" y="218160"/>
            <a:ext cx="6004080" cy="44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24000"/>
              </a:lnSpc>
              <a:tabLst>
                <a:tab algn="l" pos="0"/>
              </a:tabLst>
            </a:pPr>
            <a:r>
              <a:rPr b="1" lang="en" sz="1800" spc="-1" strike="noStrike">
                <a:solidFill>
                  <a:srgbClr val="333f70"/>
                </a:solidFill>
                <a:latin typeface="Unbounded"/>
                <a:ea typeface="Unbounded"/>
              </a:rPr>
              <a:t>tf.keras.layers.MaxPool2D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237;p49"/>
          <p:cNvSpPr/>
          <p:nvPr/>
        </p:nvSpPr>
        <p:spPr>
          <a:xfrm>
            <a:off x="1468080" y="218160"/>
            <a:ext cx="6004080" cy="44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24000"/>
              </a:lnSpc>
              <a:tabLst>
                <a:tab algn="l" pos="0"/>
              </a:tabLst>
            </a:pPr>
            <a:r>
              <a:rPr b="1" lang="en" sz="1800" spc="-1" strike="noStrike">
                <a:solidFill>
                  <a:srgbClr val="333f70"/>
                </a:solidFill>
                <a:latin typeface="Unbounded"/>
                <a:ea typeface="Unbounded"/>
              </a:rPr>
              <a:t>tf.keras.layers.MaxPool2D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graphicFrame>
        <p:nvGraphicFramePr>
          <p:cNvPr id="113" name="Google Shape;238;p49"/>
          <p:cNvGraphicFramePr/>
          <p:nvPr/>
        </p:nvGraphicFramePr>
        <p:xfrm>
          <a:off x="1219320" y="1066680"/>
          <a:ext cx="6321600" cy="1590480"/>
        </p:xfrm>
        <a:graphic>
          <a:graphicData uri="http://schemas.openxmlformats.org/drawingml/2006/table">
            <a:tbl>
              <a:tblPr/>
              <a:tblGrid>
                <a:gridCol w="1674000"/>
                <a:gridCol w="4647960"/>
              </a:tblGrid>
              <a:tr h="237960"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1" lang="en" sz="1200" spc="-1" strike="noStrike">
                          <a:solidFill>
                            <a:schemeClr val="dk2"/>
                          </a:solidFill>
                          <a:latin typeface="Montserrat"/>
                          <a:ea typeface="Montserrat"/>
                        </a:rPr>
                        <a:t>Parameter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1" lang="en" sz="1200" spc="-1" strike="noStrike">
                          <a:solidFill>
                            <a:schemeClr val="dk2"/>
                          </a:solidFill>
                          <a:latin typeface="Montserrat"/>
                          <a:ea typeface="Montserrat"/>
                        </a:rPr>
                        <a:t>Description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37960"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200" spc="-1" strike="noStrike">
                          <a:solidFill>
                            <a:schemeClr val="dk2"/>
                          </a:solidFill>
                          <a:latin typeface="Montserrat"/>
                          <a:ea typeface="Montserrat"/>
                        </a:rPr>
                        <a:t>pool_size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200" spc="-1" strike="noStrike">
                          <a:solidFill>
                            <a:schemeClr val="dk2"/>
                          </a:solidFill>
                          <a:latin typeface="Montserrat"/>
                          <a:ea typeface="Montserrat"/>
                        </a:rPr>
                        <a:t>Size of the pooling window (default: (2, 2))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37960"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200" spc="-1" strike="noStrike">
                          <a:solidFill>
                            <a:schemeClr val="dk2"/>
                          </a:solidFill>
                          <a:latin typeface="Montserrat"/>
                          <a:ea typeface="Montserrat"/>
                        </a:rPr>
                        <a:t>strides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200" spc="-1" strike="noStrike">
                          <a:solidFill>
                            <a:schemeClr val="dk2"/>
                          </a:solidFill>
                          <a:latin typeface="Montserrat"/>
                          <a:ea typeface="Montserrat"/>
                        </a:rPr>
                        <a:t>Steps the window moves (default: same as pool_size)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37960"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200" spc="-1" strike="noStrike">
                          <a:solidFill>
                            <a:schemeClr val="dk2"/>
                          </a:solidFill>
                          <a:latin typeface="Montserrat"/>
                          <a:ea typeface="Montserrat"/>
                        </a:rPr>
                        <a:t>padding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200" spc="-1" strike="noStrike">
                          <a:solidFill>
                            <a:schemeClr val="dk2"/>
                          </a:solidFill>
                          <a:latin typeface="Montserrat"/>
                          <a:ea typeface="Montserrat"/>
                        </a:rPr>
                        <a:t>'valid' (no padding) or 'same' (pad to keep output size)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14" name="Google Shape;239;p49"/>
          <p:cNvGraphicFramePr/>
          <p:nvPr/>
        </p:nvGraphicFramePr>
        <p:xfrm>
          <a:off x="1378080" y="3405240"/>
          <a:ext cx="6767640" cy="1200600"/>
        </p:xfrm>
        <a:graphic>
          <a:graphicData uri="http://schemas.openxmlformats.org/drawingml/2006/table">
            <a:tbl>
              <a:tblPr/>
              <a:tblGrid>
                <a:gridCol w="1679040"/>
                <a:gridCol w="1242720"/>
                <a:gridCol w="990720"/>
                <a:gridCol w="2854800"/>
              </a:tblGrid>
              <a:tr h="237960"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1" lang="en" sz="1200" spc="-1" strike="noStrike">
                          <a:solidFill>
                            <a:schemeClr val="dk2"/>
                          </a:solidFill>
                          <a:latin typeface="Montserrat"/>
                          <a:ea typeface="Montserrat"/>
                        </a:rPr>
                        <a:t>Input Shape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1" lang="en" sz="1200" spc="-1" strike="noStrike">
                          <a:solidFill>
                            <a:schemeClr val="dk2"/>
                          </a:solidFill>
                          <a:latin typeface="Montserrat"/>
                          <a:ea typeface="Montserrat"/>
                        </a:rPr>
                        <a:t>Pool Size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1" lang="en" sz="1200" spc="-1" strike="noStrike">
                          <a:solidFill>
                            <a:schemeClr val="dk2"/>
                          </a:solidFill>
                          <a:latin typeface="Montserrat"/>
                          <a:ea typeface="Montserrat"/>
                        </a:rPr>
                        <a:t>Strides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1" lang="en" sz="1200" spc="-1" strike="noStrike">
                          <a:solidFill>
                            <a:schemeClr val="dk2"/>
                          </a:solidFill>
                          <a:latin typeface="Montserrat"/>
                          <a:ea typeface="Montserrat"/>
                        </a:rPr>
                        <a:t>Output Shape (valid)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80720"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200" spc="-1" strike="noStrike">
                          <a:solidFill>
                            <a:schemeClr val="dk2"/>
                          </a:solidFill>
                          <a:latin typeface="Montserrat"/>
                          <a:ea typeface="Montserrat"/>
                        </a:rPr>
                        <a:t>(32, 32, 64)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200" spc="-1" strike="noStrike">
                          <a:solidFill>
                            <a:schemeClr val="dk2"/>
                          </a:solidFill>
                          <a:latin typeface="Montserrat"/>
                          <a:ea typeface="Montserrat"/>
                        </a:rPr>
                        <a:t>(2, 2)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200" spc="-1" strike="noStrike">
                          <a:solidFill>
                            <a:schemeClr val="dk2"/>
                          </a:solidFill>
                          <a:latin typeface="Montserrat"/>
                          <a:ea typeface="Montserrat"/>
                        </a:rPr>
                        <a:t>(2, 2)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200" spc="-1" strike="noStrike">
                          <a:solidFill>
                            <a:schemeClr val="dk2"/>
                          </a:solidFill>
                          <a:latin typeface="Montserrat"/>
                          <a:ea typeface="Montserrat"/>
                        </a:rPr>
                        <a:t>(16, 16, 64)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80720"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200" spc="-1" strike="noStrike">
                          <a:solidFill>
                            <a:schemeClr val="dk2"/>
                          </a:solidFill>
                          <a:latin typeface="Montserrat"/>
                          <a:ea typeface="Montserrat"/>
                        </a:rPr>
                        <a:t>(28, 28, 128)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200" spc="-1" strike="noStrike">
                          <a:solidFill>
                            <a:schemeClr val="dk2"/>
                          </a:solidFill>
                          <a:latin typeface="Montserrat"/>
                          <a:ea typeface="Montserrat"/>
                        </a:rPr>
                        <a:t>(2, 2)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200" spc="-1" strike="noStrike">
                          <a:solidFill>
                            <a:schemeClr val="dk2"/>
                          </a:solidFill>
                          <a:latin typeface="Montserrat"/>
                          <a:ea typeface="Montserrat"/>
                        </a:rPr>
                        <a:t>(2, 2)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200" spc="-1" strike="noStrike">
                          <a:solidFill>
                            <a:schemeClr val="dk2"/>
                          </a:solidFill>
                          <a:latin typeface="Montserrat"/>
                          <a:ea typeface="Montserrat"/>
                        </a:rPr>
                        <a:t>(14, 14, 128)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15" name="Google Shape;240;p49"/>
          <p:cNvSpPr/>
          <p:nvPr/>
        </p:nvSpPr>
        <p:spPr>
          <a:xfrm>
            <a:off x="1454040" y="3033000"/>
            <a:ext cx="6004080" cy="44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24000"/>
              </a:lnSpc>
              <a:tabLst>
                <a:tab algn="l" pos="0"/>
              </a:tabLst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Effect on shape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246;p50"/>
          <p:cNvSpPr/>
          <p:nvPr/>
        </p:nvSpPr>
        <p:spPr>
          <a:xfrm>
            <a:off x="375840" y="775080"/>
            <a:ext cx="8407800" cy="420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457200" indent="-311040">
              <a:lnSpc>
                <a:spcPct val="200000"/>
              </a:lnSpc>
              <a:buClr>
                <a:srgbClr val="333f70"/>
              </a:buClr>
              <a:buFont typeface="Unbounded"/>
              <a:buChar char="●"/>
            </a:pPr>
            <a:r>
              <a:rPr b="0" lang="en" sz="1300" spc="-1" strike="noStrike">
                <a:solidFill>
                  <a:srgbClr val="333f70"/>
                </a:solidFill>
                <a:latin typeface="Unbounded"/>
                <a:ea typeface="Unbounded"/>
              </a:rPr>
              <a:t>Reduces spatial dimensions, lowering: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lvl="1" marL="1828800" indent="-311040">
              <a:lnSpc>
                <a:spcPct val="200000"/>
              </a:lnSpc>
              <a:buClr>
                <a:srgbClr val="333f70"/>
              </a:buClr>
              <a:buFont typeface="Unbounded"/>
              <a:buChar char="○"/>
            </a:pPr>
            <a:r>
              <a:rPr b="0" lang="en" sz="1300" spc="-1" strike="noStrike">
                <a:solidFill>
                  <a:srgbClr val="333f70"/>
                </a:solidFill>
                <a:latin typeface="Unbounded"/>
                <a:ea typeface="Unbounded"/>
              </a:rPr>
              <a:t>Number of parameters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lvl="1" marL="1828800" indent="-311040">
              <a:lnSpc>
                <a:spcPct val="200000"/>
              </a:lnSpc>
              <a:buClr>
                <a:srgbClr val="333f70"/>
              </a:buClr>
              <a:buFont typeface="Unbounded"/>
              <a:buChar char="○"/>
            </a:pPr>
            <a:r>
              <a:rPr b="0" lang="en" sz="1300" spc="-1" strike="noStrike">
                <a:solidFill>
                  <a:srgbClr val="333f70"/>
                </a:solidFill>
                <a:latin typeface="Unbounded"/>
                <a:ea typeface="Unbounded"/>
              </a:rPr>
              <a:t>Computational cost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lvl="1" marL="1828800" indent="-311040">
              <a:lnSpc>
                <a:spcPct val="200000"/>
              </a:lnSpc>
              <a:buClr>
                <a:srgbClr val="333f70"/>
              </a:buClr>
              <a:buFont typeface="Unbounded"/>
              <a:buChar char="○"/>
            </a:pPr>
            <a:r>
              <a:rPr b="0" lang="en" sz="1300" spc="-1" strike="noStrike">
                <a:solidFill>
                  <a:srgbClr val="333f70"/>
                </a:solidFill>
                <a:latin typeface="Unbounded"/>
                <a:ea typeface="Unbounded"/>
              </a:rPr>
              <a:t>Risk of overfitting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marL="457200" indent="-311040">
              <a:lnSpc>
                <a:spcPct val="200000"/>
              </a:lnSpc>
              <a:buClr>
                <a:srgbClr val="333f70"/>
              </a:buClr>
              <a:buFont typeface="Unbounded"/>
              <a:buChar char="●"/>
            </a:pPr>
            <a:r>
              <a:rPr b="0" lang="en" sz="1300" spc="-1" strike="noStrike">
                <a:solidFill>
                  <a:srgbClr val="333f70"/>
                </a:solidFill>
                <a:latin typeface="Unbounded"/>
                <a:ea typeface="Unbounded"/>
              </a:rPr>
              <a:t>Adds translation invariance: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lvl="1" marL="1828800" indent="-311040">
              <a:lnSpc>
                <a:spcPct val="200000"/>
              </a:lnSpc>
              <a:buClr>
                <a:srgbClr val="333f70"/>
              </a:buClr>
              <a:buFont typeface="Unbounded"/>
              <a:buChar char="○"/>
            </a:pPr>
            <a:r>
              <a:rPr b="0" lang="en" sz="1300" spc="-1" strike="noStrike">
                <a:solidFill>
                  <a:srgbClr val="333f70"/>
                </a:solidFill>
                <a:latin typeface="Unbounded"/>
                <a:ea typeface="Unbounded"/>
              </a:rPr>
              <a:t>Helps network focus on important features, not position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marL="457200" indent="-311040">
              <a:lnSpc>
                <a:spcPct val="200000"/>
              </a:lnSpc>
              <a:buClr>
                <a:srgbClr val="333f70"/>
              </a:buClr>
              <a:buFont typeface="Unbounded"/>
              <a:buChar char="●"/>
            </a:pPr>
            <a:r>
              <a:rPr b="0" lang="en" sz="1300" spc="-1" strike="noStrike">
                <a:solidFill>
                  <a:srgbClr val="333f70"/>
                </a:solidFill>
                <a:latin typeface="Unbounded"/>
                <a:ea typeface="Unbounded"/>
              </a:rPr>
              <a:t>Acts as a feature filter: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lvl="1" marL="1828800" indent="-311040">
              <a:lnSpc>
                <a:spcPct val="200000"/>
              </a:lnSpc>
              <a:buClr>
                <a:srgbClr val="333f70"/>
              </a:buClr>
              <a:buFont typeface="Unbounded"/>
              <a:buChar char="○"/>
            </a:pPr>
            <a:r>
              <a:rPr b="0" lang="en" sz="1300" spc="-1" strike="noStrike">
                <a:solidFill>
                  <a:srgbClr val="333f70"/>
                </a:solidFill>
                <a:latin typeface="Unbounded"/>
                <a:ea typeface="Unbounded"/>
              </a:rPr>
              <a:t>Keeps strongest signal in a region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7" name="Google Shape;247;p50"/>
          <p:cNvSpPr/>
          <p:nvPr/>
        </p:nvSpPr>
        <p:spPr>
          <a:xfrm>
            <a:off x="1468080" y="218160"/>
            <a:ext cx="6004080" cy="44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24000"/>
              </a:lnSpc>
              <a:tabLst>
                <a:tab algn="l" pos="0"/>
              </a:tabLst>
            </a:pPr>
            <a:r>
              <a:rPr b="1" lang="en" sz="1800" spc="-1" strike="noStrike">
                <a:solidFill>
                  <a:srgbClr val="333f70"/>
                </a:solidFill>
                <a:latin typeface="Unbounded"/>
                <a:ea typeface="Unbounded"/>
              </a:rPr>
              <a:t>Why tf.keras.layers.MaxPool2D?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253;p51"/>
          <p:cNvSpPr/>
          <p:nvPr/>
        </p:nvSpPr>
        <p:spPr>
          <a:xfrm>
            <a:off x="375840" y="775080"/>
            <a:ext cx="8407800" cy="420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99960" indent="-311040">
              <a:lnSpc>
                <a:spcPct val="200000"/>
              </a:lnSpc>
              <a:buClr>
                <a:srgbClr val="333f70"/>
              </a:buClr>
              <a:buFont typeface="Unbounded"/>
              <a:buChar char="●"/>
            </a:pPr>
            <a:r>
              <a:rPr b="0" lang="en" sz="1300" spc="-1" strike="noStrike">
                <a:solidFill>
                  <a:srgbClr val="333f70"/>
                </a:solidFill>
                <a:latin typeface="Unbounded"/>
                <a:ea typeface="Unbounded"/>
              </a:rPr>
              <a:t>Input: Image (Height × Width × Channels)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lvl="1" marL="914400" indent="-311040">
              <a:lnSpc>
                <a:spcPct val="200000"/>
              </a:lnSpc>
              <a:buClr>
                <a:srgbClr val="333f70"/>
              </a:buClr>
              <a:buFont typeface="Unbounded"/>
              <a:buChar char="○"/>
            </a:pPr>
            <a:r>
              <a:rPr b="0" lang="en" sz="1300" spc="-1" strike="noStrike">
                <a:solidFill>
                  <a:srgbClr val="333f70"/>
                </a:solidFill>
                <a:latin typeface="Unbounded"/>
                <a:ea typeface="Unbounded"/>
              </a:rPr>
              <a:t>e.g., 32×32×332×32×3 (RGB image)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marL="399960" indent="-311040">
              <a:lnSpc>
                <a:spcPct val="200000"/>
              </a:lnSpc>
              <a:buClr>
                <a:srgbClr val="333f70"/>
              </a:buClr>
              <a:buFont typeface="Unbounded"/>
              <a:buChar char="●"/>
            </a:pPr>
            <a:r>
              <a:rPr b="0" lang="en" sz="1300" spc="-1" strike="noStrike">
                <a:solidFill>
                  <a:srgbClr val="333f70"/>
                </a:solidFill>
                <a:latin typeface="Unbounded"/>
                <a:ea typeface="Unbounded"/>
              </a:rPr>
              <a:t>Operation: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lvl="1" marL="914400" indent="-311040">
              <a:lnSpc>
                <a:spcPct val="200000"/>
              </a:lnSpc>
              <a:buClr>
                <a:srgbClr val="333f70"/>
              </a:buClr>
              <a:buFont typeface="Unbounded"/>
              <a:buChar char="○"/>
            </a:pPr>
            <a:r>
              <a:rPr b="0" lang="en" sz="1300" spc="-1" strike="noStrike">
                <a:solidFill>
                  <a:srgbClr val="333f70"/>
                </a:solidFill>
                <a:latin typeface="Unbounded"/>
                <a:ea typeface="Unbounded"/>
              </a:rPr>
              <a:t>Convolution → extract edges, textures, shapes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lvl="1" marL="914400" indent="-311040">
              <a:lnSpc>
                <a:spcPct val="200000"/>
              </a:lnSpc>
              <a:buClr>
                <a:srgbClr val="333f70"/>
              </a:buClr>
              <a:buFont typeface="Unbounded"/>
              <a:buChar char="○"/>
            </a:pPr>
            <a:r>
              <a:rPr b="0" lang="en" sz="1300" spc="-1" strike="noStrike">
                <a:solidFill>
                  <a:srgbClr val="333f70"/>
                </a:solidFill>
                <a:latin typeface="Unbounded"/>
                <a:ea typeface="Unbounded"/>
              </a:rPr>
              <a:t>Pooling → reduce spatial size, keep important features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lvl="1" marL="914400" indent="-311040">
              <a:lnSpc>
                <a:spcPct val="200000"/>
              </a:lnSpc>
              <a:buClr>
                <a:srgbClr val="333f70"/>
              </a:buClr>
              <a:buFont typeface="Unbounded"/>
              <a:buChar char="○"/>
            </a:pPr>
            <a:r>
              <a:rPr b="0" lang="en" sz="1300" spc="-1" strike="noStrike">
                <a:solidFill>
                  <a:srgbClr val="333f70"/>
                </a:solidFill>
                <a:latin typeface="Unbounded"/>
                <a:ea typeface="Unbounded"/>
              </a:rPr>
              <a:t>Deep layers → learn complex patterns (e.g., eyes, faces)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marL="399960" indent="-311040">
              <a:lnSpc>
                <a:spcPct val="200000"/>
              </a:lnSpc>
              <a:buClr>
                <a:srgbClr val="333f70"/>
              </a:buClr>
              <a:buFont typeface="Unbounded"/>
              <a:buChar char="●"/>
            </a:pPr>
            <a:r>
              <a:rPr b="0" lang="en" sz="1300" spc="-1" strike="noStrike">
                <a:solidFill>
                  <a:srgbClr val="333f70"/>
                </a:solidFill>
                <a:latin typeface="Unbounded"/>
                <a:ea typeface="Unbounded"/>
              </a:rPr>
              <a:t>Output: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lvl="1" marL="914400" indent="-311040">
              <a:lnSpc>
                <a:spcPct val="200000"/>
              </a:lnSpc>
              <a:buClr>
                <a:srgbClr val="333f70"/>
              </a:buClr>
              <a:buFont typeface="Unbounded"/>
              <a:buChar char="○"/>
            </a:pPr>
            <a:r>
              <a:rPr b="0" lang="en" sz="1300" spc="-1" strike="noStrike">
                <a:solidFill>
                  <a:srgbClr val="333f70"/>
                </a:solidFill>
                <a:latin typeface="Unbounded"/>
                <a:ea typeface="Unbounded"/>
              </a:rPr>
              <a:t>A vector → passed through dense layer → softmax for classification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9" name="Google Shape;254;p51"/>
          <p:cNvSpPr/>
          <p:nvPr/>
        </p:nvSpPr>
        <p:spPr>
          <a:xfrm>
            <a:off x="1468080" y="218160"/>
            <a:ext cx="6004080" cy="44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24000"/>
              </a:lnSpc>
              <a:tabLst>
                <a:tab algn="l" pos="0"/>
              </a:tabLst>
            </a:pPr>
            <a:r>
              <a:rPr b="1" lang="en" sz="1800" spc="-1" strike="noStrike">
                <a:solidFill>
                  <a:srgbClr val="333f70"/>
                </a:solidFill>
                <a:latin typeface="Unbounded"/>
                <a:ea typeface="Unbounded"/>
              </a:rPr>
              <a:t>2D CNN for Image Classification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260;p52"/>
          <p:cNvSpPr/>
          <p:nvPr/>
        </p:nvSpPr>
        <p:spPr>
          <a:xfrm>
            <a:off x="375840" y="775080"/>
            <a:ext cx="8407800" cy="420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200000"/>
              </a:lnSpc>
              <a:tabLst>
                <a:tab algn="l" pos="0"/>
              </a:tabLst>
            </a:pPr>
            <a:r>
              <a:rPr b="0" lang="en" sz="1200" spc="-1" strike="noStrike">
                <a:solidFill>
                  <a:srgbClr val="333f70"/>
                </a:solidFill>
                <a:latin typeface="Montserrat"/>
                <a:ea typeface="Montserrat"/>
              </a:rPr>
              <a:t>from tensorflow.keras.models import Sequential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200000"/>
              </a:lnSpc>
              <a:tabLst>
                <a:tab algn="l" pos="0"/>
              </a:tabLst>
            </a:pPr>
            <a:r>
              <a:rPr b="0" lang="en" sz="1200" spc="-1" strike="noStrike">
                <a:solidFill>
                  <a:srgbClr val="333f70"/>
                </a:solidFill>
                <a:latin typeface="Montserrat"/>
                <a:ea typeface="Montserrat"/>
              </a:rPr>
              <a:t>from tensorflow.keras.layers import Conv2D, MaxPooling2D, Flatten, Dense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20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200000"/>
              </a:lnSpc>
              <a:tabLst>
                <a:tab algn="l" pos="0"/>
              </a:tabLst>
            </a:pPr>
            <a:r>
              <a:rPr b="0" lang="en" sz="1200" spc="-1" strike="noStrike">
                <a:solidFill>
                  <a:srgbClr val="333f70"/>
                </a:solidFill>
                <a:latin typeface="Montserrat"/>
                <a:ea typeface="Montserrat"/>
              </a:rPr>
              <a:t>model = Sequential([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200000"/>
              </a:lnSpc>
              <a:tabLst>
                <a:tab algn="l" pos="0"/>
              </a:tabLst>
            </a:pPr>
            <a:r>
              <a:rPr b="0" lang="en" sz="1200" spc="-1" strike="noStrike">
                <a:solidFill>
                  <a:srgbClr val="333f70"/>
                </a:solidFill>
                <a:latin typeface="Montserrat"/>
                <a:ea typeface="Montserrat"/>
              </a:rPr>
              <a:t>	</a:t>
            </a:r>
            <a:r>
              <a:rPr b="0" lang="en" sz="1200" spc="-1" strike="noStrike">
                <a:solidFill>
                  <a:srgbClr val="333f70"/>
                </a:solidFill>
                <a:latin typeface="Montserrat"/>
                <a:ea typeface="Montserrat"/>
              </a:rPr>
              <a:t>Conv2D(32, kernel_size=3, activation='relu', input_shape=(32,32,3)),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200000"/>
              </a:lnSpc>
              <a:tabLst>
                <a:tab algn="l" pos="0"/>
              </a:tabLst>
            </a:pPr>
            <a:r>
              <a:rPr b="0" lang="en" sz="1200" spc="-1" strike="noStrike">
                <a:solidFill>
                  <a:srgbClr val="333f70"/>
                </a:solidFill>
                <a:latin typeface="Montserrat"/>
                <a:ea typeface="Montserrat"/>
              </a:rPr>
              <a:t>	</a:t>
            </a:r>
            <a:r>
              <a:rPr b="0" lang="en" sz="1200" spc="-1" strike="noStrike">
                <a:solidFill>
                  <a:srgbClr val="333f70"/>
                </a:solidFill>
                <a:latin typeface="Montserrat"/>
                <a:ea typeface="Montserrat"/>
              </a:rPr>
              <a:t>MaxPooling2D(pool_size=2),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200000"/>
              </a:lnSpc>
              <a:tabLst>
                <a:tab algn="l" pos="0"/>
              </a:tabLst>
            </a:pPr>
            <a:r>
              <a:rPr b="0" lang="en" sz="1200" spc="-1" strike="noStrike">
                <a:solidFill>
                  <a:srgbClr val="333f70"/>
                </a:solidFill>
                <a:latin typeface="Montserrat"/>
                <a:ea typeface="Montserrat"/>
              </a:rPr>
              <a:t>	</a:t>
            </a:r>
            <a:r>
              <a:rPr b="0" lang="en" sz="1200" spc="-1" strike="noStrike">
                <a:solidFill>
                  <a:srgbClr val="333f70"/>
                </a:solidFill>
                <a:latin typeface="Montserrat"/>
                <a:ea typeface="Montserrat"/>
              </a:rPr>
              <a:t>Conv2D(64, kernel_size=3, activation='relu'),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200000"/>
              </a:lnSpc>
              <a:tabLst>
                <a:tab algn="l" pos="0"/>
              </a:tabLst>
            </a:pPr>
            <a:r>
              <a:rPr b="0" lang="en" sz="1200" spc="-1" strike="noStrike">
                <a:solidFill>
                  <a:srgbClr val="333f70"/>
                </a:solidFill>
                <a:latin typeface="Montserrat"/>
                <a:ea typeface="Montserrat"/>
              </a:rPr>
              <a:t>	</a:t>
            </a:r>
            <a:r>
              <a:rPr b="0" lang="en" sz="1200" spc="-1" strike="noStrike">
                <a:solidFill>
                  <a:srgbClr val="333f70"/>
                </a:solidFill>
                <a:latin typeface="Montserrat"/>
                <a:ea typeface="Montserrat"/>
              </a:rPr>
              <a:t>MaxPooling2D(pool_size=2),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200000"/>
              </a:lnSpc>
              <a:tabLst>
                <a:tab algn="l" pos="0"/>
              </a:tabLst>
            </a:pPr>
            <a:r>
              <a:rPr b="0" lang="en" sz="1200" spc="-1" strike="noStrike">
                <a:solidFill>
                  <a:srgbClr val="333f70"/>
                </a:solidFill>
                <a:latin typeface="Montserrat"/>
                <a:ea typeface="Montserrat"/>
              </a:rPr>
              <a:t>	</a:t>
            </a:r>
            <a:r>
              <a:rPr b="0" lang="en" sz="1200" spc="-1" strike="noStrike">
                <a:solidFill>
                  <a:srgbClr val="333f70"/>
                </a:solidFill>
                <a:latin typeface="Montserrat"/>
                <a:ea typeface="Montserrat"/>
              </a:rPr>
              <a:t>Flatten(),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200000"/>
              </a:lnSpc>
              <a:tabLst>
                <a:tab algn="l" pos="0"/>
              </a:tabLst>
            </a:pPr>
            <a:r>
              <a:rPr b="0" lang="en" sz="1200" spc="-1" strike="noStrike">
                <a:solidFill>
                  <a:srgbClr val="333f70"/>
                </a:solidFill>
                <a:latin typeface="Montserrat"/>
                <a:ea typeface="Montserrat"/>
              </a:rPr>
              <a:t>	</a:t>
            </a:r>
            <a:r>
              <a:rPr b="0" lang="en" sz="1200" spc="-1" strike="noStrike">
                <a:solidFill>
                  <a:srgbClr val="333f70"/>
                </a:solidFill>
                <a:latin typeface="Montserrat"/>
                <a:ea typeface="Montserrat"/>
              </a:rPr>
              <a:t>Dense(128, activation='relu'),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200000"/>
              </a:lnSpc>
              <a:tabLst>
                <a:tab algn="l" pos="0"/>
              </a:tabLst>
            </a:pPr>
            <a:r>
              <a:rPr b="0" lang="en" sz="1200" spc="-1" strike="noStrike">
                <a:solidFill>
                  <a:srgbClr val="333f70"/>
                </a:solidFill>
                <a:latin typeface="Montserrat"/>
                <a:ea typeface="Montserrat"/>
              </a:rPr>
              <a:t>	</a:t>
            </a:r>
            <a:r>
              <a:rPr b="0" lang="en" sz="1200" spc="-1" strike="noStrike">
                <a:solidFill>
                  <a:srgbClr val="333f70"/>
                </a:solidFill>
                <a:latin typeface="Montserrat"/>
                <a:ea typeface="Montserrat"/>
              </a:rPr>
              <a:t>Dense(10, activation='softmax')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200000"/>
              </a:lnSpc>
              <a:tabLst>
                <a:tab algn="l" pos="0"/>
              </a:tabLst>
            </a:pPr>
            <a:r>
              <a:rPr b="0" lang="en" sz="1200" spc="-1" strike="noStrike">
                <a:solidFill>
                  <a:srgbClr val="333f70"/>
                </a:solidFill>
                <a:latin typeface="Montserrat"/>
                <a:ea typeface="Montserrat"/>
              </a:rPr>
              <a:t>])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20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20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1" name="Google Shape;261;p52"/>
          <p:cNvSpPr/>
          <p:nvPr/>
        </p:nvSpPr>
        <p:spPr>
          <a:xfrm>
            <a:off x="1468080" y="218160"/>
            <a:ext cx="6004080" cy="44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24000"/>
              </a:lnSpc>
              <a:tabLst>
                <a:tab algn="l" pos="0"/>
              </a:tabLst>
            </a:pPr>
            <a:r>
              <a:rPr b="1" lang="en" sz="1800" spc="-1" strike="noStrike">
                <a:solidFill>
                  <a:srgbClr val="333f70"/>
                </a:solidFill>
                <a:latin typeface="Unbounded"/>
                <a:ea typeface="Unbounded"/>
              </a:rPr>
              <a:t>Example – CNN for CIFAR-10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267;p53"/>
          <p:cNvSpPr/>
          <p:nvPr/>
        </p:nvSpPr>
        <p:spPr>
          <a:xfrm>
            <a:off x="375840" y="775080"/>
            <a:ext cx="8407800" cy="420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457200" indent="-311040">
              <a:lnSpc>
                <a:spcPct val="200000"/>
              </a:lnSpc>
              <a:buClr>
                <a:srgbClr val="333f70"/>
              </a:buClr>
              <a:buFont typeface="Unbounded"/>
              <a:buChar char="●"/>
            </a:pPr>
            <a:r>
              <a:rPr b="0" lang="en" sz="1300" spc="-1" strike="noStrike">
                <a:solidFill>
                  <a:srgbClr val="333f70"/>
                </a:solidFill>
                <a:latin typeface="Unbounded"/>
                <a:ea typeface="Unbounded"/>
              </a:rPr>
              <a:t>Input: Text sequence → e.g., word embeddings: [300, 500] (sequence length × embedding size)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marL="457200" indent="-311040">
              <a:lnSpc>
                <a:spcPct val="200000"/>
              </a:lnSpc>
              <a:buClr>
                <a:srgbClr val="333f70"/>
              </a:buClr>
              <a:buFont typeface="Unbounded"/>
              <a:buChar char="●"/>
            </a:pPr>
            <a:r>
              <a:rPr b="0" lang="en" sz="1300" spc="-1" strike="noStrike">
                <a:solidFill>
                  <a:srgbClr val="333f70"/>
                </a:solidFill>
                <a:latin typeface="Unbounded"/>
                <a:ea typeface="Unbounded"/>
              </a:rPr>
              <a:t>Filter: 1D filters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marL="457200" indent="-311040">
              <a:lnSpc>
                <a:spcPct val="200000"/>
              </a:lnSpc>
              <a:buClr>
                <a:srgbClr val="333f70"/>
              </a:buClr>
              <a:buFont typeface="Unbounded"/>
              <a:buChar char="●"/>
            </a:pPr>
            <a:r>
              <a:rPr b="0" lang="en" sz="1300" spc="-1" strike="noStrike">
                <a:solidFill>
                  <a:srgbClr val="333f70"/>
                </a:solidFill>
                <a:latin typeface="Unbounded"/>
                <a:ea typeface="Unbounded"/>
              </a:rPr>
              <a:t>Operation: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lvl="1" marL="914400" indent="-311040">
              <a:lnSpc>
                <a:spcPct val="200000"/>
              </a:lnSpc>
              <a:buClr>
                <a:srgbClr val="333f70"/>
              </a:buClr>
              <a:buFont typeface="Unbounded"/>
              <a:buChar char="○"/>
            </a:pPr>
            <a:r>
              <a:rPr b="0" lang="en" sz="1300" spc="-1" strike="noStrike">
                <a:solidFill>
                  <a:srgbClr val="333f70"/>
                </a:solidFill>
                <a:latin typeface="Unbounded"/>
                <a:ea typeface="Unbounded"/>
              </a:rPr>
              <a:t>Convolution filter slides over sequence of words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lvl="1" marL="914400" indent="-311040">
              <a:lnSpc>
                <a:spcPct val="200000"/>
              </a:lnSpc>
              <a:buClr>
                <a:srgbClr val="333f70"/>
              </a:buClr>
              <a:buFont typeface="Unbounded"/>
              <a:buChar char="○"/>
            </a:pPr>
            <a:r>
              <a:rPr b="0" lang="en" sz="1300" spc="-1" strike="noStrike">
                <a:solidFill>
                  <a:srgbClr val="333f70"/>
                </a:solidFill>
                <a:latin typeface="Unbounded"/>
                <a:ea typeface="Unbounded"/>
              </a:rPr>
              <a:t>Detects n-gram patterns (e.g., “not good” → sentiment)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lvl="1" marL="914400" indent="-311040">
              <a:lnSpc>
                <a:spcPct val="200000"/>
              </a:lnSpc>
              <a:buClr>
                <a:srgbClr val="333f70"/>
              </a:buClr>
              <a:buFont typeface="Unbounded"/>
              <a:buChar char="○"/>
            </a:pPr>
            <a:r>
              <a:rPr b="0" lang="en" sz="1300" spc="-1" strike="noStrike">
                <a:solidFill>
                  <a:srgbClr val="333f70"/>
                </a:solidFill>
                <a:latin typeface="Unbounded"/>
                <a:ea typeface="Unbounded"/>
              </a:rPr>
              <a:t>Captures local dependencies in text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3" name="Google Shape;268;p53"/>
          <p:cNvSpPr/>
          <p:nvPr/>
        </p:nvSpPr>
        <p:spPr>
          <a:xfrm>
            <a:off x="1468080" y="218160"/>
            <a:ext cx="6004080" cy="44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24000"/>
              </a:lnSpc>
              <a:tabLst>
                <a:tab algn="l" pos="0"/>
              </a:tabLst>
            </a:pPr>
            <a:r>
              <a:rPr b="1" lang="en" sz="1800" spc="-1" strike="noStrike">
                <a:solidFill>
                  <a:srgbClr val="333f70"/>
                </a:solidFill>
                <a:latin typeface="Unbounded"/>
                <a:ea typeface="Unbounded"/>
              </a:rPr>
              <a:t>1D CNN for Text Classification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274;p54"/>
          <p:cNvSpPr/>
          <p:nvPr/>
        </p:nvSpPr>
        <p:spPr>
          <a:xfrm>
            <a:off x="1671120" y="1003680"/>
            <a:ext cx="5800680" cy="356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457200" indent="-311040">
              <a:lnSpc>
                <a:spcPct val="200000"/>
              </a:lnSpc>
              <a:buClr>
                <a:srgbClr val="333f70"/>
              </a:buClr>
              <a:buFont typeface="Unbounded"/>
              <a:buChar char="●"/>
            </a:pPr>
            <a:r>
              <a:rPr b="0" lang="en" sz="1300" spc="-1" strike="noStrike">
                <a:solidFill>
                  <a:srgbClr val="333f70"/>
                </a:solidFill>
                <a:latin typeface="Unbounded"/>
                <a:ea typeface="Unbounded"/>
              </a:rPr>
              <a:t>Faster than RNNs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marL="457200" indent="-311040">
              <a:lnSpc>
                <a:spcPct val="200000"/>
              </a:lnSpc>
              <a:buClr>
                <a:srgbClr val="333f70"/>
              </a:buClr>
              <a:buFont typeface="Unbounded"/>
              <a:buChar char="●"/>
            </a:pPr>
            <a:r>
              <a:rPr b="0" lang="en" sz="1300" spc="-1" strike="noStrike">
                <a:solidFill>
                  <a:srgbClr val="333f70"/>
                </a:solidFill>
                <a:latin typeface="Unbounded"/>
                <a:ea typeface="Unbounded"/>
              </a:rPr>
              <a:t>Can capture phrase-level semantics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marL="457200" indent="-311040">
              <a:lnSpc>
                <a:spcPct val="200000"/>
              </a:lnSpc>
              <a:buClr>
                <a:srgbClr val="333f70"/>
              </a:buClr>
              <a:buFont typeface="Unbounded"/>
              <a:buChar char="●"/>
            </a:pPr>
            <a:r>
              <a:rPr b="0" lang="en" sz="1300" spc="-1" strike="noStrike">
                <a:solidFill>
                  <a:srgbClr val="333f70"/>
                </a:solidFill>
                <a:latin typeface="Unbounded"/>
                <a:ea typeface="Unbounded"/>
              </a:rPr>
              <a:t>Good for sentiment, spam, intent, topic classification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5" name="Google Shape;275;p54"/>
          <p:cNvSpPr/>
          <p:nvPr/>
        </p:nvSpPr>
        <p:spPr>
          <a:xfrm>
            <a:off x="1468080" y="218160"/>
            <a:ext cx="6004080" cy="44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24000"/>
              </a:lnSpc>
              <a:tabLst>
                <a:tab algn="l" pos="0"/>
              </a:tabLst>
            </a:pPr>
            <a:r>
              <a:rPr b="1" lang="en" sz="1800" spc="-1" strike="noStrike">
                <a:solidFill>
                  <a:srgbClr val="333f70"/>
                </a:solidFill>
                <a:latin typeface="Unbounded"/>
                <a:ea typeface="Unbounded"/>
              </a:rPr>
              <a:t>Why Use CNNs for Text?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281;p55"/>
          <p:cNvSpPr/>
          <p:nvPr/>
        </p:nvSpPr>
        <p:spPr>
          <a:xfrm>
            <a:off x="375840" y="775080"/>
            <a:ext cx="8407800" cy="420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200000"/>
              </a:lnSpc>
              <a:tabLst>
                <a:tab algn="l" pos="0"/>
              </a:tabLst>
            </a:pPr>
            <a:r>
              <a:rPr b="0" lang="en" sz="1200" spc="-1" strike="noStrike">
                <a:solidFill>
                  <a:srgbClr val="333f70"/>
                </a:solidFill>
                <a:latin typeface="Montserrat"/>
                <a:ea typeface="Montserrat"/>
              </a:rPr>
              <a:t>num_words = 10000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200000"/>
              </a:lnSpc>
              <a:tabLst>
                <a:tab algn="l" pos="0"/>
              </a:tabLst>
            </a:pPr>
            <a:r>
              <a:rPr b="0" lang="en" sz="1200" spc="-1" strike="noStrike">
                <a:solidFill>
                  <a:srgbClr val="333f70"/>
                </a:solidFill>
                <a:latin typeface="Montserrat"/>
                <a:ea typeface="Montserrat"/>
              </a:rPr>
              <a:t>(x_train, y_train), (x_test, y_test) = imdb.load_data(num_words=num_words)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200000"/>
              </a:lnSpc>
              <a:tabLst>
                <a:tab algn="l" pos="0"/>
              </a:tabLst>
            </a:pPr>
            <a:r>
              <a:rPr b="0" lang="en" sz="1200" spc="-1" strike="noStrike">
                <a:solidFill>
                  <a:srgbClr val="333f70"/>
                </a:solidFill>
                <a:latin typeface="Montserrat"/>
                <a:ea typeface="Montserrat"/>
              </a:rPr>
              <a:t>maxlen = 100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200000"/>
              </a:lnSpc>
              <a:tabLst>
                <a:tab algn="l" pos="0"/>
              </a:tabLst>
            </a:pPr>
            <a:r>
              <a:rPr b="0" lang="en" sz="1200" spc="-1" strike="noStrike">
                <a:solidFill>
                  <a:srgbClr val="333f70"/>
                </a:solidFill>
                <a:latin typeface="Montserrat"/>
                <a:ea typeface="Montserrat"/>
              </a:rPr>
              <a:t>x_train = pad_sequences(x_train, maxlen=maxlen)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200000"/>
              </a:lnSpc>
              <a:tabLst>
                <a:tab algn="l" pos="0"/>
              </a:tabLst>
            </a:pPr>
            <a:r>
              <a:rPr b="0" lang="en" sz="1200" spc="-1" strike="noStrike">
                <a:solidFill>
                  <a:srgbClr val="333f70"/>
                </a:solidFill>
                <a:latin typeface="Montserrat"/>
                <a:ea typeface="Montserrat"/>
              </a:rPr>
              <a:t>x_test = pad_sequences(x_test, maxlen=maxlen)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200000"/>
              </a:lnSpc>
              <a:tabLst>
                <a:tab algn="l" pos="0"/>
              </a:tabLst>
            </a:pPr>
            <a:r>
              <a:rPr b="0" lang="en" sz="1200" spc="-1" strike="noStrike">
                <a:solidFill>
                  <a:srgbClr val="333f70"/>
                </a:solidFill>
                <a:latin typeface="Montserrat"/>
                <a:ea typeface="Montserrat"/>
              </a:rPr>
              <a:t>model = Sequential([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200000"/>
              </a:lnSpc>
              <a:tabLst>
                <a:tab algn="l" pos="0"/>
              </a:tabLst>
            </a:pPr>
            <a:r>
              <a:rPr b="0" lang="en" sz="1200" spc="-1" strike="noStrike">
                <a:solidFill>
                  <a:srgbClr val="333f70"/>
                </a:solidFill>
                <a:latin typeface="Montserrat"/>
                <a:ea typeface="Montserrat"/>
              </a:rPr>
              <a:t>	</a:t>
            </a:r>
            <a:r>
              <a:rPr b="0" lang="en" sz="1200" spc="-1" strike="noStrike">
                <a:solidFill>
                  <a:srgbClr val="333f70"/>
                </a:solidFill>
                <a:latin typeface="Montserrat"/>
                <a:ea typeface="Montserrat"/>
              </a:rPr>
              <a:t>Embedding(input_dim=10000, output_dim=128, input_length=100),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200000"/>
              </a:lnSpc>
              <a:tabLst>
                <a:tab algn="l" pos="0"/>
              </a:tabLst>
            </a:pPr>
            <a:r>
              <a:rPr b="0" lang="en" sz="1200" spc="-1" strike="noStrike">
                <a:solidFill>
                  <a:srgbClr val="333f70"/>
                </a:solidFill>
                <a:latin typeface="Montserrat"/>
                <a:ea typeface="Montserrat"/>
              </a:rPr>
              <a:t>	</a:t>
            </a:r>
            <a:r>
              <a:rPr b="0" lang="en" sz="1200" spc="-1" strike="noStrike">
                <a:solidFill>
                  <a:srgbClr val="333f70"/>
                </a:solidFill>
                <a:latin typeface="Montserrat"/>
                <a:ea typeface="Montserrat"/>
              </a:rPr>
              <a:t>Conv1D(128, 5, activation='relu'),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200000"/>
              </a:lnSpc>
              <a:tabLst>
                <a:tab algn="l" pos="0"/>
              </a:tabLst>
            </a:pPr>
            <a:r>
              <a:rPr b="0" lang="en" sz="1200" spc="-1" strike="noStrike">
                <a:solidFill>
                  <a:srgbClr val="333f70"/>
                </a:solidFill>
                <a:latin typeface="Montserrat"/>
                <a:ea typeface="Montserrat"/>
              </a:rPr>
              <a:t>	</a:t>
            </a:r>
            <a:r>
              <a:rPr b="0" lang="en" sz="1200" spc="-1" strike="noStrike">
                <a:solidFill>
                  <a:srgbClr val="333f70"/>
                </a:solidFill>
                <a:latin typeface="Montserrat"/>
                <a:ea typeface="Montserrat"/>
              </a:rPr>
              <a:t>GlobalMaxPooling1D(),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200000"/>
              </a:lnSpc>
              <a:tabLst>
                <a:tab algn="l" pos="0"/>
              </a:tabLst>
            </a:pPr>
            <a:r>
              <a:rPr b="0" lang="en" sz="1200" spc="-1" strike="noStrike">
                <a:solidFill>
                  <a:srgbClr val="333f70"/>
                </a:solidFill>
                <a:latin typeface="Montserrat"/>
                <a:ea typeface="Montserrat"/>
              </a:rPr>
              <a:t>	</a:t>
            </a:r>
            <a:r>
              <a:rPr b="0" lang="en" sz="1200" spc="-1" strike="noStrike">
                <a:solidFill>
                  <a:srgbClr val="333f70"/>
                </a:solidFill>
                <a:latin typeface="Montserrat"/>
                <a:ea typeface="Montserrat"/>
              </a:rPr>
              <a:t>Dense(1, activation='sigmoid')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200000"/>
              </a:lnSpc>
              <a:tabLst>
                <a:tab algn="l" pos="0"/>
              </a:tabLst>
            </a:pPr>
            <a:r>
              <a:rPr b="0" lang="en" sz="1200" spc="-1" strike="noStrike">
                <a:solidFill>
                  <a:srgbClr val="333f70"/>
                </a:solidFill>
                <a:latin typeface="Montserrat"/>
                <a:ea typeface="Montserrat"/>
              </a:rPr>
              <a:t>])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20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20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7" name="Google Shape;282;p55"/>
          <p:cNvSpPr/>
          <p:nvPr/>
        </p:nvSpPr>
        <p:spPr>
          <a:xfrm>
            <a:off x="1468080" y="218160"/>
            <a:ext cx="6004080" cy="44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24000"/>
              </a:lnSpc>
              <a:tabLst>
                <a:tab algn="l" pos="0"/>
              </a:tabLst>
            </a:pPr>
            <a:r>
              <a:rPr b="1" lang="en" sz="1800" spc="-1" strike="noStrike">
                <a:solidFill>
                  <a:srgbClr val="333f70"/>
                </a:solidFill>
                <a:latin typeface="Unbounded"/>
                <a:ea typeface="Unbounded"/>
              </a:rPr>
              <a:t>Example – 1D CNN for Text (Keras)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288;p56"/>
          <p:cNvSpPr/>
          <p:nvPr/>
        </p:nvSpPr>
        <p:spPr>
          <a:xfrm>
            <a:off x="1468080" y="218160"/>
            <a:ext cx="6004080" cy="44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24000"/>
              </a:lnSpc>
              <a:tabLst>
                <a:tab algn="l" pos="0"/>
              </a:tabLst>
            </a:pPr>
            <a:r>
              <a:rPr b="1" lang="en" sz="1800" spc="-1" strike="noStrike">
                <a:solidFill>
                  <a:srgbClr val="333f70"/>
                </a:solidFill>
                <a:latin typeface="Unbounded"/>
                <a:ea typeface="Unbounded"/>
              </a:rPr>
              <a:t>Self-study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9" name="Google Shape;289;p56"/>
          <p:cNvSpPr/>
          <p:nvPr/>
        </p:nvSpPr>
        <p:spPr>
          <a:xfrm>
            <a:off x="1671120" y="1003680"/>
            <a:ext cx="5800680" cy="44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457200">
              <a:lnSpc>
                <a:spcPct val="200000"/>
              </a:lnSpc>
              <a:tabLst>
                <a:tab algn="l" pos="0"/>
              </a:tabLst>
            </a:pPr>
            <a:r>
              <a:rPr b="0" lang="en" sz="1300" spc="-1" strike="noStrike">
                <a:solidFill>
                  <a:srgbClr val="333f70"/>
                </a:solidFill>
                <a:latin typeface="Unbounded"/>
                <a:ea typeface="Unbounded"/>
              </a:rPr>
              <a:t>3D Convolution and Conv3D layer in TF/keras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295;p57" descr=""/>
          <p:cNvPicPr/>
          <p:nvPr/>
        </p:nvPicPr>
        <p:blipFill>
          <a:blip r:embed="rId1"/>
          <a:srcRect l="16653" t="0" r="16659" b="0"/>
          <a:stretch/>
        </p:blipFill>
        <p:spPr>
          <a:xfrm>
            <a:off x="0" y="0"/>
            <a:ext cx="3428280" cy="5142600"/>
          </a:xfrm>
          <a:prstGeom prst="rect">
            <a:avLst/>
          </a:prstGeom>
          <a:ln w="0">
            <a:noFill/>
          </a:ln>
        </p:spPr>
      </p:pic>
      <p:sp>
        <p:nvSpPr>
          <p:cNvPr id="131" name="Google Shape;296;p57"/>
          <p:cNvSpPr/>
          <p:nvPr/>
        </p:nvSpPr>
        <p:spPr>
          <a:xfrm>
            <a:off x="3925080" y="1795680"/>
            <a:ext cx="4722120" cy="88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24000"/>
              </a:lnSpc>
              <a:tabLst>
                <a:tab algn="l" pos="0"/>
              </a:tabLst>
            </a:pPr>
            <a:r>
              <a:rPr b="1" lang="en" sz="2800" spc="-1" strike="noStrike">
                <a:solidFill>
                  <a:srgbClr val="333f70"/>
                </a:solidFill>
                <a:latin typeface="Unbounded"/>
                <a:ea typeface="Unbounded"/>
              </a:rPr>
              <a:t>Questions?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2" name="Google Shape;297;p57"/>
          <p:cNvSpPr/>
          <p:nvPr/>
        </p:nvSpPr>
        <p:spPr>
          <a:xfrm>
            <a:off x="3925080" y="2322720"/>
            <a:ext cx="4722120" cy="45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62000"/>
              </a:lnSpc>
              <a:tabLst>
                <a:tab algn="l" pos="0"/>
              </a:tabLst>
            </a:pPr>
            <a:r>
              <a:rPr b="0" lang="en" sz="1500" spc="-1" strike="noStrike">
                <a:solidFill>
                  <a:srgbClr val="333f70"/>
                </a:solidFill>
                <a:latin typeface="Open Sans"/>
                <a:ea typeface="Open Sans"/>
              </a:rPr>
              <a:t>"He who asks a question is a fool for a minute; he who does not remains a fool forever." – Confucius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LibreOffice/7.4.7.2$Linux_X86_64 LibreOffice_project/40$Build-2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