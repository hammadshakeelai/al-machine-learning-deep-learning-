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gif" ContentType="image/gif"/>
  <Override PartName="/ppt/media/image5.png" ContentType="image/png"/>
  <Override PartName="/ppt/media/image6.png" ContentType="image/png"/>
  <Override PartName="/ppt/media/image7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A08E19F-C271-4985-A05C-B5DE1D84DF5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5D42D7-36BF-431A-AB5A-E1B7D57A2BF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14DE83-4ECC-4A9F-BF19-3D1EDE5738F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45EE3D-1F0F-4504-BC9B-F8AF91F0B94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FA0C1D-5EA7-4D80-A3CF-948305AFCB5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185917-320A-40BB-822B-869B064D618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5DA82D-DA66-460B-B610-2A173B34719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81F3DD-DC9B-4ACA-BBED-D34FCBAF140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0271BF-E435-4105-8F43-226F6C5EE3A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EBD898-954B-4ED9-A309-F0B909ACD8D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60DA12-2AC6-460B-8B7C-108295E9FB8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0A0515-0E37-4C46-824D-22FE11A6B40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658CD5-788E-470A-8987-F7E64A3E615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DB8B59-BFF9-4B67-AF99-A5558869E44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BE81EC-2CED-4CE4-A2E6-B32E636D26C9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320" cy="255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320" cy="2559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040" cy="26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07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NAVTTC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5720" cy="22572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360" cy="21636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296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6746400" y="0"/>
            <a:ext cx="242820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1776960" y="1158840"/>
            <a:ext cx="5694840" cy="34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Long-Short Term Memory (LSTM)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Learning from Sequences over Time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1086840" y="218160"/>
            <a:ext cx="58172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8 Day 2 &amp; 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81;p41"/>
          <p:cNvSpPr/>
          <p:nvPr/>
        </p:nvSpPr>
        <p:spPr>
          <a:xfrm>
            <a:off x="375840" y="810360"/>
            <a:ext cx="8407440" cy="40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LSTM stands for Long Short-Term Memory network.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It’s a special kind of RNN designed to capture long-range dependencies in sequences.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Proposed by Hochreiter &amp; Schmidhuber (1997), 11 years after simple RNN.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Especially useful in NLP, time series, and speech processing.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82;p41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LSTM?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88;p42"/>
          <p:cNvSpPr/>
          <p:nvPr/>
        </p:nvSpPr>
        <p:spPr>
          <a:xfrm>
            <a:off x="375840" y="810360"/>
            <a:ext cx="8407440" cy="41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Problem: Vanishing/Exploding Gradients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 RNNs, as we backpropagate over time, gradients often: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Vanish (become too small → no learning)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Or explode (become too large → unstable learning)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This makes it hard for RNNs to remember long-term context (e.g., 20+ steps)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LSTM solves this!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89;p42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Why Not Use Vanilla RNN?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95;p43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Core Idea Behind LSTM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96;p43"/>
          <p:cNvSpPr/>
          <p:nvPr/>
        </p:nvSpPr>
        <p:spPr>
          <a:xfrm>
            <a:off x="375840" y="810360"/>
            <a:ext cx="5451480" cy="41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LSTM introduces gates and a cell state.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Gates are learnable control mechanisms to decide: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What to keep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What to throw away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What to add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Think of it like a conveyor belt (cell state) that flows through the network with minor regulated updates.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Google Shape;197;p43" descr="a black and white photo of a man in overalls working (Provided by Tenor)"/>
          <p:cNvPicPr/>
          <p:nvPr/>
        </p:nvPicPr>
        <p:blipFill>
          <a:blip r:embed="rId1"/>
          <a:stretch/>
        </p:blipFill>
        <p:spPr>
          <a:xfrm>
            <a:off x="5980320" y="1117800"/>
            <a:ext cx="3010680" cy="301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203;p44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LSTM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Google Shape;204;p44" descr=""/>
          <p:cNvPicPr/>
          <p:nvPr/>
        </p:nvPicPr>
        <p:blipFill>
          <a:blip r:embed="rId1"/>
          <a:stretch/>
        </p:blipFill>
        <p:spPr>
          <a:xfrm>
            <a:off x="914400" y="660600"/>
            <a:ext cx="7312320" cy="417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210;p45"/>
          <p:cNvSpPr/>
          <p:nvPr/>
        </p:nvSpPr>
        <p:spPr>
          <a:xfrm>
            <a:off x="375840" y="833760"/>
            <a:ext cx="8407440" cy="41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LSTM has: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Forget Gate: Decides what to discard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Input Gate: Decides what new info to store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Cell State C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: Long-term memory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Output Gate: Decides what to output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211;p45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LSTM Architecture (Per Time Step)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Google Shape;212;p45" descr=""/>
          <p:cNvPicPr/>
          <p:nvPr/>
        </p:nvPicPr>
        <p:blipFill>
          <a:blip r:embed="rId1"/>
          <a:stretch/>
        </p:blipFill>
        <p:spPr>
          <a:xfrm>
            <a:off x="2203200" y="3003840"/>
            <a:ext cx="4752360" cy="189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218;p46"/>
          <p:cNvSpPr/>
          <p:nvPr/>
        </p:nvSpPr>
        <p:spPr>
          <a:xfrm>
            <a:off x="375840" y="833760"/>
            <a:ext cx="8407440" cy="41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Cell state C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 flows straight down the chain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Gates regulate what gets added/removed at each step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Hidden state 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 carries current output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Allows learning when to remember or forget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219;p46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LSTM Flow Diagram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225;p47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How LSTM Solves RNN Problems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1" name="Google Shape;226;p47"/>
          <p:cNvGraphicFramePr/>
          <p:nvPr/>
        </p:nvGraphicFramePr>
        <p:xfrm>
          <a:off x="958320" y="1103040"/>
          <a:ext cx="7466040" cy="1145160"/>
        </p:xfrm>
        <a:graphic>
          <a:graphicData uri="http://schemas.openxmlformats.org/drawingml/2006/table">
            <a:tbl>
              <a:tblPr/>
              <a:tblGrid>
                <a:gridCol w="2152440"/>
                <a:gridCol w="5313960"/>
              </a:tblGrid>
              <a:tr h="2379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Problem in RNN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LSTM Solution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Vanishing gradient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Cell state preserves information via identity connections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Long-term memory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Forget/input gates selectively store/erase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No control mechanism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LSTM gates explicitly learn memory control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32;p48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When to Use LSTM?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3" name="Google Shape;233;p48"/>
          <p:cNvGraphicFramePr/>
          <p:nvPr/>
        </p:nvGraphicFramePr>
        <p:xfrm>
          <a:off x="860040" y="1153800"/>
          <a:ext cx="7423200" cy="1436760"/>
        </p:xfrm>
        <a:graphic>
          <a:graphicData uri="http://schemas.openxmlformats.org/drawingml/2006/table">
            <a:tbl>
              <a:tblPr/>
              <a:tblGrid>
                <a:gridCol w="3534480"/>
                <a:gridCol w="3889080"/>
              </a:tblGrid>
              <a:tr h="2379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Use Case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Why LSTM?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Sentiment over long documents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Remembers earlier sentence tone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Language modeling / translation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Tracks long grammar dependencies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Time-series prediction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Maintains trends over time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Speech synthesis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Captures syllables/phonemes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239;p49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RNN Limitations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240;p49"/>
          <p:cNvSpPr/>
          <p:nvPr/>
        </p:nvSpPr>
        <p:spPr>
          <a:xfrm>
            <a:off x="375840" y="821880"/>
            <a:ext cx="8407440" cy="41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Struggles with long-term dependencies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Sequential processing limits parallelism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Training is slow and sometimes unstable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LSTM and GRU were developed to fix these issues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46;p50"/>
          <p:cNvSpPr/>
          <p:nvPr/>
        </p:nvSpPr>
        <p:spPr>
          <a:xfrm>
            <a:off x="375840" y="660600"/>
            <a:ext cx="8407440" cy="43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from tensorflow.keras.models import Sequential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from tensorflow.keras.layers import Embedding, LSTM, Dense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model = Sequential([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Embedding(input_dim=10000, output_dim=64),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LSTM(units=64, return_sequences=False),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Dense(1, activation='sigmoid')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47;p50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LSTM in TF/Keras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248;p50"/>
          <p:cNvSpPr/>
          <p:nvPr/>
        </p:nvSpPr>
        <p:spPr>
          <a:xfrm>
            <a:off x="1172160" y="4089600"/>
            <a:ext cx="7648560" cy="15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return_sequences=False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: returns only last output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return_sequences=True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 when passing to another RNN layer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54;p51"/>
          <p:cNvSpPr/>
          <p:nvPr/>
        </p:nvSpPr>
        <p:spPr>
          <a:xfrm>
            <a:off x="1468080" y="218160"/>
            <a:ext cx="6003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Summary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255;p51"/>
          <p:cNvSpPr/>
          <p:nvPr/>
        </p:nvSpPr>
        <p:spPr>
          <a:xfrm>
            <a:off x="732600" y="854640"/>
            <a:ext cx="768060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17520">
              <a:lnSpc>
                <a:spcPct val="1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LSTM is a smart memory unit that can learn what to remember.</a:t>
            </a:r>
            <a:br>
              <a:rPr sz="1400"/>
            </a:b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DejaVu Sans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Solves vanishing gradient and long-term dependency problems.</a:t>
            </a:r>
            <a:br>
              <a:rPr sz="1400"/>
            </a:b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DejaVu Sans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Widely used in NLP, time-series, and speech tasks.</a:t>
            </a:r>
            <a:br>
              <a:rPr sz="1400"/>
            </a:b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DejaVu Sans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 building block for more advanced models like BiLSTM, Seq2Seq, Attention, and Transformers.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61;p52" descr=""/>
          <p:cNvPicPr/>
          <p:nvPr/>
        </p:nvPicPr>
        <p:blipFill>
          <a:blip r:embed="rId1"/>
          <a:srcRect l="16650" t="0" r="16656" b="0"/>
          <a:stretch/>
        </p:blipFill>
        <p:spPr>
          <a:xfrm>
            <a:off x="0" y="0"/>
            <a:ext cx="3427920" cy="5142240"/>
          </a:xfrm>
          <a:prstGeom prst="rect">
            <a:avLst/>
          </a:prstGeom>
          <a:ln w="0">
            <a:noFill/>
          </a:ln>
        </p:spPr>
      </p:pic>
      <p:sp>
        <p:nvSpPr>
          <p:cNvPr id="122" name="Google Shape;262;p52"/>
          <p:cNvSpPr/>
          <p:nvPr/>
        </p:nvSpPr>
        <p:spPr>
          <a:xfrm>
            <a:off x="3925080" y="1795680"/>
            <a:ext cx="472176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263;p52"/>
          <p:cNvSpPr/>
          <p:nvPr/>
        </p:nvSpPr>
        <p:spPr>
          <a:xfrm>
            <a:off x="3925080" y="2322720"/>
            <a:ext cx="47217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2025-07-01T22:31:31Z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