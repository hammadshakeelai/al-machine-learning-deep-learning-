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3"/>
    <p:sldMasterId id="2147483684" r:id="rId4"/>
    <p:sldMasterId id="214748368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Unbounded"/>
      <p:regular r:id="rId24"/>
      <p:bold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Unbounded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font" Target="fonts/OpenSans-regular.fntdata"/><Relationship Id="rId25" Type="http://schemas.openxmlformats.org/officeDocument/2006/relationships/font" Target="fonts/Unbounded-bold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b1bdceee2_2_54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g34b1bdceee2_2_54:notes"/>
          <p:cNvSpPr txBox="1"/>
          <p:nvPr>
            <p:ph idx="1" type="body"/>
          </p:nvPr>
        </p:nvSpPr>
        <p:spPr>
          <a:xfrm>
            <a:off x="571500" y="2750400"/>
            <a:ext cx="4571400" cy="224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4b1bdceee2_2_5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b1bdceee2_2_65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4b1bdceee2_2_6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4b1bdceee2_2_6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9cd9cc019_0_9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g359cd9cc019_0_9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59cd9cc019_0_9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b94db2788_0_10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g35b94db2788_0_10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5b94db2788_0_10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b94db2788_0_18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g35b94db2788_0_18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5b94db2788_0_18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b94db2788_0_3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g35b94db2788_0_3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5b94db2788_0_3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b94db2788_0_50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g35b94db2788_0_50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5b94db2788_0_50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b94db2788_0_59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g35b94db2788_0_59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5b94db2788_0_59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b94db2788_0_6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g35b94db2788_0_6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5b94db2788_0_6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b94db2788_0_74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g35b94db2788_0_74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5b94db2788_0_7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b94db2788_0_83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g35b94db2788_0_83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5b94db2788_0_83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b94db2788_0_93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g35b94db2788_0_93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5b94db2788_0_93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4b1bdceee2_2_47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g34b1bdceee2_2_47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4b1bdceee2_2_47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6" name="Google Shape;116;p29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0" name="Google Shape;120;p3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7" name="Google Shape;127;p33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8" name="Google Shape;128;p33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9" name="Google Shape;129;p33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3" name="Google Shape;133;p3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4" name="Google Shape;134;p34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8" name="Google Shape;138;p35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9" name="Google Shape;139;p35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7" name="Google Shape;147;p37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8" name="Google Shape;148;p37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2" name="Google Shape;152;p38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3" name="Google Shape;153;p38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5" name="Google Shape;155;p38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" name="Google Shape;53;p13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" name="Google Shape;107;p26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496125" y="822825"/>
            <a:ext cx="3902625" cy="265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Artificial Intelligence (Machine Learning &amp; Deep Learning)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496125" y="3828150"/>
            <a:ext cx="8151300" cy="22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NAVTCC &amp; Strings Technologies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496125" y="4224825"/>
            <a:ext cx="226350" cy="226350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6" name="Google Shape;16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850" y="4229775"/>
            <a:ext cx="216900" cy="21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9"/>
          <p:cNvSpPr/>
          <p:nvPr/>
        </p:nvSpPr>
        <p:spPr>
          <a:xfrm>
            <a:off x="793800" y="4214475"/>
            <a:ext cx="2173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by Salman Ahmad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8975" y="677000"/>
            <a:ext cx="283845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0"/>
          <p:cNvSpPr/>
          <p:nvPr/>
        </p:nvSpPr>
        <p:spPr>
          <a:xfrm>
            <a:off x="2306525" y="1334825"/>
            <a:ext cx="39315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Multivariate Linear Regression using Gradient Descent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75" name="Google Shape;175;p40"/>
          <p:cNvSpPr/>
          <p:nvPr/>
        </p:nvSpPr>
        <p:spPr>
          <a:xfrm>
            <a:off x="1883175" y="218250"/>
            <a:ext cx="54027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Outline Week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5</a:t>
            </a: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Day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0"/>
          <p:cNvSpPr/>
          <p:nvPr/>
        </p:nvSpPr>
        <p:spPr>
          <a:xfrm>
            <a:off x="1424350" y="1944425"/>
            <a:ext cx="60141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predicting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outcomes with multiple input features using mathematical intuition and Python implementation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1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is Multivariate Linear Regression?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1"/>
          <p:cNvSpPr/>
          <p:nvPr/>
        </p:nvSpPr>
        <p:spPr>
          <a:xfrm>
            <a:off x="341925" y="870450"/>
            <a:ext cx="8309700" cy="38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Multivariate Linear Regression a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ka Multiple Regression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models the relationship between two or more independent variables (features) and one continuous dependent variable (target).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Y’ = θ0 ​+ θ1 ​x1 ​+ θ2 ​x2 ​+ ⋯ + θn ​xn​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Example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Predict house price (y) using: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x1​: size in sqft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x2​: number of bedrooms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x3​: number of bathrooms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2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Why Do We Need Multiple Features?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2"/>
          <p:cNvSpPr/>
          <p:nvPr/>
        </p:nvSpPr>
        <p:spPr>
          <a:xfrm>
            <a:off x="341925" y="883625"/>
            <a:ext cx="8309700" cy="3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Real-world problems are rarely influenced by a single factor.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Multiple inputs increase model expressiveness and accuracy.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Example: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 house's value depends on more than just size — location, amenities, and age also matter.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3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Hypothesis Function (Vector Form)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3"/>
          <p:cNvSpPr/>
          <p:nvPr/>
        </p:nvSpPr>
        <p:spPr>
          <a:xfrm>
            <a:off x="341925" y="883625"/>
            <a:ext cx="8309700" cy="3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Instead of writing each feature manually, we use vectorized notation: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y^ = X⋅θ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Where: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	X is the matrix of input features (with a column of 1s for bias)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	θ is the parameter vector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Example: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98" name="Google Shape;198;p43"/>
          <p:cNvSpPr/>
          <p:nvPr/>
        </p:nvSpPr>
        <p:spPr>
          <a:xfrm>
            <a:off x="873375" y="3594600"/>
            <a:ext cx="1622100" cy="1028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1, x1, x2, … xn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2, x1, x2, … xn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43"/>
          <p:cNvSpPr/>
          <p:nvPr/>
        </p:nvSpPr>
        <p:spPr>
          <a:xfrm>
            <a:off x="2854575" y="3594600"/>
            <a:ext cx="489300" cy="1028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Θ1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Θ2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43"/>
          <p:cNvSpPr/>
          <p:nvPr/>
        </p:nvSpPr>
        <p:spPr>
          <a:xfrm>
            <a:off x="3672250" y="3870075"/>
            <a:ext cx="369300" cy="2505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1" name="Google Shape;201;p43"/>
          <p:cNvSpPr/>
          <p:nvPr/>
        </p:nvSpPr>
        <p:spPr>
          <a:xfrm>
            <a:off x="4302375" y="3594600"/>
            <a:ext cx="603600" cy="1028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Y’</a:t>
            </a: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Y’2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4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Cost Function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4"/>
          <p:cNvSpPr/>
          <p:nvPr/>
        </p:nvSpPr>
        <p:spPr>
          <a:xfrm>
            <a:off x="2094525" y="883625"/>
            <a:ext cx="5104800" cy="3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We use Mean Squared Error (MSE):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m: number of training examples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y^​: predicted value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y: actual value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Lower the cost, better the model.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209" name="Google Shape;20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5325" y="1234275"/>
            <a:ext cx="2914650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5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Gradient Descent – Vectorized Update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16" name="Google Shape;216;p45"/>
          <p:cNvSpPr/>
          <p:nvPr/>
        </p:nvSpPr>
        <p:spPr>
          <a:xfrm>
            <a:off x="2006100" y="883625"/>
            <a:ext cx="5169900" cy="3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To minimize the cost, we update θ using: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	θ := θ - α . 1/m . X</a:t>
            </a:r>
            <a:r>
              <a:rPr baseline="30000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T</a:t>
            </a: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 . (Xθ - y)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Where: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α: learning rate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X</a:t>
            </a:r>
            <a:r>
              <a:rPr baseline="30000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T</a:t>
            </a: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: transpose of input matrix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θ: parameters to update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6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Python Implementation (NumPy)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23" name="Google Shape;223;p46"/>
          <p:cNvSpPr/>
          <p:nvPr/>
        </p:nvSpPr>
        <p:spPr>
          <a:xfrm>
            <a:off x="1853700" y="672600"/>
            <a:ext cx="4846200" cy="4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import numpy as np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Sample multivariate data (size, bedrooms, price)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X = np.array([[2100, 3], [1600, 2], [2400, 4], [1400, 2]])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y = np.array([400000, 330000, 450000, 250000])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Feature normalization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X_mean, X_std = X.mean(axis=0), X.std(axis=0)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X_norm = (X - X_mean) / X_std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Add bias column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 = len(y)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X_b = np.c_[np.ones((m, 1)), X_norm]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7"/>
          <p:cNvSpPr/>
          <p:nvPr/>
        </p:nvSpPr>
        <p:spPr>
          <a:xfrm>
            <a:off x="1021375" y="108425"/>
            <a:ext cx="7055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Python Implementation (NumPy) - Continued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30" name="Google Shape;230;p47"/>
          <p:cNvSpPr/>
          <p:nvPr/>
        </p:nvSpPr>
        <p:spPr>
          <a:xfrm>
            <a:off x="1853700" y="672600"/>
            <a:ext cx="4846200" cy="4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Initialize parameters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theta = np.zeros(X_b.shape[1])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alpha = 0.01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epochs = 1000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Gradient Descent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for i in range(epochs):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	prediction = X_b.dot(theta)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	error = prediction - y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	gradient = X_b.T.dot(error) / m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	theta -= alpha * gradient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8"/>
          <p:cNvSpPr/>
          <p:nvPr/>
        </p:nvSpPr>
        <p:spPr>
          <a:xfrm>
            <a:off x="1021375" y="108425"/>
            <a:ext cx="7055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Prediction &amp; Evaluation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37" name="Google Shape;237;p48"/>
          <p:cNvSpPr/>
          <p:nvPr/>
        </p:nvSpPr>
        <p:spPr>
          <a:xfrm>
            <a:off x="1853700" y="901200"/>
            <a:ext cx="48462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 Predict price for new input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new_data = np.array([[2000, 3]])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new_data_norm = (new_data - X_mean) / X_std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new_data_b = np.c_[np.ones((1, 1)), new_data_norm]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predicted_price = new_data_b.dot(theta)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#evaluate using mse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mse = np.mean((prediction - y) ** 2)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print("MSE:", mse)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9"/>
          <p:cNvSpPr/>
          <p:nvPr/>
        </p:nvSpPr>
        <p:spPr>
          <a:xfrm>
            <a:off x="1021375" y="108425"/>
            <a:ext cx="7055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Plotting Cost Over Iterations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44" name="Google Shape;244;p49"/>
          <p:cNvSpPr/>
          <p:nvPr/>
        </p:nvSpPr>
        <p:spPr>
          <a:xfrm>
            <a:off x="253500" y="901200"/>
            <a:ext cx="38949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#add history to the training loop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cost_history = []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for i in range(epochs):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	prediction = X_b.dot(theta)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	error = prediction - y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	cost = np.mean(error ** 2) / 2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	cost_history.append(cost)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	theta -= alpha * (X_b.T.dot(error)) / m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49"/>
          <p:cNvSpPr/>
          <p:nvPr/>
        </p:nvSpPr>
        <p:spPr>
          <a:xfrm>
            <a:off x="4825500" y="901200"/>
            <a:ext cx="38949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#plot history of losses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import matplotlib.pyplot as plt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plt.plot(range(epochs), cost_history)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plt.xlabel("Epoch")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plt.ylabel("Cost")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plt.title("Cost Function Over Iterations")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plt.grid(True)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plt.show()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0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Summary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52" name="Google Shape;252;p50"/>
          <p:cNvSpPr/>
          <p:nvPr/>
        </p:nvSpPr>
        <p:spPr>
          <a:xfrm>
            <a:off x="2006100" y="883625"/>
            <a:ext cx="5169900" cy="3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Multivariate Linear Regression models multiple features simultaneously.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Vectorized gradient descent ensures performance and scalability.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Normalize features before applying gradient descent.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Evaluate with MSE, R², and visualize performance.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51"/>
          <p:cNvPicPr preferRelativeResize="0"/>
          <p:nvPr/>
        </p:nvPicPr>
        <p:blipFill rotWithShape="1">
          <a:blip r:embed="rId3">
            <a:alphaModFix/>
          </a:blip>
          <a:srcRect b="0" l="16656" r="16663" t="0"/>
          <a:stretch/>
        </p:blipFill>
        <p:spPr>
          <a:xfrm>
            <a:off x="0" y="0"/>
            <a:ext cx="3428550" cy="51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51"/>
          <p:cNvSpPr/>
          <p:nvPr/>
        </p:nvSpPr>
        <p:spPr>
          <a:xfrm>
            <a:off x="3925125" y="1795500"/>
            <a:ext cx="47223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Questions?</a:t>
            </a:r>
            <a:endParaRPr b="0" sz="2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1"/>
          <p:cNvSpPr/>
          <p:nvPr/>
        </p:nvSpPr>
        <p:spPr>
          <a:xfrm>
            <a:off x="3925125" y="2322675"/>
            <a:ext cx="47223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"He who asks a question is a fool for a minute; he who does not remains a fool forever." – Confucius</a:t>
            </a:r>
            <a:endParaRPr b="0" sz="15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