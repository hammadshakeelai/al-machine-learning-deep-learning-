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Unbounded"/>
      <p:regular r:id="rId28"/>
      <p:bold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AC4113-1E91-42AC-9540-CED012F7A76B}">
  <a:tblStyle styleId="{9BAC4113-1E91-42AC-9540-CED012F7A7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Unbounded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nbounded-bold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3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2.xml"/><Relationship Id="rId32" Type="http://schemas.openxmlformats.org/officeDocument/2006/relationships/font" Target="fonts/OpenSans-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36c2b0db_0_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6236c2b0db_0_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236c2b0db_0_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2422f3453_0_3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g362422f3453_0_3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2422f3453_0_3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2422f3453_0_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62422f3453_0_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62422f3453_0_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236c2b0db_0_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6236c2b0db_0_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6236c2b0db_0_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87f81bc00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687f81bc00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687f81bc00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236c2b0db_0_1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6236c2b0db_0_1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6236c2b0db_0_1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236c2b0db_0_2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6236c2b0db_0_2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6236c2b0db_0_2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87f81bc00_0_1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687f81bc00_0_1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87f81bc00_0_1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236c2b0db_0_3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6236c2b0db_0_3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6236c2b0db_0_3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236c2b0db_0_6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6236c2b0db_0_6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6236c2b0db_0_6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a1f827536_0_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g36a1f827536_0_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6a1f827536_0_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87dd36757_0_2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687dd36757_0_2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687dd36757_0_2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</a:t>
            </a:r>
            <a:r>
              <a:rPr lang="en"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1776875" y="1158950"/>
            <a:ext cx="56955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Gated Recurrent Unit Networks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Learning from Sequences over Time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086900" y="218250"/>
            <a:ext cx="5817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8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4&amp;5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1544100" y="19708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GRU?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2"/>
          <p:cNvSpPr/>
          <p:nvPr/>
        </p:nvSpPr>
        <p:spPr>
          <a:xfrm>
            <a:off x="1544100" y="19708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</a:t>
            </a: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is GRU?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</a:t>
            </a: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GRU?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u from despicable me wearing a scarf and a suit (Provided by Tenor)"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700" y="3162300"/>
            <a:ext cx="38100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3"/>
          <p:cNvSpPr/>
          <p:nvPr/>
        </p:nvSpPr>
        <p:spPr>
          <a:xfrm>
            <a:off x="375775" y="886475"/>
            <a:ext cx="84081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GRU = Gated Recurrent Unit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type of recurrent neural network that improves memory control like LSTM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Introduced in 2014 by Cho et al.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Combines memory gating with a simpler design than LSTM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GRU?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4"/>
          <p:cNvSpPr txBox="1"/>
          <p:nvPr/>
        </p:nvSpPr>
        <p:spPr>
          <a:xfrm>
            <a:off x="1099800" y="1033400"/>
            <a:ext cx="6740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Solves vanishing gradient and long-term dependency problems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Similar to LSTM, but with fewer parameters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Trains faster and is easier to tune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Often performs just as well as LSTM, especially on smaller datasets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5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GRU Internal Mechanics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09" name="Google Shape;209;p45"/>
          <p:cNvSpPr/>
          <p:nvPr/>
        </p:nvSpPr>
        <p:spPr>
          <a:xfrm>
            <a:off x="1290175" y="810275"/>
            <a:ext cx="6787500" cy="2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GRU has two gates: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Update Gate z</a:t>
            </a:r>
            <a:r>
              <a:rPr baseline="-25000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​: controls how much of the past to keep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Reset Gate r</a:t>
            </a:r>
            <a:r>
              <a:rPr baseline="-25000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​: controls how much of the past to forget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210" name="Google Shape;21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623" y="2543175"/>
            <a:ext cx="7210475" cy="22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6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GRU – Fully gated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3150"/>
            <a:ext cx="8355901" cy="41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/>
          <p:nvPr/>
        </p:nvSpPr>
        <p:spPr>
          <a:xfrm>
            <a:off x="375775" y="833775"/>
            <a:ext cx="8408100" cy="4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Update gate z</a:t>
            </a:r>
            <a:r>
              <a:rPr baseline="-25000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​: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Balances between keeping the old state vs. updating to the new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Reset gate r</a:t>
            </a:r>
            <a:r>
              <a:rPr baseline="-25000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​: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Decides how much past info to "reset" when computing new candidate state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Less complex than LSTM: no separate cell state C</a:t>
            </a:r>
            <a:r>
              <a:rPr baseline="-25000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, only h</a:t>
            </a:r>
            <a:r>
              <a:rPr baseline="-25000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endParaRPr baseline="-250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24" name="Google Shape;224;p47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Do These Gates Do?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GRU Solves RNN Problems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p48"/>
          <p:cNvGraphicFramePr/>
          <p:nvPr/>
        </p:nvGraphicFramePr>
        <p:xfrm>
          <a:off x="548925" y="139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{9BAC4113-1E91-42AC-9540-CED012F7A76B}</a:tableStyleId>
              </a:tblPr>
              <a:tblGrid>
                <a:gridCol w="3333875"/>
                <a:gridCol w="47123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Problem in RNN</a:t>
                      </a:r>
                      <a:endParaRPr b="1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GRU Solution</a:t>
                      </a:r>
                      <a:endParaRPr b="1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Vanishing gradients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Uses gates to regulate flow of info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No long-term memory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Maintains hidden state adaptively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Hard to train on sequences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Efficient gating &amp; fewer parameters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9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GRU vs LSTM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8" name="Google Shape;238;p49"/>
          <p:cNvGraphicFramePr/>
          <p:nvPr/>
        </p:nvGraphicFramePr>
        <p:xfrm>
          <a:off x="430638" y="120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{9BAC4113-1E91-42AC-9540-CED012F7A76B}</a:tableStyleId>
              </a:tblPr>
              <a:tblGrid>
                <a:gridCol w="2284350"/>
                <a:gridCol w="3170125"/>
                <a:gridCol w="28282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Feature</a:t>
                      </a:r>
                      <a:endParaRPr b="1"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LSTM</a:t>
                      </a:r>
                      <a:endParaRPr b="1"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GRU</a:t>
                      </a:r>
                      <a:endParaRPr b="1"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Gates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3 (input, forget, output)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2 (update, reset)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Separate cell state?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Yes (C</a:t>
                      </a:r>
                      <a:r>
                        <a:rPr baseline="-25000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</a:t>
                      </a: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)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No (only h</a:t>
                      </a:r>
                      <a:r>
                        <a:rPr baseline="-25000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</a:t>
                      </a: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)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Parameter count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Higher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Lower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Training time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Slower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Faster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Performance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Strong (esp. for long tasks)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Comparable (or better?)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9" name="Google Shape;239;p49"/>
          <p:cNvSpPr txBox="1"/>
          <p:nvPr/>
        </p:nvSpPr>
        <p:spPr>
          <a:xfrm>
            <a:off x="2424050" y="3957450"/>
            <a:ext cx="378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Which one is better? GRU or LSTM? </a:t>
            </a:r>
            <a:endParaRPr sz="12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https://arxiv.org/pdf/1412.3555</a:t>
            </a:r>
            <a:endParaRPr sz="12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0"/>
          <p:cNvSpPr/>
          <p:nvPr/>
        </p:nvSpPr>
        <p:spPr>
          <a:xfrm>
            <a:off x="375775" y="660750"/>
            <a:ext cx="8408100" cy="43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tensorflow.keras.models import Sequential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tensorflow.keras.layers import Embedding, GRU, Dense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model = Sequential([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Embedding(input_dim=10000, output_dim=64),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GRU(units=64, return_sequences=False),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Dense(1, activation='sigmoid')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])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50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GRU in TF/Keras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0"/>
          <p:cNvSpPr/>
          <p:nvPr/>
        </p:nvSpPr>
        <p:spPr>
          <a:xfrm>
            <a:off x="1172300" y="4089750"/>
            <a:ext cx="76494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return_sequences=False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: returns only last output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</a:t>
            </a: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return_sequences=True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when passing to another RNN layer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1"/>
          <p:cNvSpPr/>
          <p:nvPr/>
        </p:nvSpPr>
        <p:spPr>
          <a:xfrm>
            <a:off x="375775" y="660750"/>
            <a:ext cx="84081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Sequence models are a type of machine learning model designed to handle data where the order or sequence of elements is crucial for understanding and prediction.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54" name="Google Shape;254;p51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Sequence Models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5" name="Google Shape;255;p51"/>
          <p:cNvGraphicFramePr/>
          <p:nvPr/>
        </p:nvGraphicFramePr>
        <p:xfrm>
          <a:off x="1018513" y="205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{9BAC4113-1E91-42AC-9540-CED012F7A76B}</a:tableStyleId>
              </a:tblPr>
              <a:tblGrid>
                <a:gridCol w="1608575"/>
                <a:gridCol w="1374600"/>
                <a:gridCol w="1374600"/>
                <a:gridCol w="27492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Type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Input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Output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Example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 → 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Single value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Single value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Image classification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 → Many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Single value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Sequence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Image captioning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Many → 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Sequence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Single value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Sentiment classification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Many → Many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Sequence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Sequence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Translation, POS tagging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2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Summary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2"/>
          <p:cNvSpPr txBox="1"/>
          <p:nvPr/>
        </p:nvSpPr>
        <p:spPr>
          <a:xfrm>
            <a:off x="732700" y="854800"/>
            <a:ext cx="7681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GRUs are efficient, memory-capable RNNs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Fewer gates than LSTM → simpler + faster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Solves vanishing gradients and can learn 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emporal dependencies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Ideal for text, time series, and real-time systems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3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3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3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