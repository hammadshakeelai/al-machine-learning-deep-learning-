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Unbounded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57B060-6127-4413-AB35-754DB5FE926D}">
  <a:tblStyle styleId="{AD57B060-6127-4413-AB35-754DB5FE92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nbounded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regular.fntdata"/><Relationship Id="rId30" Type="http://schemas.openxmlformats.org/officeDocument/2006/relationships/font" Target="fonts/Unbounded-bold.fntdata"/><Relationship Id="rId11" Type="http://schemas.openxmlformats.org/officeDocument/2006/relationships/slide" Target="slides/slide3.xml"/><Relationship Id="rId33" Type="http://schemas.openxmlformats.org/officeDocument/2006/relationships/font" Target="fonts/OpenSans-italic.fntdata"/><Relationship Id="rId10" Type="http://schemas.openxmlformats.org/officeDocument/2006/relationships/slide" Target="slides/slide2.xml"/><Relationship Id="rId32" Type="http://schemas.openxmlformats.org/officeDocument/2006/relationships/font" Target="fonts/OpenSans-bold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422f3453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2422f3453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2422f3453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a1fc387c1_0_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6a1fc387c1_0_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6a1fc387c1_0_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95bbfe020_0_7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695bbfe020_0_7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95bbfe020_0_7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95bbfe020_0_7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695bbfe020_0_7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695bbfe020_0_7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95bbfe020_0_8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695bbfe020_0_8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95bbfe020_0_8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95bbfe020_0_6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695bbfe020_0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695bbfe020_0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9480f0fbf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69480f0fbf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69480f0fbf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87f81bc00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687f81bc00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87f81bc00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a1fc387c1_0_2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6a1fc387c1_0_2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6a1fc387c1_0_2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a1fc387c1_0_3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6a1fc387c1_0_3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6a1fc387c1_0_3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a1fc387c1_0_4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6a1fc387c1_0_4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a1fc387c1_0_4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a1fc387c1_0_5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6a1fc387c1_0_5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6a1fc387c1_0_5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95bbfe020_0_5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695bbfe020_0_5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95bbfe020_0_5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</a:t>
            </a:r>
            <a:r>
              <a:rPr lang="en"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1776875" y="1158950"/>
            <a:ext cx="56955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Bi-Directional LSTM/RNN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two way traffic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086900" y="218250"/>
            <a:ext cx="5817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10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a Bi-Directional LSTM?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375775" y="660750"/>
            <a:ext cx="42042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Bidirectional LSTM (Bi-LSTM) processes a sequence in both directions: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One LSTM reads the sequence left to right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Another LSTM reads it right to left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outputs from both directions are then combined (concatenated, summed, or averaged).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83" name="Google Shape;18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375" y="1422750"/>
            <a:ext cx="4259224" cy="231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a Bi-Directional LSTM?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2"/>
          <p:cNvSpPr/>
          <p:nvPr/>
        </p:nvSpPr>
        <p:spPr>
          <a:xfrm>
            <a:off x="375775" y="660750"/>
            <a:ext cx="42042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 Bidirectional LSTM (Bi-LSTM) processes a sequence in both directions: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One LSTM reads the sequence left to right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Another LSTM reads it right to left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outputs from both directions are then combined (concatenated, summed, or averaged).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191" name="Google Shape;1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375" y="1422750"/>
            <a:ext cx="4259224" cy="231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/>
          <p:nvPr/>
        </p:nvSpPr>
        <p:spPr>
          <a:xfrm>
            <a:off x="1569750" y="235050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Use Bi-Directional LSTM?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of a rooster with the words becaaauusee written below it (Provided by Tenor)" id="203" name="Google Shape;2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75" y="1590675"/>
            <a:ext cx="47434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5"/>
          <p:cNvSpPr/>
          <p:nvPr/>
        </p:nvSpPr>
        <p:spPr>
          <a:xfrm>
            <a:off x="1569750" y="2350500"/>
            <a:ext cx="600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Both the left and the right words matter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Bi-Directional LSTM?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6"/>
          <p:cNvSpPr/>
          <p:nvPr/>
        </p:nvSpPr>
        <p:spPr>
          <a:xfrm>
            <a:off x="375775" y="660750"/>
            <a:ext cx="8396400" cy="4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 many NLP tasks, the full context of a word depends on both its left and right neighbors.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I saw a man with a telescope.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Without knowing what's after “man”, the meaning is unclear.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Bi-LSTM captures both previous and future context.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7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When to Use Bidirectional LSTMs?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47"/>
          <p:cNvGraphicFramePr/>
          <p:nvPr/>
        </p:nvGraphicFramePr>
        <p:xfrm>
          <a:off x="3048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{AD57B060-6127-4413-AB35-754DB5FE926D}</a:tableStyleId>
              </a:tblPr>
              <a:tblGrid>
                <a:gridCol w="2583150"/>
                <a:gridCol w="2230900"/>
                <a:gridCol w="37573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Task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Should Use Bi-LSTM?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Why?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Sentiment analysis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Yes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Understand full sentence context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POS tagging / NER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Yes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Context from both sides is helpful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Machine translation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Yes (encoder side)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Capture entire sentence meaning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Text generation (decoder)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Usually No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Generation is sequential (left to right)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 in TensorFlow/Keras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0" name="Google Shape;230;p48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tensorflow.keras.models import Sequential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from tensorflow.keras.layers import Embedding, Bidirectional, LSTM, Dense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model = Sequential([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Embedding(input_dim=10000, output_dim=128, input_length=100),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Bidirectional(LSTM(64)),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Dense(1, activation='sigmoid')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model.compile(loss='binary_crossentropy', optimizer='adam', metrics=['accuracy'])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 in TensorFlow/Keras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37" name="Google Shape;237;p49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Bidirectional wrapper is used to wrap a recurrent layer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Allows RNN to process input sequences in both forward and backward directions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Internally creates two copies of the RNN layer: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One processes the input from start to end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other processes the input from end to start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The two outputs are merged (by default, concatenated)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You can change it with </a:t>
            </a: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merge_mode='sum', 'ave', 'mul', or None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0"/>
          <p:cNvSpPr/>
          <p:nvPr/>
        </p:nvSpPr>
        <p:spPr>
          <a:xfrm>
            <a:off x="1467900" y="218250"/>
            <a:ext cx="65526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Can Bidirectional Work with Other Layers?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44" name="Google Shape;244;p50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Bidirectional only works with RNN-type layers: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SimpleRNN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LSTM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GRU	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Not c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ompatible with other layers such as Dense, Conv1D, Conv2D, etc.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This is because bidirectionality is a temporal concept — only meaningful when the input is a sequence over time.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1"/>
          <p:cNvSpPr/>
          <p:nvPr/>
        </p:nvSpPr>
        <p:spPr>
          <a:xfrm>
            <a:off x="1467900" y="218250"/>
            <a:ext cx="65526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Return Sequences vs Return State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1" name="Google Shape;251;p51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If you're stacking RNNs: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</a:t>
            </a: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 return_sequences=True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in the lower layers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Last layer: </a:t>
            </a: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return_sequences=False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(unless you're predicting a sequence)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model = Sequential([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Embedding(10000, 128),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Bidirectional(LSTM(64, return_sequences=True)),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Bidirectional(LSTM(32)),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	Dense(1, activation='sigmoid')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])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2"/>
          <p:cNvSpPr/>
          <p:nvPr/>
        </p:nvSpPr>
        <p:spPr>
          <a:xfrm>
            <a:off x="1467900" y="218250"/>
            <a:ext cx="65526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Return Sequences vs Return State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8" name="Google Shape;258;p52"/>
          <p:cNvSpPr/>
          <p:nvPr/>
        </p:nvSpPr>
        <p:spPr>
          <a:xfrm>
            <a:off x="399275" y="810275"/>
            <a:ext cx="8290800" cy="4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eturn_state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Controls whether the RNN also returns the hidden state(s) at the end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it if you want to capture or reuse the RNN’s memory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x = Input(shape=(10, 100))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out1 = LSTM(64, return_sequences=False)(x)  # Shape: (batch_size, 64)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out2 = LSTM(64, return_sequences=True)(x)   # Shape: (batch_size, 10, 64)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Montserrat"/>
                <a:ea typeface="Montserrat"/>
                <a:cs typeface="Montserrat"/>
                <a:sym typeface="Montserrat"/>
              </a:rPr>
              <a:t>out3, h, c = LSTM(64, return_state=True)(x)  # out3 = final output, h = final hidden, c = final cell</a:t>
            </a:r>
            <a:endParaRPr>
              <a:solidFill>
                <a:srgbClr val="333F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3"/>
          <p:cNvSpPr/>
          <p:nvPr/>
        </p:nvSpPr>
        <p:spPr>
          <a:xfrm>
            <a:off x="14679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Summary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65" name="Google Shape;265;p53"/>
          <p:cNvGraphicFramePr/>
          <p:nvPr/>
        </p:nvGraphicFramePr>
        <p:xfrm>
          <a:off x="1136413" y="109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{AD57B060-6127-4413-AB35-754DB5FE926D}</a:tableStyleId>
              </a:tblPr>
              <a:tblGrid>
                <a:gridCol w="2225875"/>
                <a:gridCol w="2405600"/>
                <a:gridCol w="22397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Feature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Uni-directional LSTM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Bi-directional LSTM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Reads context from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Past (left) only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Past + future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Captures full context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Partial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Full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Useful for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Generation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Understanding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Common tasks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Text gen, LM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NER, QA, Sentiment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4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4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4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