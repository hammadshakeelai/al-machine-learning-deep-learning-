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  <p:sldMasterId id="2147483684" r:id="rId5"/>
    <p:sldMasterId id="214748368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y="5143500" cx="9144000"/>
  <p:notesSz cx="6858000" cy="9144000"/>
  <p:embeddedFontLst>
    <p:embeddedFont>
      <p:font typeface="Montserrat"/>
      <p:regular r:id="rId35"/>
      <p:bold r:id="rId36"/>
      <p:italic r:id="rId37"/>
      <p:boldItalic r:id="rId38"/>
    </p:embeddedFont>
    <p:embeddedFont>
      <p:font typeface="Unbounded"/>
      <p:regular r:id="rId39"/>
      <p:bold r:id="rId40"/>
    </p:embeddedFont>
    <p:embeddedFont>
      <p:font typeface="Open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C81404-E4AD-4A6F-B45E-99A1C881BBD9}">
  <a:tblStyle styleId="{F7C81404-E4AD-4A6F-B45E-99A1C881BBD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nbounded-bold.fntdata"/><Relationship Id="rId20" Type="http://schemas.openxmlformats.org/officeDocument/2006/relationships/slide" Target="slides/slide13.xml"/><Relationship Id="rId42" Type="http://schemas.openxmlformats.org/officeDocument/2006/relationships/font" Target="fonts/OpenSans-bold.fntdata"/><Relationship Id="rId41" Type="http://schemas.openxmlformats.org/officeDocument/2006/relationships/font" Target="fonts/OpenSans-regular.fntdata"/><Relationship Id="rId22" Type="http://schemas.openxmlformats.org/officeDocument/2006/relationships/slide" Target="slides/slide15.xml"/><Relationship Id="rId44" Type="http://schemas.openxmlformats.org/officeDocument/2006/relationships/font" Target="fonts/OpenSans-boldItalic.fntdata"/><Relationship Id="rId21" Type="http://schemas.openxmlformats.org/officeDocument/2006/relationships/slide" Target="slides/slide14.xml"/><Relationship Id="rId43" Type="http://schemas.openxmlformats.org/officeDocument/2006/relationships/font" Target="fonts/OpenSans-italic.fnt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Montserrat-regular.fntdata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Montserrat-italic.fntdata"/><Relationship Id="rId14" Type="http://schemas.openxmlformats.org/officeDocument/2006/relationships/slide" Target="slides/slide7.xml"/><Relationship Id="rId36" Type="http://schemas.openxmlformats.org/officeDocument/2006/relationships/font" Target="fonts/Montserrat-bold.fntdata"/><Relationship Id="rId17" Type="http://schemas.openxmlformats.org/officeDocument/2006/relationships/slide" Target="slides/slide10.xml"/><Relationship Id="rId39" Type="http://schemas.openxmlformats.org/officeDocument/2006/relationships/font" Target="fonts/Unbounded-regular.fntdata"/><Relationship Id="rId16" Type="http://schemas.openxmlformats.org/officeDocument/2006/relationships/slide" Target="slides/slide9.xml"/><Relationship Id="rId38" Type="http://schemas.openxmlformats.org/officeDocument/2006/relationships/font" Target="fonts/Montserrat-bold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b1bdceee2_2_54:notes"/>
          <p:cNvSpPr/>
          <p:nvPr>
            <p:ph idx="2" type="sldImg"/>
          </p:nvPr>
        </p:nvSpPr>
        <p:spPr>
          <a:xfrm>
            <a:off x="571500" y="714375"/>
            <a:ext cx="4571400" cy="1928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g34b1bdceee2_2_54:notes"/>
          <p:cNvSpPr txBox="1"/>
          <p:nvPr>
            <p:ph idx="1" type="body"/>
          </p:nvPr>
        </p:nvSpPr>
        <p:spPr>
          <a:xfrm>
            <a:off x="571500" y="2750400"/>
            <a:ext cx="4571400" cy="2249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4b1bdceee2_2_54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b1bdceee2_2_65:notes"/>
          <p:cNvSpPr/>
          <p:nvPr>
            <p:ph idx="2" type="sldImg"/>
          </p:nvPr>
        </p:nvSpPr>
        <p:spPr>
          <a:xfrm>
            <a:off x="571500" y="714375"/>
            <a:ext cx="4571400" cy="1928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g34b1bdceee2_2_65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4b1bdceee2_2_65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4b1bdceee2_0_146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g34b1bdceee2_0_146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4b1bdceee2_0_146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568c74d03e_0_37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g3568c74d03e_0_37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568c74d03e_0_37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568c74d03e_0_4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g3568c74d03e_0_4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568c74d03e_0_4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568c74d03e_0_18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g3568c74d03e_0_18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568c74d03e_0_18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568c74d03e_0_27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g3568c74d03e_0_27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568c74d03e_0_27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568c74d03e_0_57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g3568c74d03e_0_57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568c74d03e_0_57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568c74d03e_0_70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g3568c74d03e_0_70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568c74d03e_0_70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568c74d03e_0_78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g3568c74d03e_0_78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568c74d03e_0_78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568c74d03e_0_89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g3568c74d03e_0_89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568c74d03e_0_89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57094311e6_0_3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g357094311e6_0_3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57094311e6_0_3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68c74d03e_0_102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g3568c74d03e_0_102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568c74d03e_0_102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568c74d03e_0_117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g3568c74d03e_0_117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568c74d03e_0_117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568c74d03e_0_127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g3568c74d03e_0_127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3568c74d03e_0_127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568c74d03e_0_137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g3568c74d03e_0_137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568c74d03e_0_137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568c74d03e_0_148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g3568c74d03e_0_148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568c74d03e_0_148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568c74d03e_0_155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g3568c74d03e_0_155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568c74d03e_0_155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568c74d03e_0_163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g3568c74d03e_0_163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568c74d03e_0_163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568c74d03e_0_172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0" name="Google Shape;320;g3568c74d03e_0_172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568c74d03e_0_172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568c74d03e_0_182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g3568c74d03e_0_182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568c74d03e_0_182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568c74d03e_0_191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5" name="Google Shape;335;g3568c74d03e_0_191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568c74d03e_0_191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568c74d03e_0_201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Google Shape;342;g3568c74d03e_0_201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3568c74d03e_0_201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568c74d03e_0_209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9" name="Google Shape;349;g3568c74d03e_0_209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568c74d03e_0_209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568c74d03e_0_217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6" name="Google Shape;356;g3568c74d03e_0_217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g3568c74d03e_0_217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568c74d03e_0_225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3" name="Google Shape;363;g3568c74d03e_0_225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3568c74d03e_0_225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4b1bdceee2_2_475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0" name="Google Shape;370;g34b1bdceee2_2_475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34b1bdceee2_2_475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>
            <p:ph idx="1" type="subTitle"/>
          </p:nvPr>
        </p:nvSpPr>
        <p:spPr>
          <a:xfrm>
            <a:off x="457200" y="205200"/>
            <a:ext cx="8229375" cy="39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0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3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3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" type="body"/>
          </p:nvPr>
        </p:nvSpPr>
        <p:spPr>
          <a:xfrm>
            <a:off x="457200" y="1203525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2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4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" type="body"/>
          </p:nvPr>
        </p:nvSpPr>
        <p:spPr>
          <a:xfrm>
            <a:off x="4572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2" type="body"/>
          </p:nvPr>
        </p:nvSpPr>
        <p:spPr>
          <a:xfrm>
            <a:off x="323955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3" type="body"/>
          </p:nvPr>
        </p:nvSpPr>
        <p:spPr>
          <a:xfrm>
            <a:off x="60219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4" type="body"/>
          </p:nvPr>
        </p:nvSpPr>
        <p:spPr>
          <a:xfrm>
            <a:off x="4572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5" type="body"/>
          </p:nvPr>
        </p:nvSpPr>
        <p:spPr>
          <a:xfrm>
            <a:off x="323955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6" type="body"/>
          </p:nvPr>
        </p:nvSpPr>
        <p:spPr>
          <a:xfrm>
            <a:off x="60219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3" name="Google Shape;113;p28"/>
          <p:cNvSpPr txBox="1"/>
          <p:nvPr>
            <p:ph idx="1" type="subTitle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6" name="Google Shape;116;p29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0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9" name="Google Shape;119;p30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0" name="Google Shape;120;p30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1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2"/>
          <p:cNvSpPr txBox="1"/>
          <p:nvPr>
            <p:ph idx="1" type="subTitle"/>
          </p:nvPr>
        </p:nvSpPr>
        <p:spPr>
          <a:xfrm>
            <a:off x="457200" y="205200"/>
            <a:ext cx="8229375" cy="39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3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7" name="Google Shape;127;p33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8" name="Google Shape;128;p33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9" name="Google Shape;129;p33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4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2" name="Google Shape;132;p34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3" name="Google Shape;133;p34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4" name="Google Shape;134;p34"/>
          <p:cNvSpPr txBox="1"/>
          <p:nvPr>
            <p:ph idx="3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5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7" name="Google Shape;137;p35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8" name="Google Shape;138;p35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9" name="Google Shape;139;p35"/>
          <p:cNvSpPr txBox="1"/>
          <p:nvPr>
            <p:ph idx="3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6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2" name="Google Shape;142;p36"/>
          <p:cNvSpPr txBox="1"/>
          <p:nvPr>
            <p:ph idx="1" type="body"/>
          </p:nvPr>
        </p:nvSpPr>
        <p:spPr>
          <a:xfrm>
            <a:off x="457200" y="1203525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3" name="Google Shape;143;p36"/>
          <p:cNvSpPr txBox="1"/>
          <p:nvPr>
            <p:ph idx="2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7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6" name="Google Shape;146;p37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7" name="Google Shape;147;p37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8" name="Google Shape;148;p37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9" name="Google Shape;149;p37"/>
          <p:cNvSpPr txBox="1"/>
          <p:nvPr>
            <p:ph idx="4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8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2" name="Google Shape;152;p38"/>
          <p:cNvSpPr txBox="1"/>
          <p:nvPr>
            <p:ph idx="1" type="body"/>
          </p:nvPr>
        </p:nvSpPr>
        <p:spPr>
          <a:xfrm>
            <a:off x="4572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3" name="Google Shape;153;p38"/>
          <p:cNvSpPr txBox="1"/>
          <p:nvPr>
            <p:ph idx="2" type="body"/>
          </p:nvPr>
        </p:nvSpPr>
        <p:spPr>
          <a:xfrm>
            <a:off x="323955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4" name="Google Shape;154;p38"/>
          <p:cNvSpPr txBox="1"/>
          <p:nvPr>
            <p:ph idx="3" type="body"/>
          </p:nvPr>
        </p:nvSpPr>
        <p:spPr>
          <a:xfrm>
            <a:off x="60219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5" name="Google Shape;155;p38"/>
          <p:cNvSpPr txBox="1"/>
          <p:nvPr>
            <p:ph idx="4" type="body"/>
          </p:nvPr>
        </p:nvSpPr>
        <p:spPr>
          <a:xfrm>
            <a:off x="4572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6" name="Google Shape;156;p38"/>
          <p:cNvSpPr txBox="1"/>
          <p:nvPr>
            <p:ph idx="5" type="body"/>
          </p:nvPr>
        </p:nvSpPr>
        <p:spPr>
          <a:xfrm>
            <a:off x="323955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7" name="Google Shape;157;p38"/>
          <p:cNvSpPr txBox="1"/>
          <p:nvPr>
            <p:ph idx="6" type="body"/>
          </p:nvPr>
        </p:nvSpPr>
        <p:spPr>
          <a:xfrm>
            <a:off x="60219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3" name="Google Shape;53;p13">
            <a:hlinkClick r:id="rId1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4400" y="4843575"/>
            <a:ext cx="1076175" cy="25672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6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7" name="Google Shape;107;p26">
            <a:hlinkClick r:id="rId1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4400" y="4843575"/>
            <a:ext cx="1076175" cy="25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6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  <p:sp>
        <p:nvSpPr>
          <p:cNvPr id="109" name="Google Shape;109;p26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gif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9"/>
          <p:cNvSpPr/>
          <p:nvPr/>
        </p:nvSpPr>
        <p:spPr>
          <a:xfrm>
            <a:off x="496125" y="822825"/>
            <a:ext cx="3902625" cy="265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Artificial Intelligence (Machine Learning &amp; Deep Learning)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9"/>
          <p:cNvSpPr/>
          <p:nvPr/>
        </p:nvSpPr>
        <p:spPr>
          <a:xfrm>
            <a:off x="496125" y="3828150"/>
            <a:ext cx="8151300" cy="22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NAVTCC &amp; Strings Technologies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9"/>
          <p:cNvSpPr/>
          <p:nvPr/>
        </p:nvSpPr>
        <p:spPr>
          <a:xfrm>
            <a:off x="496125" y="4224825"/>
            <a:ext cx="226350" cy="226350"/>
          </a:xfrm>
          <a:prstGeom prst="roundRect">
            <a:avLst>
              <a:gd fmla="val 25194296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6" name="Google Shape;16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850" y="4229775"/>
            <a:ext cx="216900" cy="21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9"/>
          <p:cNvSpPr/>
          <p:nvPr/>
        </p:nvSpPr>
        <p:spPr>
          <a:xfrm>
            <a:off x="793800" y="4214475"/>
            <a:ext cx="2173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by Salman Ahmad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8975" y="677000"/>
            <a:ext cx="2838450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0"/>
          <p:cNvSpPr/>
          <p:nvPr/>
        </p:nvSpPr>
        <p:spPr>
          <a:xfrm>
            <a:off x="4436550" y="3292425"/>
            <a:ext cx="270600" cy="270600"/>
          </a:xfrm>
          <a:prstGeom prst="roundRect">
            <a:avLst>
              <a:gd fmla="val 18669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0"/>
          <p:cNvSpPr/>
          <p:nvPr/>
        </p:nvSpPr>
        <p:spPr>
          <a:xfrm>
            <a:off x="4089150" y="1276650"/>
            <a:ext cx="361125" cy="13725"/>
          </a:xfrm>
          <a:prstGeom prst="roundRect">
            <a:avLst>
              <a:gd fmla="val 354232" name="adj"/>
            </a:avLst>
          </a:prstGeom>
          <a:solidFill>
            <a:srgbClr val="BCDBD4"/>
          </a:solidFill>
          <a:ln>
            <a:noFill/>
          </a:ln>
        </p:spPr>
        <p:txBody>
          <a:bodyPr anchorCtr="0" anchor="ctr" bIns="4725" lIns="56250" spcFirstLastPara="1" rIns="56250" wrap="square" tIns="4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0"/>
          <p:cNvSpPr/>
          <p:nvPr/>
        </p:nvSpPr>
        <p:spPr>
          <a:xfrm>
            <a:off x="4436550" y="1148175"/>
            <a:ext cx="270675" cy="270675"/>
          </a:xfrm>
          <a:prstGeom prst="roundRect">
            <a:avLst>
              <a:gd fmla="val 18669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0"/>
          <p:cNvSpPr/>
          <p:nvPr/>
        </p:nvSpPr>
        <p:spPr>
          <a:xfrm>
            <a:off x="4564800" y="1012725"/>
            <a:ext cx="13800" cy="3735000"/>
          </a:xfrm>
          <a:prstGeom prst="roundRect">
            <a:avLst>
              <a:gd fmla="val 354232" name="adj"/>
            </a:avLst>
          </a:prstGeom>
          <a:solidFill>
            <a:srgbClr val="BCDBD4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0"/>
          <p:cNvSpPr/>
          <p:nvPr/>
        </p:nvSpPr>
        <p:spPr>
          <a:xfrm>
            <a:off x="4481550" y="1170900"/>
            <a:ext cx="180225" cy="22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1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0"/>
          <p:cNvSpPr/>
          <p:nvPr/>
        </p:nvSpPr>
        <p:spPr>
          <a:xfrm>
            <a:off x="845550" y="1180800"/>
            <a:ext cx="3123675" cy="187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DataFrame </a:t>
            </a:r>
            <a:r>
              <a:rPr b="1"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Merging</a:t>
            </a:r>
            <a:r>
              <a:rPr b="1"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and Joining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0"/>
          <p:cNvSpPr/>
          <p:nvPr/>
        </p:nvSpPr>
        <p:spPr>
          <a:xfrm>
            <a:off x="4693275" y="1879200"/>
            <a:ext cx="361125" cy="13725"/>
          </a:xfrm>
          <a:prstGeom prst="roundRect">
            <a:avLst>
              <a:gd fmla="val 354232" name="adj"/>
            </a:avLst>
          </a:prstGeom>
          <a:solidFill>
            <a:srgbClr val="BCDBD4"/>
          </a:solidFill>
          <a:ln>
            <a:noFill/>
          </a:ln>
        </p:spPr>
        <p:txBody>
          <a:bodyPr anchorCtr="0" anchor="ctr" bIns="4725" lIns="56250" spcFirstLastPara="1" rIns="56250" wrap="square" tIns="4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0"/>
          <p:cNvSpPr/>
          <p:nvPr/>
        </p:nvSpPr>
        <p:spPr>
          <a:xfrm>
            <a:off x="4436550" y="1750725"/>
            <a:ext cx="270675" cy="270675"/>
          </a:xfrm>
          <a:prstGeom prst="roundRect">
            <a:avLst>
              <a:gd fmla="val 18669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0"/>
          <p:cNvSpPr/>
          <p:nvPr/>
        </p:nvSpPr>
        <p:spPr>
          <a:xfrm>
            <a:off x="4481550" y="1773225"/>
            <a:ext cx="180225" cy="22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2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0"/>
          <p:cNvSpPr/>
          <p:nvPr/>
        </p:nvSpPr>
        <p:spPr>
          <a:xfrm>
            <a:off x="5126850" y="1783350"/>
            <a:ext cx="2489850" cy="187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Group by</a:t>
            </a:r>
            <a:endParaRPr b="1" sz="12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184" name="Google Shape;184;p40"/>
          <p:cNvSpPr/>
          <p:nvPr/>
        </p:nvSpPr>
        <p:spPr>
          <a:xfrm>
            <a:off x="4089150" y="2421225"/>
            <a:ext cx="361125" cy="13725"/>
          </a:xfrm>
          <a:prstGeom prst="roundRect">
            <a:avLst>
              <a:gd fmla="val 354232" name="adj"/>
            </a:avLst>
          </a:prstGeom>
          <a:solidFill>
            <a:srgbClr val="BCDBD4"/>
          </a:solidFill>
          <a:ln>
            <a:noFill/>
          </a:ln>
        </p:spPr>
        <p:txBody>
          <a:bodyPr anchorCtr="0" anchor="ctr" bIns="4725" lIns="56250" spcFirstLastPara="1" rIns="56250" wrap="square" tIns="4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0"/>
          <p:cNvSpPr/>
          <p:nvPr/>
        </p:nvSpPr>
        <p:spPr>
          <a:xfrm>
            <a:off x="4436550" y="2292975"/>
            <a:ext cx="270675" cy="270675"/>
          </a:xfrm>
          <a:prstGeom prst="roundRect">
            <a:avLst>
              <a:gd fmla="val 18669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0"/>
          <p:cNvSpPr/>
          <p:nvPr/>
        </p:nvSpPr>
        <p:spPr>
          <a:xfrm>
            <a:off x="4481550" y="2315475"/>
            <a:ext cx="180225" cy="22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3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0"/>
          <p:cNvSpPr/>
          <p:nvPr/>
        </p:nvSpPr>
        <p:spPr>
          <a:xfrm>
            <a:off x="425700" y="2325600"/>
            <a:ext cx="3543750" cy="187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Discretization</a:t>
            </a:r>
            <a:r>
              <a:rPr b="1"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and Binning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0"/>
          <p:cNvSpPr/>
          <p:nvPr/>
        </p:nvSpPr>
        <p:spPr>
          <a:xfrm>
            <a:off x="4693275" y="2963475"/>
            <a:ext cx="361125" cy="13725"/>
          </a:xfrm>
          <a:prstGeom prst="roundRect">
            <a:avLst>
              <a:gd fmla="val 354232" name="adj"/>
            </a:avLst>
          </a:prstGeom>
          <a:solidFill>
            <a:srgbClr val="BCDBD4"/>
          </a:solidFill>
          <a:ln>
            <a:noFill/>
          </a:ln>
        </p:spPr>
        <p:txBody>
          <a:bodyPr anchorCtr="0" anchor="ctr" bIns="4725" lIns="56250" spcFirstLastPara="1" rIns="56250" wrap="square" tIns="4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0"/>
          <p:cNvSpPr/>
          <p:nvPr/>
        </p:nvSpPr>
        <p:spPr>
          <a:xfrm>
            <a:off x="4436550" y="2835225"/>
            <a:ext cx="270675" cy="270675"/>
          </a:xfrm>
          <a:prstGeom prst="roundRect">
            <a:avLst>
              <a:gd fmla="val 18669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0"/>
          <p:cNvSpPr/>
          <p:nvPr/>
        </p:nvSpPr>
        <p:spPr>
          <a:xfrm>
            <a:off x="4481550" y="2857725"/>
            <a:ext cx="1803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4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0"/>
          <p:cNvSpPr/>
          <p:nvPr/>
        </p:nvSpPr>
        <p:spPr>
          <a:xfrm>
            <a:off x="5174550" y="2867850"/>
            <a:ext cx="2376000" cy="187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Output Saving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0"/>
          <p:cNvSpPr/>
          <p:nvPr/>
        </p:nvSpPr>
        <p:spPr>
          <a:xfrm>
            <a:off x="2035575" y="218250"/>
            <a:ext cx="50856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Outline Week </a:t>
            </a:r>
            <a:r>
              <a:rPr b="1" lang="en" sz="2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4</a:t>
            </a:r>
            <a:r>
              <a:rPr b="1" i="0" lang="en" sz="2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Day </a:t>
            </a:r>
            <a:r>
              <a:rPr b="1" lang="en" sz="2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1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0"/>
          <p:cNvSpPr/>
          <p:nvPr/>
        </p:nvSpPr>
        <p:spPr>
          <a:xfrm>
            <a:off x="4089150" y="3411825"/>
            <a:ext cx="361200" cy="13800"/>
          </a:xfrm>
          <a:prstGeom prst="roundRect">
            <a:avLst>
              <a:gd fmla="val 354232" name="adj"/>
            </a:avLst>
          </a:prstGeom>
          <a:solidFill>
            <a:srgbClr val="BCDBD4"/>
          </a:solidFill>
          <a:ln>
            <a:noFill/>
          </a:ln>
        </p:spPr>
        <p:txBody>
          <a:bodyPr anchorCtr="0" anchor="ctr" bIns="4725" lIns="56250" spcFirstLastPara="1" rIns="56250" wrap="square" tIns="4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0"/>
          <p:cNvSpPr/>
          <p:nvPr/>
        </p:nvSpPr>
        <p:spPr>
          <a:xfrm>
            <a:off x="4481550" y="3306075"/>
            <a:ext cx="1803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5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0"/>
          <p:cNvSpPr/>
          <p:nvPr/>
        </p:nvSpPr>
        <p:spPr>
          <a:xfrm>
            <a:off x="425700" y="3316200"/>
            <a:ext cx="35439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Pandas for Plotting</a:t>
            </a:r>
            <a:endParaRPr b="1" sz="12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1"/>
          <p:cNvSpPr/>
          <p:nvPr/>
        </p:nvSpPr>
        <p:spPr>
          <a:xfrm>
            <a:off x="1529850" y="1846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Combining </a:t>
            </a:r>
            <a:r>
              <a:rPr b="1" lang="en" sz="23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DataFrame</a:t>
            </a:r>
            <a:endParaRPr b="0" sz="23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1"/>
          <p:cNvSpPr/>
          <p:nvPr/>
        </p:nvSpPr>
        <p:spPr>
          <a:xfrm>
            <a:off x="341925" y="902300"/>
            <a:ext cx="4871100" cy="3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Combining = stacking or aligning DataFrames either vertically (rows) or horizontally (columns).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Pandas provides various methods for combining and comparing Series or DataFrame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Functions: c</a:t>
            </a: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oncat, DataFrame.join, DataFrame.combine_first, merge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pic>
        <p:nvPicPr>
          <p:cNvPr descr="two yellow blocks with crowns on their heads and the number three on their heads are holding hands . (Provided by Tenor)" id="203" name="Google Shape;20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4925" y="1443500"/>
            <a:ext cx="3999074" cy="2256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2"/>
          <p:cNvSpPr/>
          <p:nvPr/>
        </p:nvSpPr>
        <p:spPr>
          <a:xfrm>
            <a:off x="1529850" y="1846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Merging DataFrame</a:t>
            </a:r>
            <a:endParaRPr b="0" sz="23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2"/>
          <p:cNvSpPr/>
          <p:nvPr/>
        </p:nvSpPr>
        <p:spPr>
          <a:xfrm>
            <a:off x="341925" y="854575"/>
            <a:ext cx="8388900" cy="3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Combine data from multiple tables (like SQL joins).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Essential for relational data analysis and feature engineering in ML.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more versatile than join()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Default: inner join (returns only the rows with matching values in both DataFrames based on the specified key columns)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Allows you to explicitly specify which columns to use as keys for merging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3"/>
          <p:cNvSpPr/>
          <p:nvPr/>
        </p:nvSpPr>
        <p:spPr>
          <a:xfrm>
            <a:off x="1529850" y="1846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Merging DataFrame</a:t>
            </a:r>
            <a:endParaRPr b="0" sz="23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7" name="Google Shape;217;p43"/>
          <p:cNvGraphicFramePr/>
          <p:nvPr/>
        </p:nvGraphicFramePr>
        <p:xfrm>
          <a:off x="677025" y="108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{F7C81404-E4AD-4A6F-B45E-99A1C881BBD9}</a:tableStyleId>
              </a:tblPr>
              <a:tblGrid>
                <a:gridCol w="1585075"/>
                <a:gridCol w="5184675"/>
                <a:gridCol w="1337450"/>
              </a:tblGrid>
              <a:tr h="672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Merge Type</a:t>
                      </a:r>
                      <a:endParaRPr b="1"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Description</a:t>
                      </a:r>
                      <a:endParaRPr b="1"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Keyword</a:t>
                      </a:r>
                      <a:endParaRPr b="1"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62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Inner</a:t>
                      </a:r>
                      <a:endParaRPr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Keep only matching rows (default)</a:t>
                      </a:r>
                      <a:endParaRPr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how='inner'</a:t>
                      </a:r>
                      <a:endParaRPr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62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Left</a:t>
                      </a:r>
                      <a:endParaRPr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All rows from df1, matching from df2</a:t>
                      </a:r>
                      <a:endParaRPr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how='left'</a:t>
                      </a:r>
                      <a:endParaRPr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62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Right</a:t>
                      </a:r>
                      <a:endParaRPr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All rows from df2, matching from df1</a:t>
                      </a:r>
                      <a:endParaRPr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how='right'</a:t>
                      </a:r>
                      <a:endParaRPr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7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Outer</a:t>
                      </a:r>
                      <a:endParaRPr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All rows from both, fill missing with NaN</a:t>
                      </a:r>
                      <a:endParaRPr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how='outer'</a:t>
                      </a:r>
                      <a:endParaRPr sz="13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"/>
          <p:cNvSpPr/>
          <p:nvPr/>
        </p:nvSpPr>
        <p:spPr>
          <a:xfrm>
            <a:off x="1529850" y="1846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Merging DataFrame</a:t>
            </a:r>
            <a:endParaRPr b="0" sz="23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4"/>
          <p:cNvSpPr/>
          <p:nvPr/>
        </p:nvSpPr>
        <p:spPr>
          <a:xfrm>
            <a:off x="570525" y="1043350"/>
            <a:ext cx="3509100" cy="3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df1 = pd.DataFrame({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	'ID': [1, 2, 3],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	'Name': ['Alice', 'Bob', 'Charlie']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})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df2 = pd.DataFrame({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	'ID': [2, 3, 4],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	'Dept': ['IT', 'HR', 'Finance']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})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p44"/>
          <p:cNvSpPr/>
          <p:nvPr/>
        </p:nvSpPr>
        <p:spPr>
          <a:xfrm>
            <a:off x="4990125" y="1043350"/>
            <a:ext cx="3509100" cy="3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# Inner Join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pd.merge(df1, df2, on='ID', how=’inner’)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# Left Join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pd.merge(df1, df2, on='ID', how='left')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# Outer Join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pd.merge(df1, df2, on='ID', how='outer')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5"/>
          <p:cNvSpPr/>
          <p:nvPr/>
        </p:nvSpPr>
        <p:spPr>
          <a:xfrm>
            <a:off x="1529850" y="1846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Merging </a:t>
            </a:r>
            <a:r>
              <a:rPr b="1" lang="en" sz="23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DataFrame</a:t>
            </a:r>
            <a:endParaRPr b="0" sz="23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5"/>
          <p:cNvSpPr/>
          <p:nvPr/>
        </p:nvSpPr>
        <p:spPr>
          <a:xfrm>
            <a:off x="2932725" y="1424350"/>
            <a:ext cx="5836200" cy="17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left_on, right_on: </a:t>
            </a: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for different key column names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suffixes: </a:t>
            </a: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to distinguish overlapping column names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indicator=True: </a:t>
            </a: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adds a column showing merge source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suffixes=(“_x”, “_y”):</a:t>
            </a: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suffix values for overlapping columns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33" name="Google Shape;233;p45"/>
          <p:cNvSpPr/>
          <p:nvPr/>
        </p:nvSpPr>
        <p:spPr>
          <a:xfrm>
            <a:off x="98175" y="1982650"/>
            <a:ext cx="24063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More Options</a:t>
            </a:r>
            <a:endParaRPr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6"/>
          <p:cNvSpPr/>
          <p:nvPr/>
        </p:nvSpPr>
        <p:spPr>
          <a:xfrm>
            <a:off x="1529850" y="1846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</a:t>
            </a:r>
            <a:r>
              <a:rPr b="1" lang="en" sz="23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ataFrame Join</a:t>
            </a:r>
            <a:endParaRPr b="0" sz="23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6"/>
          <p:cNvSpPr/>
          <p:nvPr/>
        </p:nvSpPr>
        <p:spPr>
          <a:xfrm>
            <a:off x="1437125" y="1283300"/>
            <a:ext cx="6409200" cy="23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join() combines DataFrames based on their indices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defaults to a left join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Best used when: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	You want to combine columns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	At least one DataFrame uses the index as a key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7"/>
          <p:cNvSpPr/>
          <p:nvPr/>
        </p:nvSpPr>
        <p:spPr>
          <a:xfrm>
            <a:off x="1529850" y="1846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DataFrame Join</a:t>
            </a:r>
            <a:endParaRPr b="0" sz="23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7"/>
          <p:cNvSpPr/>
          <p:nvPr/>
        </p:nvSpPr>
        <p:spPr>
          <a:xfrm>
            <a:off x="2558750" y="707175"/>
            <a:ext cx="3902700" cy="42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import pandas as pd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df1 = pd.DataFrame({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	'Name': ['Alice', 'Bob', 'Charlie'],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	'Dept': ['HR', 'IT', 'Finance']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}, index=[1, 2, 3])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df2 = pd.DataFrame({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	'Salary': [50000, 60000, 55000]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}, index=[1, 2, 3])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# Join based on index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result = df1.join(df2)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3" name="Google Shape;253;p48"/>
          <p:cNvGraphicFramePr/>
          <p:nvPr/>
        </p:nvGraphicFramePr>
        <p:xfrm>
          <a:off x="0" y="22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{F7C81404-E4AD-4A6F-B45E-99A1C881BBD9}</a:tableStyleId>
              </a:tblPr>
              <a:tblGrid>
                <a:gridCol w="3022600"/>
                <a:gridCol w="3022600"/>
                <a:gridCol w="3022600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Feature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merge()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join()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Default Join Key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Columns (on=...)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Index (or optional on= for column)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Join Flexibility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High — supports multiple keys, left/right columns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Simpler — index-based joins only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SQL-style Joins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Yes (inner, left, right, outer, multi-key joins)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Yes (inner, left, right, outer)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Handles Overlapping Columns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With suffixes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With lsuffix / rsuffix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Join Type Support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inner (default), left, right, outer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left (default), inner, outer, right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Ease of Use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Slightly more verbose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Cleaner for index-aligned data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Multiple Join Keys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Supported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Not supported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Axis-based Joining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Only along rows (axis=0)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Only joins columns side-by-side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Performance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Similar, but merge() is optimized for complex joins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Faster for simple index-based combinations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9"/>
          <p:cNvSpPr/>
          <p:nvPr/>
        </p:nvSpPr>
        <p:spPr>
          <a:xfrm>
            <a:off x="1529850" y="1846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Use Cases</a:t>
            </a:r>
            <a:endParaRPr b="0" sz="23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49"/>
          <p:cNvSpPr/>
          <p:nvPr/>
        </p:nvSpPr>
        <p:spPr>
          <a:xfrm>
            <a:off x="224200" y="744725"/>
            <a:ext cx="8717700" cy="4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Use merge() when:</a:t>
            </a:r>
            <a:endParaRPr b="1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You're joining on one or more columns.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Your data comes from relational tables (like SQL).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You need complex joins (multi-key, different column names).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Joining on non-index fields.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Use join() when:</a:t>
            </a:r>
            <a:endParaRPr b="1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You're joining on the index (default behavior).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You want a quick, clean side-by-side join.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One DataFrame already uses the key column as its index.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You're merging DataFrames with aligned row indices (e.g., time-series data).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0"/>
          <p:cNvSpPr/>
          <p:nvPr/>
        </p:nvSpPr>
        <p:spPr>
          <a:xfrm>
            <a:off x="1529850" y="1846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Concatenation</a:t>
            </a:r>
            <a:r>
              <a:rPr b="1" lang="en" sz="23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pd.concat</a:t>
            </a:r>
            <a:endParaRPr b="0" sz="23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50"/>
          <p:cNvSpPr/>
          <p:nvPr/>
        </p:nvSpPr>
        <p:spPr>
          <a:xfrm>
            <a:off x="799125" y="814750"/>
            <a:ext cx="7241400" cy="37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Used to stack DataFrames along rows or columns.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pd.concat([df1, df2], axis=0)  # Row-wise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pd.concat([df1, df2], axis=1)  # Column-wise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Parameters: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axis=0: vertical (default, adds rows)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axis=1: horizontal (adds columns)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ignore_index=True: reset index in result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keys=['Q1', 'Q2']: create hierarchical index (multi-level)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Deprecated function: df.append(df1)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1"/>
          <p:cNvSpPr/>
          <p:nvPr/>
        </p:nvSpPr>
        <p:spPr>
          <a:xfrm>
            <a:off x="1529850" y="1846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df</a:t>
            </a:r>
            <a:r>
              <a:rPr b="1" lang="en" sz="23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.combine_first</a:t>
            </a:r>
            <a:endParaRPr b="0" sz="23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51"/>
          <p:cNvSpPr/>
          <p:nvPr/>
        </p:nvSpPr>
        <p:spPr>
          <a:xfrm>
            <a:off x="799125" y="814750"/>
            <a:ext cx="7241400" cy="37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Combine with Overlapping Columns (combine_first)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Fills missing values in one DataFrame with values from another: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Montserrat"/>
              <a:buChar char="-"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df1.combine_first(df2)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Useful for data imputation or fallback data sources.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The resulting dataframe contains the ‘first’ dataframe values and overrides the second one values where both first.loc[index, col] and second.loc[index, col] are not missing values,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2"/>
          <p:cNvSpPr/>
          <p:nvPr/>
        </p:nvSpPr>
        <p:spPr>
          <a:xfrm>
            <a:off x="1529850" y="1846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Group, Aggregate, Summarize</a:t>
            </a:r>
            <a:endParaRPr b="0" sz="23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52"/>
          <p:cNvSpPr/>
          <p:nvPr/>
        </p:nvSpPr>
        <p:spPr>
          <a:xfrm>
            <a:off x="799125" y="814750"/>
            <a:ext cx="7241400" cy="37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What is groupby()?</a:t>
            </a:r>
            <a:endParaRPr b="1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Splits the DataFrame into groups based on column values, then allows you to apply functions like sum(), mean(), count(), etc.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Works like SQL’s GROUP BY.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Montserrat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sum() – Total per group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Montserrat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mean() – Average per group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Montserrat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count() – Number of items per group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Montserrat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min() / max() – Min/Max per group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Montserrat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agg() – Apply multiple aggregations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3"/>
          <p:cNvSpPr/>
          <p:nvPr/>
        </p:nvSpPr>
        <p:spPr>
          <a:xfrm>
            <a:off x="1529850" y="1846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Group, Aggregate, Summarize</a:t>
            </a:r>
            <a:endParaRPr b="0" sz="23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53"/>
          <p:cNvSpPr/>
          <p:nvPr/>
        </p:nvSpPr>
        <p:spPr>
          <a:xfrm>
            <a:off x="799125" y="814750"/>
            <a:ext cx="5320200" cy="37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	Groupby Example:</a:t>
            </a:r>
            <a:endParaRPr b="1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import pandas as pd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data = {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	'Department': ['HR', 'IT', 'HR', 'Finance', 'IT'],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	'Salary': [50000, 60000, 52000, 70000, 61000]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}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df = pd.DataFrame(data)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df.groupby('Department')['Salary'].mean()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9" name="Google Shape;289;p53"/>
          <p:cNvSpPr txBox="1"/>
          <p:nvPr/>
        </p:nvSpPr>
        <p:spPr>
          <a:xfrm>
            <a:off x="5867400" y="76200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Output: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Department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Finance	70000.0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HR     	51000.0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IT   	  	60500.0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4"/>
          <p:cNvSpPr/>
          <p:nvPr/>
        </p:nvSpPr>
        <p:spPr>
          <a:xfrm>
            <a:off x="1529850" y="1846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Group, Aggregate, Summarize</a:t>
            </a:r>
            <a:endParaRPr b="0" sz="23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54"/>
          <p:cNvSpPr/>
          <p:nvPr/>
        </p:nvSpPr>
        <p:spPr>
          <a:xfrm>
            <a:off x="637450" y="718050"/>
            <a:ext cx="7952700" cy="4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Common Aggregation Functions: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sum() – Total per group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mean() – Average per group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count() – Number of items per group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min() / max() – Min/Max per group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agg() – Apply multiple aggregations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Multiple aggregate functions: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45720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df.groupby('Department')['Salary'].agg(['mean', 'max', 'count'])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Groupby multiple columns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df.groupby(['Department', 'Gender'])['Salary'].mean()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5"/>
          <p:cNvSpPr/>
          <p:nvPr/>
        </p:nvSpPr>
        <p:spPr>
          <a:xfrm>
            <a:off x="1529850" y="1846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Group, Aggregate, Summarize</a:t>
            </a:r>
            <a:endParaRPr b="0" sz="23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55"/>
          <p:cNvSpPr/>
          <p:nvPr/>
        </p:nvSpPr>
        <p:spPr>
          <a:xfrm>
            <a:off x="713650" y="1141525"/>
            <a:ext cx="7952700" cy="3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Use Cases: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Analyze average salary by department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Count users per region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Group sales data by month and product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Preprocessing for ML feature engineering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6"/>
          <p:cNvSpPr/>
          <p:nvPr/>
        </p:nvSpPr>
        <p:spPr>
          <a:xfrm>
            <a:off x="1529850" y="1846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Discretization and Binning</a:t>
            </a:r>
            <a:endParaRPr b="0" sz="23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56"/>
          <p:cNvSpPr/>
          <p:nvPr/>
        </p:nvSpPr>
        <p:spPr>
          <a:xfrm>
            <a:off x="713650" y="736600"/>
            <a:ext cx="7952700" cy="4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What is Discretization?</a:t>
            </a:r>
            <a:endParaRPr b="1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The process of converting continuous data into discrete bins or intervals.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Used to simplify data, reduce noise, or convert numerical features to categorical.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45720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Why Use Binning?</a:t>
            </a:r>
            <a:endParaRPr b="1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8001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Easier visualization (e.g., histograms)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8001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Better interpretability in ML models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8001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Useful for creating age groups, salary bands, or risk levels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8001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Helps in detecting non-linear relationships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2286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7"/>
          <p:cNvSpPr/>
          <p:nvPr/>
        </p:nvSpPr>
        <p:spPr>
          <a:xfrm>
            <a:off x="1529850" y="1846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Discretization and Binning</a:t>
            </a:r>
            <a:endParaRPr b="0" sz="23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57"/>
          <p:cNvSpPr/>
          <p:nvPr/>
        </p:nvSpPr>
        <p:spPr>
          <a:xfrm>
            <a:off x="713650" y="736600"/>
            <a:ext cx="7952700" cy="4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pd.cut() – Fixed-width Binning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Divides data into equal-sized intervals (based on values, not number of items).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Segments and sorts data values into bins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Useful for going from a continuous variable to a categorical variable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import pandas as pd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ages = [15, 18, 21, 25, 30, 45, 55, 60]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bins = [0, 18, 35, 60]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labels = ['Teen', 'Adult', 'Senior']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pd.cut(ages, bins=bins, labels=labels)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8"/>
          <p:cNvSpPr/>
          <p:nvPr/>
        </p:nvSpPr>
        <p:spPr>
          <a:xfrm>
            <a:off x="1529850" y="1846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Discretization and Binning</a:t>
            </a:r>
            <a:endParaRPr b="0" sz="23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58"/>
          <p:cNvSpPr/>
          <p:nvPr/>
        </p:nvSpPr>
        <p:spPr>
          <a:xfrm>
            <a:off x="713650" y="736600"/>
            <a:ext cx="7952700" cy="4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pd.qcut() – Quantile-based Binning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Divides data into bins with equal number of observations.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Good for balancing class sizes in ML.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salaries = [30, 40, 45, 50, 55, 60, 65, 70]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pd.qcut(salaries, q=4)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Creates 4 bins with 25% of values each.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9"/>
          <p:cNvSpPr/>
          <p:nvPr/>
        </p:nvSpPr>
        <p:spPr>
          <a:xfrm>
            <a:off x="1529850" y="1846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Discretization and Binning</a:t>
            </a:r>
            <a:endParaRPr b="0" sz="23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59"/>
          <p:cNvSpPr/>
          <p:nvPr/>
        </p:nvSpPr>
        <p:spPr>
          <a:xfrm>
            <a:off x="3914050" y="1803400"/>
            <a:ext cx="4531500" cy="14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Use cut() for known thresholds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Use qcut() for balanced class sizes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Check value_counts() after binning to validate distribution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pic>
        <p:nvPicPr>
          <p:cNvPr descr="a white background with the word tips written in brown . (Provided by Tenor)" id="332" name="Google Shape;33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2400" y="2009775"/>
            <a:ext cx="2324100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0"/>
          <p:cNvSpPr/>
          <p:nvPr/>
        </p:nvSpPr>
        <p:spPr>
          <a:xfrm>
            <a:off x="1529850" y="1846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Data saving in Pandas</a:t>
            </a:r>
            <a:endParaRPr b="0" sz="23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0"/>
          <p:cNvSpPr/>
          <p:nvPr/>
        </p:nvSpPr>
        <p:spPr>
          <a:xfrm>
            <a:off x="469900" y="876300"/>
            <a:ext cx="7975500" cy="4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AutoNum type="arabicPeriod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Save as CSV (most common)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df.to_csv('output.csv', index=False)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index=False avoids saving the row numbers.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Use sep=';' to change delimiter.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encoding='utf-8' or 'utf-8-sig' for Excel compatibility.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AutoNum type="arabicPeriod" startAt="2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Save as Excel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457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df.to_excel('output.xlsx', index=False)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Requires openpyxl or xlsxwriter installed.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You can save multiple sheets using ExcelWriter.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61"/>
          <p:cNvSpPr/>
          <p:nvPr/>
        </p:nvSpPr>
        <p:spPr>
          <a:xfrm>
            <a:off x="1529850" y="1846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Data saving in Pandas</a:t>
            </a:r>
            <a:endParaRPr b="0" sz="23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61"/>
          <p:cNvSpPr/>
          <p:nvPr/>
        </p:nvSpPr>
        <p:spPr>
          <a:xfrm>
            <a:off x="469900" y="876300"/>
            <a:ext cx="7975500" cy="4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AutoNum type="arabicPeriod" startAt="3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Save as JSON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df.to_json('output.json', orient='records', lines=True)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Common format for APIs and web apps.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Use orient='split', 'records', 'index', etc., depending on structure.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AutoNum type="arabicPeriod" startAt="3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Save as Pickle (Python binary)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df.to_pickle('output.pkl')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Fastest for internal use (Python-only).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Not human-readable but very efficient.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2"/>
          <p:cNvSpPr/>
          <p:nvPr/>
        </p:nvSpPr>
        <p:spPr>
          <a:xfrm>
            <a:off x="1529850" y="1846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Pandas for Plotting</a:t>
            </a:r>
            <a:endParaRPr b="0" sz="23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62"/>
          <p:cNvSpPr/>
          <p:nvPr/>
        </p:nvSpPr>
        <p:spPr>
          <a:xfrm>
            <a:off x="469900" y="876300"/>
            <a:ext cx="7975500" cy="4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Why Use Pandas for Plotting?</a:t>
            </a:r>
            <a:endParaRPr b="1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Built-in support via .plot()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Uses Matplotlib under the hood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Fast, convenient, great for EDA (Exploratory Data Analysis)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Works directly on Series and DataFrames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Examples: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df.plot(kind='line') 	# Default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df['col'].plot(kind='bar')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df.plot(x='col1', y='col2', kind='scatter')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3"/>
          <p:cNvSpPr/>
          <p:nvPr/>
        </p:nvSpPr>
        <p:spPr>
          <a:xfrm>
            <a:off x="1529850" y="1846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Pandas for Plotting</a:t>
            </a:r>
            <a:endParaRPr b="0" sz="23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0" name="Google Shape;360;p63"/>
          <p:cNvGraphicFramePr/>
          <p:nvPr/>
        </p:nvGraphicFramePr>
        <p:xfrm>
          <a:off x="30480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{F7C81404-E4AD-4A6F-B45E-99A1C881BBD9}</a:tableStyleId>
              </a:tblPr>
              <a:tblGrid>
                <a:gridCol w="2837400"/>
                <a:gridCol w="2837400"/>
                <a:gridCol w="2837400"/>
              </a:tblGrid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Plot Type</a:t>
                      </a:r>
                      <a:endParaRPr b="1"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kind= Value</a:t>
                      </a:r>
                      <a:endParaRPr b="1"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Use Case</a:t>
                      </a:r>
                      <a:endParaRPr b="1"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Line plot</a:t>
                      </a:r>
                      <a:endParaRPr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'line'</a:t>
                      </a:r>
                      <a:endParaRPr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Trends over time (default)</a:t>
                      </a:r>
                      <a:endParaRPr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Bar chart</a:t>
                      </a:r>
                      <a:endParaRPr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'bar'</a:t>
                      </a:r>
                      <a:endParaRPr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Category comparisons</a:t>
                      </a:r>
                      <a:endParaRPr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Histogram</a:t>
                      </a:r>
                      <a:endParaRPr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'hist'</a:t>
                      </a:r>
                      <a:endParaRPr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Distribution of values</a:t>
                      </a:r>
                      <a:endParaRPr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Box plot</a:t>
                      </a:r>
                      <a:endParaRPr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'box'</a:t>
                      </a:r>
                      <a:endParaRPr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Spread &amp; outliers</a:t>
                      </a:r>
                      <a:endParaRPr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Area plot</a:t>
                      </a:r>
                      <a:endParaRPr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'area'</a:t>
                      </a:r>
                      <a:endParaRPr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Stacked area visualizations</a:t>
                      </a:r>
                      <a:endParaRPr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Pie chart</a:t>
                      </a:r>
                      <a:endParaRPr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'pie'</a:t>
                      </a:r>
                      <a:endParaRPr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Part-to-whole relationships</a:t>
                      </a:r>
                      <a:endParaRPr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Scatter</a:t>
                      </a:r>
                      <a:endParaRPr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'scatter'</a:t>
                      </a:r>
                      <a:endParaRPr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Correlation between two variables</a:t>
                      </a:r>
                      <a:endParaRPr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KDE Plot</a:t>
                      </a:r>
                      <a:endParaRPr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'kde'</a:t>
                      </a:r>
                      <a:endParaRPr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Smoothed distribution curve</a:t>
                      </a:r>
                      <a:endParaRPr sz="12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4"/>
          <p:cNvSpPr/>
          <p:nvPr/>
        </p:nvSpPr>
        <p:spPr>
          <a:xfrm>
            <a:off x="1529850" y="1846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Pandas for Plotting</a:t>
            </a:r>
            <a:endParaRPr b="0" sz="23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64"/>
          <p:cNvSpPr/>
          <p:nvPr/>
        </p:nvSpPr>
        <p:spPr>
          <a:xfrm>
            <a:off x="469900" y="876300"/>
            <a:ext cx="7975500" cy="4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import pandas as pd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import matplotlib.pyplot as plt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df = pd.DataFrame({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	'Month': ['Jan', 'Feb', 'Mar'],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	'Sales': [250, 300, 400]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})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df.plot(x='Month', y='Sales', kind='bar', title='Monthly Sales')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plt.ylabel('Sales Amount')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plt.show()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65"/>
          <p:cNvPicPr preferRelativeResize="0"/>
          <p:nvPr/>
        </p:nvPicPr>
        <p:blipFill rotWithShape="1">
          <a:blip r:embed="rId3">
            <a:alphaModFix/>
          </a:blip>
          <a:srcRect b="0" l="16656" r="16663" t="0"/>
          <a:stretch/>
        </p:blipFill>
        <p:spPr>
          <a:xfrm>
            <a:off x="0" y="0"/>
            <a:ext cx="3428550" cy="51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65"/>
          <p:cNvSpPr/>
          <p:nvPr/>
        </p:nvSpPr>
        <p:spPr>
          <a:xfrm>
            <a:off x="3925125" y="1795500"/>
            <a:ext cx="47223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Questions?</a:t>
            </a:r>
            <a:endParaRPr b="0" sz="2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65"/>
          <p:cNvSpPr/>
          <p:nvPr/>
        </p:nvSpPr>
        <p:spPr>
          <a:xfrm>
            <a:off x="3925125" y="2322675"/>
            <a:ext cx="47223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"He who asks a question is a fool for a minute; he who does not remains a fool forever." – Confucius</a:t>
            </a:r>
            <a:endParaRPr b="0" sz="15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