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gif" ContentType="image/gif"/>
  <Override PartName="/ppt/media/image5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131C028-339D-45E6-9063-76E92A19445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17A5C7-A027-4DA3-802B-D0AD97E9A6E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81156B-CE30-4A62-9159-44F322749CC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DCAD91-582D-4D36-887B-1C4169AE54C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808DE4-4191-4D50-AC00-06DEAE80B1B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80D48C-0CC7-42B3-906F-E151862BD5D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8DB498-AD68-46AB-A2B3-2883C3A79A0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9DE8FE-B6F6-4E73-93F1-EA0574C316F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B99CF5-480A-4F87-880B-AA51F1D6A7E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20A7DF-DC84-4AAE-98DD-AA270F112D5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D0CF63-3AF9-4AD7-AA10-F0B9A1E1DE7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DE8B66-6A21-4896-89D6-AB407FF0B62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3BED9C-90CE-4312-AA29-E8E590AA09A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F8B47A-54A6-4B66-9FE9-0943619DEA7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C5DABB-B94A-4721-94B7-4F13ACC79A9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527350-F31E-49EA-80CB-C21C0C680E4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DD1B64-E1C4-4046-89D6-4C9D79B4A86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7E4D07-BC60-4341-BAB9-C0A1FA983BB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1EDD47-0A21-415D-8833-B35D71BDD7F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81D269-0EE2-4B7A-B886-C05B1E6330A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0A4A82-3E62-4D08-8D40-E6335EF77CC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DE610A-7E04-4DFF-96C1-96956CF0D5D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952B2A-0104-4DC2-AF33-2DA6EE04C25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EE9D60-ACE9-40AE-934D-E94A76638F2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28E958-473E-4104-B48B-D4C3A143565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E9FABD-FE78-4DE4-A633-946907CF250B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57901A-56A2-4417-803D-09DA89C5636C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3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B9587F-FE8E-4915-BDD3-20BAA45F994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3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414606-BAF2-4EAB-A6C8-A80495C516C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NAVTCC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5808960" y="677160"/>
            <a:ext cx="2838240" cy="400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4436640" y="32925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4089240" y="12765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76;p40"/>
          <p:cNvSpPr/>
          <p:nvPr/>
        </p:nvSpPr>
        <p:spPr>
          <a:xfrm>
            <a:off x="4436640" y="11480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77;p40"/>
          <p:cNvSpPr/>
          <p:nvPr/>
        </p:nvSpPr>
        <p:spPr>
          <a:xfrm>
            <a:off x="4564800" y="1012680"/>
            <a:ext cx="13320" cy="373464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78;p40"/>
          <p:cNvSpPr/>
          <p:nvPr/>
        </p:nvSpPr>
        <p:spPr>
          <a:xfrm>
            <a:off x="4481640" y="117108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79;p40"/>
          <p:cNvSpPr/>
          <p:nvPr/>
        </p:nvSpPr>
        <p:spPr>
          <a:xfrm>
            <a:off x="845640" y="1180800"/>
            <a:ext cx="31233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Introduction to Pandas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80;p40"/>
          <p:cNvSpPr/>
          <p:nvPr/>
        </p:nvSpPr>
        <p:spPr>
          <a:xfrm>
            <a:off x="4693320" y="187920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81;p40"/>
          <p:cNvSpPr/>
          <p:nvPr/>
        </p:nvSpPr>
        <p:spPr>
          <a:xfrm>
            <a:off x="4436640" y="175068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82;p40"/>
          <p:cNvSpPr/>
          <p:nvPr/>
        </p:nvSpPr>
        <p:spPr>
          <a:xfrm>
            <a:off x="4481640" y="177336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83;p40"/>
          <p:cNvSpPr/>
          <p:nvPr/>
        </p:nvSpPr>
        <p:spPr>
          <a:xfrm>
            <a:off x="5126760" y="1783440"/>
            <a:ext cx="248940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Series and DataFrame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84;p40"/>
          <p:cNvSpPr/>
          <p:nvPr/>
        </p:nvSpPr>
        <p:spPr>
          <a:xfrm>
            <a:off x="4089240" y="24213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85;p40"/>
          <p:cNvSpPr/>
          <p:nvPr/>
        </p:nvSpPr>
        <p:spPr>
          <a:xfrm>
            <a:off x="4436640" y="22928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86;p40"/>
          <p:cNvSpPr/>
          <p:nvPr/>
        </p:nvSpPr>
        <p:spPr>
          <a:xfrm>
            <a:off x="4481640" y="231552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87;p40"/>
          <p:cNvSpPr/>
          <p:nvPr/>
        </p:nvSpPr>
        <p:spPr>
          <a:xfrm>
            <a:off x="425880" y="232560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and Indexing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88;p40"/>
          <p:cNvSpPr/>
          <p:nvPr/>
        </p:nvSpPr>
        <p:spPr>
          <a:xfrm>
            <a:off x="4693320" y="29635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89;p40"/>
          <p:cNvSpPr/>
          <p:nvPr/>
        </p:nvSpPr>
        <p:spPr>
          <a:xfrm>
            <a:off x="4436640" y="28353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90;p40"/>
          <p:cNvSpPr/>
          <p:nvPr/>
        </p:nvSpPr>
        <p:spPr>
          <a:xfrm>
            <a:off x="4481640" y="285768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91;p40"/>
          <p:cNvSpPr/>
          <p:nvPr/>
        </p:nvSpPr>
        <p:spPr>
          <a:xfrm>
            <a:off x="5174640" y="2867760"/>
            <a:ext cx="237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DataFrame 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92;p40"/>
          <p:cNvSpPr/>
          <p:nvPr/>
        </p:nvSpPr>
        <p:spPr>
          <a:xfrm>
            <a:off x="2035440" y="218160"/>
            <a:ext cx="508536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3 Day 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93;p40"/>
          <p:cNvSpPr/>
          <p:nvPr/>
        </p:nvSpPr>
        <p:spPr>
          <a:xfrm>
            <a:off x="4089240" y="34117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94;p40"/>
          <p:cNvSpPr/>
          <p:nvPr/>
        </p:nvSpPr>
        <p:spPr>
          <a:xfrm>
            <a:off x="4481640" y="330624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95;p40"/>
          <p:cNvSpPr/>
          <p:nvPr/>
        </p:nvSpPr>
        <p:spPr>
          <a:xfrm>
            <a:off x="425880" y="331632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Handling missing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01;p4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02;p41"/>
          <p:cNvSpPr/>
          <p:nvPr/>
        </p:nvSpPr>
        <p:spPr>
          <a:xfrm>
            <a:off x="342000" y="1043280"/>
            <a:ext cx="5130000" cy="32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Pandas?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Python library for data manipulation and analysis.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Built on top of NumPy.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Provides two primary data structures: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Series (1D)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DataFrame (2D, like a table)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203;p41"/>
          <p:cNvSpPr/>
          <p:nvPr/>
        </p:nvSpPr>
        <p:spPr>
          <a:xfrm>
            <a:off x="6781680" y="285768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09;p4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210;p42"/>
          <p:cNvSpPr/>
          <p:nvPr/>
        </p:nvSpPr>
        <p:spPr>
          <a:xfrm>
            <a:off x="342000" y="662400"/>
            <a:ext cx="5130000" cy="41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4572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Why Use Pandas?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Fast, flexible, and expressive data handling.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Simplifies: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Data cleaning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Data transformation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Aggregation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Time series handling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Works well with CSV, Excel, SQL, JSON, etc.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211;p42"/>
          <p:cNvSpPr/>
          <p:nvPr/>
        </p:nvSpPr>
        <p:spPr>
          <a:xfrm>
            <a:off x="6781680" y="285768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7;p4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218;p43"/>
          <p:cNvSpPr/>
          <p:nvPr/>
        </p:nvSpPr>
        <p:spPr>
          <a:xfrm>
            <a:off x="3161160" y="1500480"/>
            <a:ext cx="5540040" cy="20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Tabular data structure (like spreadsheets)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Label-based indexing for rows/columns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Powerful group-by and filtering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Handling of missing data (NaN)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Built-in support for reading/writing files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19;p43"/>
          <p:cNvSpPr/>
          <p:nvPr/>
        </p:nvSpPr>
        <p:spPr>
          <a:xfrm>
            <a:off x="570600" y="2186280"/>
            <a:ext cx="172764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Key Features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25;p4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26;p44"/>
          <p:cNvSpPr/>
          <p:nvPr/>
        </p:nvSpPr>
        <p:spPr>
          <a:xfrm>
            <a:off x="3085200" y="1576800"/>
            <a:ext cx="5540040" cy="20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Importing and cleaning datasets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Exploratory Data Analysis (EDA)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Data wrangling and transformation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Statistical analysis and visualization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Preprocessing for machine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227;p44"/>
          <p:cNvSpPr/>
          <p:nvPr/>
        </p:nvSpPr>
        <p:spPr>
          <a:xfrm>
            <a:off x="875160" y="2262600"/>
            <a:ext cx="126288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Common Use cases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233;p4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 – Series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234;p45"/>
          <p:cNvSpPr/>
          <p:nvPr/>
        </p:nvSpPr>
        <p:spPr>
          <a:xfrm>
            <a:off x="633960" y="798480"/>
            <a:ext cx="799092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 Series?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one-dimensional labeled array capable of holding any data type.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Think of it like a column in Excel or a 1D array with labels.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Key Features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Indexed by default (0, 1, 2...) or custom index.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Supports vectorized operations.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Automatically aligns data by index.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import pandas as pd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 = pd.Series([10, 20, 30], index=['a', 'b', 'c'])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40;p46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 – DataFrame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241;p46"/>
          <p:cNvSpPr/>
          <p:nvPr/>
        </p:nvSpPr>
        <p:spPr>
          <a:xfrm>
            <a:off x="633960" y="798480"/>
            <a:ext cx="799092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 DataFrame?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two-dimensional, size-mutable, and heterogeneous data structure.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Think of it like a table or spreadsheet.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Consists of rows and columns.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Each column is a Series.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Index for rows, columns can also have names.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import pandas as pd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data = {'Name': ['Alice', 'Bob'], 'Age': [25, 30]}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 = pd.DataFrame(data)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247;p47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 – Input Methods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248;p47"/>
          <p:cNvSpPr/>
          <p:nvPr/>
        </p:nvSpPr>
        <p:spPr>
          <a:xfrm>
            <a:off x="633960" y="798480"/>
            <a:ext cx="799092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Reading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CSV: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pd.read_csv('file.csv')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Excel: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pd.read_excel('file.xlsx')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JSON: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pd.read_json('file.json')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SQL: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pd.read_sql(query, connection)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clipboard: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pd.read_clipboard()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Parameters to Know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sep=',', header=, index_col=, usecols=, nrows=, skiprows=, dtype=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 = pd.read_csv('students.csv', index_col='ID')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254;p48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Pandas – Useful methods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5" name="Google Shape;255;p48"/>
          <p:cNvGraphicFramePr/>
          <p:nvPr/>
        </p:nvGraphicFramePr>
        <p:xfrm>
          <a:off x="1253880" y="880200"/>
          <a:ext cx="6539400" cy="4097880"/>
        </p:xfrm>
        <a:graphic>
          <a:graphicData uri="http://schemas.openxmlformats.org/drawingml/2006/table">
            <a:tbl>
              <a:tblPr/>
              <a:tblGrid>
                <a:gridCol w="2805120"/>
                <a:gridCol w="373428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Method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Description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9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s.head()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First 5 elements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s.tail()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Last 5 elements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s.describe()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Summary statistics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s.value_counts()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Frequency of unique values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s.unique()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Unique values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s.sort_values()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Sort by value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s.sort_index()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Sort by index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s.isnull() / s.notnull()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Missing value check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s.map()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Unbounded"/>
                          <a:ea typeface="Unbounded"/>
                        </a:rPr>
                        <a:t>Apply function element-wise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61;p49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and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262;p49"/>
          <p:cNvSpPr/>
          <p:nvPr/>
        </p:nvSpPr>
        <p:spPr>
          <a:xfrm>
            <a:off x="633960" y="798480"/>
            <a:ext cx="799092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Reading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CSV: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pd.read_csv('file.csv')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Excel: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pd.read_excel('file.xlsx')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JSON: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pd.read_json('file.json')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SQL: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pd.read_sql(query, connection)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From clipboard: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pd.read_clipboard()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Parameters to Know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sep=',', header=, index_col=, usecols=, nrows=, skiprows=, dtype=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 = pd.read_csv('students.csv', index_col='ID')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268;p50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and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69;p50"/>
          <p:cNvSpPr/>
          <p:nvPr/>
        </p:nvSpPr>
        <p:spPr>
          <a:xfrm>
            <a:off x="633960" y="798480"/>
            <a:ext cx="799092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 Series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Index by label: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s['a']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Index by position: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s.iloc[0]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Slicing with labels (inclusive):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s['a':'c']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Slicing with positions (exclusive):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s[0:2]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Conditional selection: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s[s &gt; 10]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75;p5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and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76;p51"/>
          <p:cNvSpPr/>
          <p:nvPr/>
        </p:nvSpPr>
        <p:spPr>
          <a:xfrm>
            <a:off x="223200" y="798480"/>
            <a:ext cx="883044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 DataFrame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Selecting Columns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Single column (returns Series):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df['column_name']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Multiple columns (returns DataFrame):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df[['col1', 'col2']]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Selecting Rows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By label (index):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df.loc['row_label']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Arial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By position: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df.iloc[0]  # First row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Selecting Subsets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Rows + Columns together using .loc: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df.loc['row_label', ['col1', 'col2']]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Using .iloc for position-based access: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df.iloc[0, [0, 1]]  # First row, first two columns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82;p5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and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283;p52"/>
          <p:cNvSpPr/>
          <p:nvPr/>
        </p:nvSpPr>
        <p:spPr>
          <a:xfrm>
            <a:off x="223200" y="798480"/>
            <a:ext cx="883044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 DataFrame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Conditional Selection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Rows meeting a condition: 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df[df['Age'] &gt; 30]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Multiple conditions: 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df[(df['Age'] &gt; 30) &amp; (df['Salary'] &gt; 50000)]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39996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Index Setting &amp; Resetting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3716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Set index to a column: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df.set_index('column_name', inplace=True)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3716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Reset index: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 df.reset_index(drop=True, inplace=True) #inplace=True modifies the current dataframe instead of returning a new one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289;p5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Multi-level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290;p53"/>
          <p:cNvSpPr/>
          <p:nvPr/>
        </p:nvSpPr>
        <p:spPr>
          <a:xfrm>
            <a:off x="223200" y="798480"/>
            <a:ext cx="883044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way to represent higher-dimensional data (2D, 3D) in a 2D DataFrame.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Enables grouping by multiple keys (e.g., Region + Year).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Makes complex data analysis and slicing more intuitive.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Creating a MultiIndex From tuples: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index = pd.MultiIndex.from_tuples([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('USA', 2020),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('USA', 2021),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('Canada', 2020)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], names=['Country', 'Year'])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 = pd.DataFrame({'GDP': [21.4, 22.1, 1.6]}, index=index)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296;p5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Multi-level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97;p54"/>
          <p:cNvSpPr/>
          <p:nvPr/>
        </p:nvSpPr>
        <p:spPr>
          <a:xfrm>
            <a:off x="223200" y="798480"/>
            <a:ext cx="8830440" cy="41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Creating a MultiIndex From Product: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arrays = [['USA', 'USA', 'Canada'], [2020, 2021, 2020]]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index = pd.MultiIndex.from_arrays(arrays, names=('Country', 'Year'))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Accessing Data in MultiIndex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Access a group: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df.loc['USA']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Access specific row: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df.loc[('USA', 2020)]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Access using .xs() cross-section: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df.xs(2020, level='Year')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98;p54"/>
          <p:cNvSpPr/>
          <p:nvPr/>
        </p:nvSpPr>
        <p:spPr>
          <a:xfrm>
            <a:off x="5695560" y="2289960"/>
            <a:ext cx="3510720" cy="28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df.reset_index()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df.swaplevel()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Montserrat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df.sort_index(level='Year')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304;p5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Multi-level Indexing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305;p55"/>
          <p:cNvSpPr/>
          <p:nvPr/>
        </p:nvSpPr>
        <p:spPr>
          <a:xfrm>
            <a:off x="3085200" y="1576800"/>
            <a:ext cx="5540040" cy="26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Cleaner representation of grouped/aggregated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Easier slicing and filtering for multi-dimensional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Ideal for pivot tables, time-series by group, panel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306;p55"/>
          <p:cNvSpPr/>
          <p:nvPr/>
        </p:nvSpPr>
        <p:spPr>
          <a:xfrm>
            <a:off x="556200" y="1920960"/>
            <a:ext cx="157932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Why use Multi-level index?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312;p56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Practice Task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313;p56"/>
          <p:cNvSpPr/>
          <p:nvPr/>
        </p:nvSpPr>
        <p:spPr>
          <a:xfrm>
            <a:off x="528480" y="668520"/>
            <a:ext cx="809676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Selection &amp; Indexing Tasks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Select all employees in the IT department.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Retrieve the Salary and Years of Experience of all employees.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Select employees whose Age is above 30.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Select the Position and Department of employees with more than 5 years of experience.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Find the average Salary for each Department.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4572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Multi-level Indexing Practice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104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Select data using df[('Job Info', 'Salary')].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300" spc="-1" strike="noStrike">
                <a:solidFill>
                  <a:srgbClr val="333f70"/>
                </a:solidFill>
                <a:latin typeface="Unbounded"/>
                <a:ea typeface="Unbounded"/>
              </a:rPr>
              <a:t>Try slicing across one level of the mul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ti-index.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Use .xs() to select across a level.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319;p57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Common Ops on DataFrame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320;p57"/>
          <p:cNvSpPr/>
          <p:nvPr/>
        </p:nvSpPr>
        <p:spPr>
          <a:xfrm>
            <a:off x="528480" y="668520"/>
            <a:ext cx="809676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Viewing &amp; Inspecting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df.head(n)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Show first n rows.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df.tail(n)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Show last n rows.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df.shape: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Get dimensions (rows, columns).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df.info():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Summary including non-null counts and data types.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df.describe():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Descriptive statistics for numeric columns.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Column-Wise 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df['col'].unique()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Unique values in a column.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df['col'].value_counts()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Frequency count of unique values.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df.columns: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List of column names.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df.index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Get row labels (index values).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df.dtypes: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Show data types of all columns.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326;p58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Common Ops on DataFrame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327;p58"/>
          <p:cNvSpPr/>
          <p:nvPr/>
        </p:nvSpPr>
        <p:spPr>
          <a:xfrm>
            <a:off x="528480" y="973440"/>
            <a:ext cx="8096760" cy="36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Apply Custom Functions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df['col'].apply(func): Apply a function to each item.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4572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df['Salary'].apply(lambda x: x * 1.1)  # Apply 10% raise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df.applymap(func): Apply a function element-wise to entire DataFrame (useful for string operations, formatting).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Sorting and Ordering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df.sort_values('col')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Sort rows by a column.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df.sort_values(['col1', 'col2'], ascending=[True, False]):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Multi-column sort.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df.sort_index()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Sort by index (row labels).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333;p59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Common Ops on DataFrame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334;p59"/>
          <p:cNvSpPr/>
          <p:nvPr/>
        </p:nvSpPr>
        <p:spPr>
          <a:xfrm>
            <a:off x="528480" y="1049400"/>
            <a:ext cx="809676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Handling Nulls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df.isnull():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Boolean DataFrame for NaNs.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df.notnull():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Opposite of isnull.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Drop rows with missing values.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df.fillna(value):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Replace missing values.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df['Age'].fillna(df['Age'].mean())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 # Fill with mean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Replacing Values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df.replace(to_replace, value)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Replace values.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df['Dept'].replace('HR', 'Human Resources')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340;p60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Common Ops on DataFrame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341;p60"/>
          <p:cNvSpPr/>
          <p:nvPr/>
        </p:nvSpPr>
        <p:spPr>
          <a:xfrm>
            <a:off x="528480" y="1049400"/>
            <a:ext cx="809676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Dropping Rows &amp; Columns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df.drop('col', axis=1):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Drop a column.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df.drop(index)</a:t>
            </a: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: Drop rows.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df.drop(['Salary', 'Position'], axis=1)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df.drop([0, 1], axis=0)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347;p6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&amp; Its Handling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348;p61"/>
          <p:cNvSpPr/>
          <p:nvPr/>
        </p:nvSpPr>
        <p:spPr>
          <a:xfrm>
            <a:off x="528480" y="1049400"/>
            <a:ext cx="8096760" cy="34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occurs when no value is stored for a feature in an observation.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It can result from: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Manual entry errors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Sensor failure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Data corruption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Intentional omission (e.g., survey questions)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354;p6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&amp; Its Handling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355;p62"/>
          <p:cNvSpPr/>
          <p:nvPr/>
        </p:nvSpPr>
        <p:spPr>
          <a:xfrm>
            <a:off x="528480" y="821880"/>
            <a:ext cx="8096760" cy="36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Why Handling Missing Data is Crucial in ML?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Many ML algorithms do not accept missing values (NaNs).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It can lead to: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Biased estimates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Reduced statistical power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Model failures or degraded performance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Detecting missing data with Pandas: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df.isnull()     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Boolean DataFrame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df.isnull().sum()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Total missing values per column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04920">
              <a:lnSpc>
                <a:spcPct val="200000"/>
              </a:lnSpc>
              <a:buClr>
                <a:srgbClr val="333f70"/>
              </a:buClr>
              <a:buFont typeface="Montserrat"/>
              <a:buChar char="○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df[df['Age'].isnull()]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Rows where Age is missing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361;p6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&amp; Its Handling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362;p63"/>
          <p:cNvSpPr/>
          <p:nvPr/>
        </p:nvSpPr>
        <p:spPr>
          <a:xfrm>
            <a:off x="528480" y="821880"/>
            <a:ext cx="8096760" cy="40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Handling Strategies in Pandas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Drop Missing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Remove rows or columns with NaNs: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df.dropna()     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rows with any missing value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df.dropna(axis=1)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columns with missing values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df.dropna(thresh=3)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rows with less than 3 non-NaNs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AutoNum type="arabicPeriod" startAt="2"/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Fill Missing Data (Imputation)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df.fillna(0)              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Replace all NaNs with 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df['Age'].fillna(df['Age'].mean()) # Mean imputation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df.fillna(method='ffill')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Forward fill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df.fillna(method='bfill')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Backward fill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368;p6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&amp; Its Handling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369;p64"/>
          <p:cNvSpPr/>
          <p:nvPr/>
        </p:nvSpPr>
        <p:spPr>
          <a:xfrm>
            <a:off x="528480" y="745920"/>
            <a:ext cx="8096760" cy="43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Handling Strategies in Pandas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Drop Missing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Remove rows or columns with NaNs: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df.dropna()     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rows with any missing value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df.dropna(axis=1)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columns with missing values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df.dropna(thresh=3)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Drop rows with less than 3 non-NaNs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AutoNum type="arabicPeriod" startAt="2"/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 </a:t>
            </a: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Fill Missing Data (Imputation)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df.fillna(0)              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Replace all NaNs with 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df['Age'].fillna(df['Age'].mean()) # Mean imputation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df.fillna(method='ffill')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Forward fill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df.fillna(method='bfill')      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Backward fill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333f70"/>
                </a:solidFill>
                <a:latin typeface="Montserrat"/>
                <a:ea typeface="Montserrat"/>
              </a:rPr>
              <a:t># Other imputation methods: KNN, ML prediction etc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375;p6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Missing Data &amp; Its Handling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5000"/>
              </a:lnSpc>
              <a:tabLst>
                <a:tab algn="l" pos="0"/>
              </a:tabLst>
            </a:pP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376;p65"/>
          <p:cNvSpPr/>
          <p:nvPr/>
        </p:nvSpPr>
        <p:spPr>
          <a:xfrm>
            <a:off x="3271680" y="1355400"/>
            <a:ext cx="5225400" cy="31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Always analyze the pattern of missing data (MCAR, MAR, MNAR).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For categorical data, use 'most_frequent' or 'constant'.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Consider domain knowledge when imputing.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457200" indent="-3049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Use advanced methods like regression or ML-based imputation for critical fields.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Google Shape;377;p65" descr="a cartoon penguin is reading a book with a pen in its beak (Provided by Tenor)"/>
          <p:cNvPicPr/>
          <p:nvPr/>
        </p:nvPicPr>
        <p:blipFill>
          <a:blip r:embed="rId1"/>
          <a:stretch/>
        </p:blipFill>
        <p:spPr>
          <a:xfrm>
            <a:off x="228240" y="2324520"/>
            <a:ext cx="2857320" cy="285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383;p66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384;p66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385;p66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2025-05-09T20:02:17Z</dcterms:modified>
  <cp:revision>1</cp:revision>
  <dc:subject/>
  <dc:title/>
</cp:coreProperties>
</file>