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jpeg" ContentType="image/jpeg"/>
  <Override PartName="/ppt/media/image8.png" ContentType="image/png"/>
  <Override PartName="/ppt/media/image11.jpeg" ContentType="image/jpeg"/>
  <Override PartName="/ppt/media/image7.png" ContentType="image/png"/>
  <Override PartName="/ppt/media/image9.png" ContentType="image/png"/>
  <Override PartName="/ppt/media/image10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23436E2-614E-4F06-9E45-825AD574144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3BEC39-8711-4B7C-9438-454B95EE5F6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CEE166-3BEE-4628-AC8C-B950A8F639C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03CE3B-741C-4A95-B3D5-C0C5F31A483C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DFA230-EC86-45C8-9BAB-725FFCFAFCDC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F0F765-CD3C-4DA0-AC12-2573AD39F0E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689A40-83E7-4483-A4CA-CBED77FAC37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7C708A-FB10-4AB8-A20D-FB38AE509F0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427806-3918-4650-9CE9-5A2533B0FA0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48273C-15CA-4AB1-BF09-222AC27E612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A68A97-FEE4-460F-9FF9-9E0823BFCC6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6D2B1A-B39F-4E50-BC2C-7D9FC1F13BD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0297B1-1C2E-45D1-AB31-86C6AABDA31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8E4759-64F7-46E1-8189-1F3D2340275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385ECF-8698-4A3B-A771-E7E86414DCA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C42D3A-10A3-470F-82B1-CCB4E7449B3C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1D53AD-89AA-430F-82B2-228EAE8B6DA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2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BFEE00-ABCA-4225-BFA0-ABCC11007CD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2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2A7903-E599-473A-952E-6D7443476C6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51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52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53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6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Google Shape;107;p2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63;p39"/>
          <p:cNvSpPr/>
          <p:nvPr/>
        </p:nvSpPr>
        <p:spPr>
          <a:xfrm>
            <a:off x="496080" y="822960"/>
            <a:ext cx="3902400" cy="26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Artificial Intelligence (Machine Learning &amp; Deep Learning)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4;p39"/>
          <p:cNvSpPr/>
          <p:nvPr/>
        </p:nvSpPr>
        <p:spPr>
          <a:xfrm>
            <a:off x="496080" y="3828240"/>
            <a:ext cx="815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333f70"/>
                </a:solidFill>
                <a:latin typeface="Open Sans"/>
                <a:ea typeface="Open Sans"/>
              </a:rPr>
              <a:t>NAVTCC &amp; Strings 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5;p39"/>
          <p:cNvSpPr/>
          <p:nvPr/>
        </p:nvSpPr>
        <p:spPr>
          <a:xfrm>
            <a:off x="496080" y="4224960"/>
            <a:ext cx="226080" cy="226080"/>
          </a:xfrm>
          <a:prstGeom prst="roundRect">
            <a:avLst>
              <a:gd name="adj" fmla="val 25194296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Google Shape;166;p39" descr="preencoded.png"/>
          <p:cNvPicPr/>
          <p:nvPr/>
        </p:nvPicPr>
        <p:blipFill>
          <a:blip r:embed="rId1"/>
          <a:stretch/>
        </p:blipFill>
        <p:spPr>
          <a:xfrm>
            <a:off x="500760" y="4229640"/>
            <a:ext cx="216720" cy="21672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67;p39"/>
          <p:cNvSpPr/>
          <p:nvPr/>
        </p:nvSpPr>
        <p:spPr>
          <a:xfrm>
            <a:off x="793800" y="4214520"/>
            <a:ext cx="2173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Open Sans"/>
                <a:ea typeface="Open Sans"/>
              </a:rPr>
              <a:t>by Salman Ahmad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68;p39" descr=""/>
          <p:cNvPicPr/>
          <p:nvPr/>
        </p:nvPicPr>
        <p:blipFill>
          <a:blip r:embed="rId2"/>
          <a:stretch/>
        </p:blipFill>
        <p:spPr>
          <a:xfrm>
            <a:off x="5808960" y="677160"/>
            <a:ext cx="2838240" cy="400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4;p40"/>
          <p:cNvSpPr/>
          <p:nvPr/>
        </p:nvSpPr>
        <p:spPr>
          <a:xfrm>
            <a:off x="4436640" y="352116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75;p40"/>
          <p:cNvSpPr/>
          <p:nvPr/>
        </p:nvSpPr>
        <p:spPr>
          <a:xfrm>
            <a:off x="4089240" y="127656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76;p40"/>
          <p:cNvSpPr/>
          <p:nvPr/>
        </p:nvSpPr>
        <p:spPr>
          <a:xfrm>
            <a:off x="4436640" y="114804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77;p40"/>
          <p:cNvSpPr/>
          <p:nvPr/>
        </p:nvSpPr>
        <p:spPr>
          <a:xfrm>
            <a:off x="4564800" y="1012680"/>
            <a:ext cx="13320" cy="373464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78;p40"/>
          <p:cNvSpPr/>
          <p:nvPr/>
        </p:nvSpPr>
        <p:spPr>
          <a:xfrm>
            <a:off x="4481640" y="1171080"/>
            <a:ext cx="180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79;p40"/>
          <p:cNvSpPr/>
          <p:nvPr/>
        </p:nvSpPr>
        <p:spPr>
          <a:xfrm>
            <a:off x="845640" y="1180800"/>
            <a:ext cx="312336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Supervised machine learning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80;p40"/>
          <p:cNvSpPr/>
          <p:nvPr/>
        </p:nvSpPr>
        <p:spPr>
          <a:xfrm>
            <a:off x="4693320" y="187920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81;p40"/>
          <p:cNvSpPr/>
          <p:nvPr/>
        </p:nvSpPr>
        <p:spPr>
          <a:xfrm>
            <a:off x="4436640" y="175068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82;p40"/>
          <p:cNvSpPr/>
          <p:nvPr/>
        </p:nvSpPr>
        <p:spPr>
          <a:xfrm>
            <a:off x="4481640" y="1773360"/>
            <a:ext cx="180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83;p40"/>
          <p:cNvSpPr/>
          <p:nvPr/>
        </p:nvSpPr>
        <p:spPr>
          <a:xfrm>
            <a:off x="5126760" y="1783440"/>
            <a:ext cx="248940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Regression and classification problems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7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84;p40"/>
          <p:cNvSpPr/>
          <p:nvPr/>
        </p:nvSpPr>
        <p:spPr>
          <a:xfrm>
            <a:off x="4089240" y="242136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185;p40"/>
          <p:cNvSpPr/>
          <p:nvPr/>
        </p:nvSpPr>
        <p:spPr>
          <a:xfrm>
            <a:off x="4436640" y="229284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86;p40"/>
          <p:cNvSpPr/>
          <p:nvPr/>
        </p:nvSpPr>
        <p:spPr>
          <a:xfrm>
            <a:off x="4481640" y="2315520"/>
            <a:ext cx="180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87;p40"/>
          <p:cNvSpPr/>
          <p:nvPr/>
        </p:nvSpPr>
        <p:spPr>
          <a:xfrm>
            <a:off x="425880" y="2325600"/>
            <a:ext cx="35434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Components of supervised machine learning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r">
              <a:lnSpc>
                <a:spcPct val="127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88;p40"/>
          <p:cNvSpPr/>
          <p:nvPr/>
        </p:nvSpPr>
        <p:spPr>
          <a:xfrm>
            <a:off x="4693320" y="296352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89;p40"/>
          <p:cNvSpPr/>
          <p:nvPr/>
        </p:nvSpPr>
        <p:spPr>
          <a:xfrm>
            <a:off x="4436640" y="283536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90;p40"/>
          <p:cNvSpPr/>
          <p:nvPr/>
        </p:nvSpPr>
        <p:spPr>
          <a:xfrm>
            <a:off x="4481640" y="2857680"/>
            <a:ext cx="180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91;p40"/>
          <p:cNvSpPr/>
          <p:nvPr/>
        </p:nvSpPr>
        <p:spPr>
          <a:xfrm>
            <a:off x="5174640" y="2867760"/>
            <a:ext cx="23756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labeled data, hypothesis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7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7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7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92;p40"/>
          <p:cNvSpPr/>
          <p:nvPr/>
        </p:nvSpPr>
        <p:spPr>
          <a:xfrm>
            <a:off x="1883160" y="218160"/>
            <a:ext cx="54025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Outline Week 4 Day 4-5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93;p40"/>
          <p:cNvSpPr/>
          <p:nvPr/>
        </p:nvSpPr>
        <p:spPr>
          <a:xfrm>
            <a:off x="4089240" y="364032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94;p40"/>
          <p:cNvSpPr/>
          <p:nvPr/>
        </p:nvSpPr>
        <p:spPr>
          <a:xfrm>
            <a:off x="4481640" y="3534840"/>
            <a:ext cx="180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95;p40"/>
          <p:cNvSpPr/>
          <p:nvPr/>
        </p:nvSpPr>
        <p:spPr>
          <a:xfrm>
            <a:off x="425880" y="3544920"/>
            <a:ext cx="35434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cost function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196;p40"/>
          <p:cNvSpPr/>
          <p:nvPr/>
        </p:nvSpPr>
        <p:spPr>
          <a:xfrm>
            <a:off x="4564800" y="2307960"/>
            <a:ext cx="13320" cy="373464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97;p40"/>
          <p:cNvSpPr/>
          <p:nvPr/>
        </p:nvSpPr>
        <p:spPr>
          <a:xfrm>
            <a:off x="4693320" y="425880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98;p40"/>
          <p:cNvSpPr/>
          <p:nvPr/>
        </p:nvSpPr>
        <p:spPr>
          <a:xfrm>
            <a:off x="4436640" y="413064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199;p40"/>
          <p:cNvSpPr/>
          <p:nvPr/>
        </p:nvSpPr>
        <p:spPr>
          <a:xfrm>
            <a:off x="4481640" y="4152960"/>
            <a:ext cx="180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200;p40"/>
          <p:cNvSpPr/>
          <p:nvPr/>
        </p:nvSpPr>
        <p:spPr>
          <a:xfrm>
            <a:off x="5174640" y="4163400"/>
            <a:ext cx="23756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optimizer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7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7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06;p41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Supervised Machine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207;p41"/>
          <p:cNvSpPr/>
          <p:nvPr/>
        </p:nvSpPr>
        <p:spPr>
          <a:xfrm>
            <a:off x="342000" y="943560"/>
            <a:ext cx="8309520" cy="38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machine learning technique where the model learns from labeled data.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Each training example is a (input, output) pair.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The model is trained to predict the output given new inputs.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Supervised Learning Workflow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Collect labeled data (e.g., images + labels, texts + sentiments)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Train model to map inputs → outputs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Validate on unseen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Test model performance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Deploy to make real-world predictions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42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Types of Supervised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214;p42"/>
          <p:cNvSpPr/>
          <p:nvPr/>
        </p:nvSpPr>
        <p:spPr>
          <a:xfrm>
            <a:off x="342000" y="1019880"/>
            <a:ext cx="8309520" cy="38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Classification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Predict categories or classes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Output is discrete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18288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Spam detection: spam / not spam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18288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Disease diagnosis: flu / covid / healthy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18288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Sentiment analysis: positive / negative / neutral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220;p43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Types of Supervised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221;p43"/>
          <p:cNvSpPr/>
          <p:nvPr/>
        </p:nvSpPr>
        <p:spPr>
          <a:xfrm>
            <a:off x="342000" y="1019880"/>
            <a:ext cx="8309520" cy="38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 startAt="2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Regression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Predict numerical values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Output is continuous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House price prediction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Predicting blood sugar levels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Forecasting sales revenue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227;p44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Popular Algorithms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228;p44"/>
          <p:cNvSpPr/>
          <p:nvPr/>
        </p:nvSpPr>
        <p:spPr>
          <a:xfrm>
            <a:off x="342000" y="1019880"/>
            <a:ext cx="4141800" cy="38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Classification: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Logistic Regression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Decision Trees / Random Forest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Support Vector Machine (SVM)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K-Nearest Neighbors (KNN)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Naive Bayes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Neural Networks (for deeper classification tasks)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229;p44"/>
          <p:cNvSpPr/>
          <p:nvPr/>
        </p:nvSpPr>
        <p:spPr>
          <a:xfrm>
            <a:off x="4837680" y="1019880"/>
            <a:ext cx="4141800" cy="38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Regression: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Linear Regression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Ridge / Lasso Regression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Decision Trees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Support Vector Regression (SVR)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XGBoost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Deep Neural Networks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235;p45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Popular Algorithms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236;p45"/>
          <p:cNvSpPr/>
          <p:nvPr/>
        </p:nvSpPr>
        <p:spPr>
          <a:xfrm>
            <a:off x="817560" y="1019880"/>
            <a:ext cx="8161920" cy="38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Evaluation Metrics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Task</a:t>
            </a: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Metrics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Classification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Accuracy, Precision, Recall, F1-Score, AUC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Regression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MSE, MAE, RMSE, R²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242;p46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Classification Vs Regression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Google Shape;243;p46" descr=""/>
          <p:cNvPicPr/>
          <p:nvPr/>
        </p:nvPicPr>
        <p:blipFill>
          <a:blip r:embed="rId1"/>
          <a:stretch/>
        </p:blipFill>
        <p:spPr>
          <a:xfrm>
            <a:off x="762120" y="860400"/>
            <a:ext cx="7619760" cy="38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249;p47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Classification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" name="Google Shape;250;p47" descr="Cutout portrait of cute husky dog puppy (Provided by Getty Images)"/>
          <p:cNvPicPr/>
          <p:nvPr/>
        </p:nvPicPr>
        <p:blipFill>
          <a:blip r:embed="rId1"/>
          <a:stretch/>
        </p:blipFill>
        <p:spPr>
          <a:xfrm>
            <a:off x="1100880" y="1063080"/>
            <a:ext cx="2225880" cy="1478880"/>
          </a:xfrm>
          <a:prstGeom prst="rect">
            <a:avLst/>
          </a:prstGeom>
          <a:ln w="0">
            <a:noFill/>
          </a:ln>
        </p:spPr>
      </p:pic>
      <p:pic>
        <p:nvPicPr>
          <p:cNvPr id="136" name="Google Shape;251;p47" descr="Portrait of tabby cat (Provided by Getty Images)"/>
          <p:cNvPicPr/>
          <p:nvPr/>
        </p:nvPicPr>
        <p:blipFill>
          <a:blip r:embed="rId2"/>
          <a:stretch/>
        </p:blipFill>
        <p:spPr>
          <a:xfrm>
            <a:off x="1445040" y="2936880"/>
            <a:ext cx="1537920" cy="1537920"/>
          </a:xfrm>
          <a:prstGeom prst="rect">
            <a:avLst/>
          </a:prstGeom>
          <a:ln w="0">
            <a:noFill/>
          </a:ln>
        </p:spPr>
      </p:pic>
      <p:sp>
        <p:nvSpPr>
          <p:cNvPr id="137" name="Google Shape;252;p47"/>
          <p:cNvSpPr/>
          <p:nvPr/>
        </p:nvSpPr>
        <p:spPr>
          <a:xfrm>
            <a:off x="6398280" y="1556640"/>
            <a:ext cx="92088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000" spc="-1" strike="noStrike">
                <a:solidFill>
                  <a:schemeClr val="dk2"/>
                </a:solidFill>
                <a:latin typeface="Unbounded"/>
                <a:ea typeface="Unbounded"/>
              </a:rPr>
              <a:t>Dog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253;p47"/>
          <p:cNvSpPr/>
          <p:nvPr/>
        </p:nvSpPr>
        <p:spPr>
          <a:xfrm>
            <a:off x="6398280" y="3459960"/>
            <a:ext cx="92088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000" spc="-1" strike="noStrike">
                <a:solidFill>
                  <a:schemeClr val="dk2"/>
                </a:solidFill>
                <a:latin typeface="Unbounded"/>
                <a:ea typeface="Unbounded"/>
              </a:rPr>
              <a:t>Cat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9" name="Google Shape;254;p47"/>
          <p:cNvCxnSpPr>
            <a:stCxn id="135" idx="3"/>
            <a:endCxn id="137" idx="1"/>
          </p:cNvCxnSpPr>
          <p:nvPr/>
        </p:nvCxnSpPr>
        <p:spPr>
          <a:xfrm>
            <a:off x="3327120" y="1802520"/>
            <a:ext cx="3071160" cy="36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140" name="Google Shape;255;p47"/>
          <p:cNvCxnSpPr>
            <a:stCxn id="136" idx="3"/>
            <a:endCxn id="138" idx="1"/>
          </p:cNvCxnSpPr>
          <p:nvPr/>
        </p:nvCxnSpPr>
        <p:spPr>
          <a:xfrm>
            <a:off x="2982960" y="3705840"/>
            <a:ext cx="3415680" cy="36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261;p48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Regression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262;p48"/>
          <p:cNvSpPr/>
          <p:nvPr/>
        </p:nvSpPr>
        <p:spPr>
          <a:xfrm>
            <a:off x="6306120" y="2599560"/>
            <a:ext cx="13561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000" spc="-1" strike="noStrike">
                <a:solidFill>
                  <a:schemeClr val="dk2"/>
                </a:solidFill>
                <a:latin typeface="Unbounded"/>
                <a:ea typeface="Unbounded"/>
              </a:rPr>
              <a:t>2300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43" name="Google Shape;263;p48"/>
          <p:cNvGraphicFramePr/>
          <p:nvPr/>
        </p:nvGraphicFramePr>
        <p:xfrm>
          <a:off x="952560" y="1314360"/>
          <a:ext cx="2423160" cy="3076920"/>
        </p:xfrm>
        <a:graphic>
          <a:graphicData uri="http://schemas.openxmlformats.org/drawingml/2006/table">
            <a:tbl>
              <a:tblPr/>
              <a:tblGrid>
                <a:gridCol w="1179360"/>
                <a:gridCol w="1243800"/>
              </a:tblGrid>
              <a:tr h="512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Year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Price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12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2021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1000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12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2022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1100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12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1557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12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2024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2000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126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2025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?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44" name="Google Shape;264;p48"/>
          <p:cNvCxnSpPr>
            <a:endCxn id="142" idx="1"/>
          </p:cNvCxnSpPr>
          <p:nvPr/>
        </p:nvCxnSpPr>
        <p:spPr>
          <a:xfrm>
            <a:off x="3415680" y="2822040"/>
            <a:ext cx="2890440" cy="2376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270;p49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Components of Supervised ML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271;p49"/>
          <p:cNvSpPr/>
          <p:nvPr/>
        </p:nvSpPr>
        <p:spPr>
          <a:xfrm>
            <a:off x="542520" y="1134000"/>
            <a:ext cx="80690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AutoNum type="arabicPeriod"/>
            </a:pPr>
            <a:r>
              <a:rPr b="1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Labeled Data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The foundation of supervised learning.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Contains input-output pairs: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Inputs (X): Features (e.g., age, income, pixels)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Outputs (Y): Labels/targets (e.g., spam/not spam, price)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The model learns by comparing its predictions to these true labels.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277;p50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Components of Supervised ML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278;p50"/>
          <p:cNvSpPr/>
          <p:nvPr/>
        </p:nvSpPr>
        <p:spPr>
          <a:xfrm>
            <a:off x="542520" y="1134000"/>
            <a:ext cx="80690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AutoNum type="arabicPeriod" startAt="2"/>
            </a:pPr>
            <a:r>
              <a:rPr b="1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Hypothesis Function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The model’s internal mapping from inputs to outputs.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Represented mathematically as: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	</a:t>
            </a: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y^ = h(x)     (prediction)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For linear regression: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	</a:t>
            </a: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y^ = w1x1 + w2x2 + … + 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284;p51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Components of Supervised ML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285;p51"/>
          <p:cNvSpPr/>
          <p:nvPr/>
        </p:nvSpPr>
        <p:spPr>
          <a:xfrm>
            <a:off x="542520" y="1134000"/>
            <a:ext cx="8069040" cy="33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AutoNum type="arabicPeriod" startAt="3"/>
            </a:pPr>
            <a:r>
              <a:rPr b="1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Cost/Loss Function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Measures the error between predictions and actual values.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Helps the model understand how wrong it is.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Cost functions help determine how well a machine learning model is learning from data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The aim of training a model is to minimize the cost function.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Examples: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3716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Classification: BCE, 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3716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Regression: MSE, RMSE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291;p52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Components of Supervised ML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292;p52"/>
          <p:cNvSpPr/>
          <p:nvPr/>
        </p:nvSpPr>
        <p:spPr>
          <a:xfrm>
            <a:off x="542520" y="1134000"/>
            <a:ext cx="8069040" cy="29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AutoNum type="arabicPeriod" startAt="4"/>
            </a:pPr>
            <a:r>
              <a:rPr b="1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Optimizer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9144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Algorithm used to adjust model parameters (weights) to minimize the loss.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9144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Moves the model toward better predictions using gradient descent or its variants.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9144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Common Optimizers: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3716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SGD (Stochastic Gradient Descent)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3716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Adam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13716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RMSprop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298;p53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Univariate Linear Regression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299;p53"/>
          <p:cNvSpPr/>
          <p:nvPr/>
        </p:nvSpPr>
        <p:spPr>
          <a:xfrm>
            <a:off x="542520" y="1134000"/>
            <a:ext cx="39675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A method to model the relationship between a dependent variable y and an independent variable x.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Goal: Find the best-fit line y = mx + b that minimizes the error.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Univariate means only one input feature x.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" name="Google Shape;300;p53" descr=""/>
          <p:cNvPicPr/>
          <p:nvPr/>
        </p:nvPicPr>
        <p:blipFill>
          <a:blip r:embed="rId1"/>
          <a:srcRect l="29996" t="0" r="29180" b="0"/>
          <a:stretch/>
        </p:blipFill>
        <p:spPr>
          <a:xfrm>
            <a:off x="5288400" y="1145160"/>
            <a:ext cx="3732120" cy="285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306;p54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Univariate Linear Regression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307;p54"/>
          <p:cNvSpPr/>
          <p:nvPr/>
        </p:nvSpPr>
        <p:spPr>
          <a:xfrm>
            <a:off x="542520" y="1134000"/>
            <a:ext cx="7528320" cy="33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1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Key Components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Hypothesis Function: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Cost Function (MSE):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Gradient Descent: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44546a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300" spc="-1" strike="noStrike">
                <a:solidFill>
                  <a:schemeClr val="dk2"/>
                </a:solidFill>
                <a:latin typeface="Unbounded"/>
                <a:ea typeface="Unbounded"/>
              </a:rPr>
              <a:t>Iteratively update weights to minimize cost: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" name="Google Shape;308;p54" descr=""/>
          <p:cNvPicPr/>
          <p:nvPr/>
        </p:nvPicPr>
        <p:blipFill>
          <a:blip r:embed="rId1"/>
          <a:stretch/>
        </p:blipFill>
        <p:spPr>
          <a:xfrm>
            <a:off x="1378800" y="1975680"/>
            <a:ext cx="1485720" cy="333000"/>
          </a:xfrm>
          <a:prstGeom prst="rect">
            <a:avLst/>
          </a:prstGeom>
          <a:ln w="0">
            <a:noFill/>
          </a:ln>
        </p:spPr>
      </p:pic>
      <p:pic>
        <p:nvPicPr>
          <p:cNvPr id="159" name="Google Shape;309;p54" descr=""/>
          <p:cNvPicPr/>
          <p:nvPr/>
        </p:nvPicPr>
        <p:blipFill>
          <a:blip r:embed="rId2"/>
          <a:stretch/>
        </p:blipFill>
        <p:spPr>
          <a:xfrm>
            <a:off x="1378800" y="2758320"/>
            <a:ext cx="2914200" cy="333000"/>
          </a:xfrm>
          <a:prstGeom prst="rect">
            <a:avLst/>
          </a:prstGeom>
          <a:ln w="0">
            <a:noFill/>
          </a:ln>
        </p:spPr>
      </p:pic>
      <p:pic>
        <p:nvPicPr>
          <p:cNvPr id="160" name="Google Shape;310;p54" descr=""/>
          <p:cNvPicPr/>
          <p:nvPr/>
        </p:nvPicPr>
        <p:blipFill>
          <a:blip r:embed="rId3"/>
          <a:stretch/>
        </p:blipFill>
        <p:spPr>
          <a:xfrm>
            <a:off x="1530000" y="3934080"/>
            <a:ext cx="3085920" cy="73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316;p55"/>
          <p:cNvSpPr/>
          <p:nvPr/>
        </p:nvSpPr>
        <p:spPr>
          <a:xfrm>
            <a:off x="1578240" y="232992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Let’s Code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322;p56" descr=""/>
          <p:cNvPicPr/>
          <p:nvPr/>
        </p:nvPicPr>
        <p:blipFill>
          <a:blip r:embed="rId1"/>
          <a:srcRect l="16653" t="0" r="16659" b="0"/>
          <a:stretch/>
        </p:blipFill>
        <p:spPr>
          <a:xfrm>
            <a:off x="0" y="0"/>
            <a:ext cx="3428280" cy="5142600"/>
          </a:xfrm>
          <a:prstGeom prst="rect">
            <a:avLst/>
          </a:prstGeom>
          <a:ln w="0">
            <a:noFill/>
          </a:ln>
        </p:spPr>
      </p:pic>
      <p:sp>
        <p:nvSpPr>
          <p:cNvPr id="163" name="Google Shape;323;p56"/>
          <p:cNvSpPr/>
          <p:nvPr/>
        </p:nvSpPr>
        <p:spPr>
          <a:xfrm>
            <a:off x="3925080" y="1795680"/>
            <a:ext cx="4722120" cy="8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324;p56"/>
          <p:cNvSpPr/>
          <p:nvPr/>
        </p:nvSpPr>
        <p:spPr>
          <a:xfrm>
            <a:off x="3925080" y="2322720"/>
            <a:ext cx="4722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333f70"/>
                </a:solidFill>
                <a:latin typeface="Open Sans"/>
                <a:ea typeface="Open Sans"/>
              </a:rPr>
              <a:t>"He who asks a question is a fool for a minute; he who does not remains a fool forever." – Confucius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2025-05-16T14:20:30Z</dcterms:modified>
  <cp:revision>1</cp:revision>
  <dc:subject/>
  <dc:title/>
</cp:coreProperties>
</file>