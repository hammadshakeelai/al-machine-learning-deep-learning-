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9.jpeg" ContentType="image/jpe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98CD5CB-EAEA-4BED-B747-00410B5FB84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5450D1-9D34-4594-93C9-023A4542E73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5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697800-42B3-4865-833D-C3E68D54982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6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AD26A4-2D8C-4833-9528-45C92984C37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7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631968-842A-4C5D-96AC-D93337962EE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8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E3E122-0F2B-4429-A823-91242806761A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9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66DA63-7F98-4C7E-8C4B-B975386C656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0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F925D1-D919-4841-BB1B-4E0467A5CC8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1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E3F410-F92F-4688-8D47-29B679C82995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2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A88412-9A76-4C22-A499-4DFAC25EDCA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3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B0AD66-7096-4FD9-90C4-34E7564A236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4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9230B8-CB73-44A0-9749-AC92F3268D6F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5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BF89EA-C574-4FC4-8557-069AB71F81F5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6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B78E02-F2D2-4948-8283-70411F402C6D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7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862D6E-4DEB-48F0-B8BC-3517101222B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8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7E1184-8258-48D1-899E-CAEB12632B9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9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7CDABD-44B8-4FFD-8621-048C0CC03AA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20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95BA00-5EC8-417F-8C30-DA02795A754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21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A1F84E-C9BF-4A00-BE58-6D0206BE7C3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22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31EFB2-292A-4407-817B-4715134707EF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23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4B0376-24A8-4A1D-836B-63ABA736713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24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8879A1-01FD-40CF-BE81-F5B88A54510A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560" cy="192780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56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25"/>
          </p:nvPr>
        </p:nvSpPr>
        <p:spPr>
          <a:xfrm>
            <a:off x="3237480" y="5428440"/>
            <a:ext cx="247536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4E3838-B3DE-4100-9EE5-8214DABFB06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51;p13"/>
          <p:cNvSpPr/>
          <p:nvPr/>
        </p:nvSpPr>
        <p:spPr>
          <a:xfrm>
            <a:off x="0" y="0"/>
            <a:ext cx="9142920" cy="5142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" name="Google Shape;52;p13"/>
          <p:cNvSpPr/>
          <p:nvPr/>
        </p:nvSpPr>
        <p:spPr>
          <a:xfrm>
            <a:off x="0" y="0"/>
            <a:ext cx="9142920" cy="514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" name="Google Shape;53;p13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320" cy="2559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5;p26"/>
          <p:cNvSpPr/>
          <p:nvPr/>
        </p:nvSpPr>
        <p:spPr>
          <a:xfrm>
            <a:off x="0" y="0"/>
            <a:ext cx="9142920" cy="5142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Google Shape;106;p26"/>
          <p:cNvSpPr/>
          <p:nvPr/>
        </p:nvSpPr>
        <p:spPr>
          <a:xfrm>
            <a:off x="0" y="0"/>
            <a:ext cx="9142920" cy="514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3" name="Google Shape;107;p26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320" cy="25596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63;p39"/>
          <p:cNvSpPr/>
          <p:nvPr/>
        </p:nvSpPr>
        <p:spPr>
          <a:xfrm>
            <a:off x="496080" y="822960"/>
            <a:ext cx="3902040" cy="26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Artificial Intelligence (Machine Learning &amp; Deep Learning)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64;p39"/>
          <p:cNvSpPr/>
          <p:nvPr/>
        </p:nvSpPr>
        <p:spPr>
          <a:xfrm>
            <a:off x="496080" y="3828240"/>
            <a:ext cx="815076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333f70"/>
                </a:solidFill>
                <a:latin typeface="Open Sans"/>
                <a:ea typeface="Open Sans"/>
              </a:rPr>
              <a:t>NAVTTC &amp; Strings Technologies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65;p39"/>
          <p:cNvSpPr/>
          <p:nvPr/>
        </p:nvSpPr>
        <p:spPr>
          <a:xfrm>
            <a:off x="496080" y="4224960"/>
            <a:ext cx="225720" cy="225720"/>
          </a:xfrm>
          <a:prstGeom prst="roundRect">
            <a:avLst>
              <a:gd name="adj" fmla="val 25194296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91" name="Google Shape;166;p39" descr="preencoded.png"/>
          <p:cNvPicPr/>
          <p:nvPr/>
        </p:nvPicPr>
        <p:blipFill>
          <a:blip r:embed="rId1"/>
          <a:stretch/>
        </p:blipFill>
        <p:spPr>
          <a:xfrm>
            <a:off x="500760" y="4229640"/>
            <a:ext cx="216360" cy="21636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167;p39"/>
          <p:cNvSpPr/>
          <p:nvPr/>
        </p:nvSpPr>
        <p:spPr>
          <a:xfrm>
            <a:off x="793800" y="4214520"/>
            <a:ext cx="217296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Open Sans"/>
                <a:ea typeface="Open Sans"/>
              </a:rPr>
              <a:t>by Salman Ahmad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168;p39" descr=""/>
          <p:cNvPicPr/>
          <p:nvPr/>
        </p:nvPicPr>
        <p:blipFill>
          <a:blip r:embed="rId2"/>
          <a:stretch/>
        </p:blipFill>
        <p:spPr>
          <a:xfrm>
            <a:off x="6710400" y="0"/>
            <a:ext cx="242820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4;p40"/>
          <p:cNvSpPr/>
          <p:nvPr/>
        </p:nvSpPr>
        <p:spPr>
          <a:xfrm>
            <a:off x="2306520" y="1182600"/>
            <a:ext cx="39308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7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Decision Trees and Random Forest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75;p40"/>
          <p:cNvSpPr/>
          <p:nvPr/>
        </p:nvSpPr>
        <p:spPr>
          <a:xfrm>
            <a:off x="1883160" y="218160"/>
            <a:ext cx="54021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Outline Week 6 Day 5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81;p41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a Decision Tree?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82;p41"/>
          <p:cNvSpPr/>
          <p:nvPr/>
        </p:nvSpPr>
        <p:spPr>
          <a:xfrm>
            <a:off x="342000" y="592200"/>
            <a:ext cx="8535240" cy="41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non-parametric supervised learning algorithm used for classification and regression.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Mimics human decision-making by asking a series of yes/no questions.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Splits data based on feature thresholds to create a tree-like structure.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It has a hierarchical, tree structure, consisting of root node, branches and leaf nodes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The leaf nodes represent all the possible outcomes within the dataset.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88;p42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Core Concepts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89;p42"/>
          <p:cNvSpPr/>
          <p:nvPr/>
        </p:nvSpPr>
        <p:spPr>
          <a:xfrm>
            <a:off x="342000" y="870480"/>
            <a:ext cx="4096440" cy="38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Root Node: 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The first split based on the most informative feature.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Internal Nodes: 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Further splits based on feature conditions.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Leaf Nodes: 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Final prediction outcome (class or value).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Depth: 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Maximum number of levels in the tree.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Google Shape;190;p42" descr=""/>
          <p:cNvPicPr/>
          <p:nvPr/>
        </p:nvPicPr>
        <p:blipFill>
          <a:blip r:embed="rId1"/>
          <a:stretch/>
        </p:blipFill>
        <p:spPr>
          <a:xfrm>
            <a:off x="4591440" y="744840"/>
            <a:ext cx="4399560" cy="247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96;p43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Core Concepts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Google Shape;197;p43" descr=""/>
          <p:cNvPicPr/>
          <p:nvPr/>
        </p:nvPicPr>
        <p:blipFill>
          <a:blip r:embed="rId1"/>
          <a:stretch/>
        </p:blipFill>
        <p:spPr>
          <a:xfrm>
            <a:off x="1600200" y="744840"/>
            <a:ext cx="6009480" cy="398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203;p44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How Does It Decide Splits?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204;p44"/>
          <p:cNvSpPr/>
          <p:nvPr/>
        </p:nvSpPr>
        <p:spPr>
          <a:xfrm>
            <a:off x="342000" y="883800"/>
            <a:ext cx="8309160" cy="38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Uses criteria to choose the best feature to split: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Gini Impurity (default for classification)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Entropy / Information Gain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Mean Squared Error (for regression)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210;p45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Entropy and information gain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211;p45"/>
          <p:cNvSpPr/>
          <p:nvPr/>
        </p:nvSpPr>
        <p:spPr>
          <a:xfrm>
            <a:off x="342000" y="883800"/>
            <a:ext cx="8309160" cy="38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Entropy stems from information theory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Measures the impurity of the sample values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Formula: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Ranges between 0 and log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2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K (k=number of classes), 0 means pure with no impurity; all samples belong to the same class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Highest value means equal number of samples per class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" name="Google Shape;212;p45" descr=""/>
          <p:cNvPicPr/>
          <p:nvPr/>
        </p:nvPicPr>
        <p:blipFill>
          <a:blip r:embed="rId1"/>
          <a:stretch/>
        </p:blipFill>
        <p:spPr>
          <a:xfrm>
            <a:off x="1933560" y="1933560"/>
            <a:ext cx="4119120" cy="118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218;p46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Entropy and information gain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219;p46"/>
          <p:cNvSpPr/>
          <p:nvPr/>
        </p:nvSpPr>
        <p:spPr>
          <a:xfrm>
            <a:off x="342000" y="883800"/>
            <a:ext cx="8309160" cy="38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Formula: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 represents the data set that entropy is calculated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 represents the classes in set, 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p(c) represents the proportion of data points that belong to class c to the number of total data points in set, 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" name="Google Shape;220;p46" descr=""/>
          <p:cNvPicPr/>
          <p:nvPr/>
        </p:nvPicPr>
        <p:blipFill>
          <a:blip r:embed="rId1"/>
          <a:stretch/>
        </p:blipFill>
        <p:spPr>
          <a:xfrm>
            <a:off x="1933560" y="1247760"/>
            <a:ext cx="4119120" cy="118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226;p47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Information Gain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227;p47"/>
          <p:cNvSpPr/>
          <p:nvPr/>
        </p:nvSpPr>
        <p:spPr>
          <a:xfrm>
            <a:off x="342000" y="592200"/>
            <a:ext cx="8309160" cy="41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Information gain represents the difference in entropy before and after a split on a given attribute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The attribute with the highest information gain will produce the best split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Information Gain tells us how much ‘uncertainty’ is removed by knowing a feature.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Before splitting: node has high impurity (mixed labels)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After splitting: child nodes become more pure → less entropy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Gain = how much that purity increased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233;p48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Information Gain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234;p48"/>
          <p:cNvSpPr/>
          <p:nvPr/>
        </p:nvSpPr>
        <p:spPr>
          <a:xfrm>
            <a:off x="342000" y="592200"/>
            <a:ext cx="8309160" cy="41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Formula: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represents a specific attribute or class label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Entropy(S) is the entropy of dataset, 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|Sv|/|S| represents the proportion of the values in Sv to the number of values in dataset, 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Google Shape;235;p48" descr=""/>
          <p:cNvPicPr/>
          <p:nvPr/>
        </p:nvPicPr>
        <p:blipFill>
          <a:blip r:embed="rId1"/>
          <a:stretch/>
        </p:blipFill>
        <p:spPr>
          <a:xfrm>
            <a:off x="1997280" y="666720"/>
            <a:ext cx="4736160" cy="104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241;p49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Limitation of Information Gain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242;p49"/>
          <p:cNvSpPr/>
          <p:nvPr/>
        </p:nvSpPr>
        <p:spPr>
          <a:xfrm>
            <a:off x="494280" y="1125720"/>
            <a:ext cx="8159400" cy="20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Bias toward features with many values (e.g., ID numbers, zip codes)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Might overfit on noisy or unique features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Solution: Use Gain Ratio (used in C4.5) which penalizes high-branch features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48;p50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Gini Impurity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Google Shape;249;p50"/>
          <p:cNvSpPr/>
          <p:nvPr/>
        </p:nvSpPr>
        <p:spPr>
          <a:xfrm>
            <a:off x="342000" y="592200"/>
            <a:ext cx="8309160" cy="41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measure of impurity or disorder used by Classification and Regression Trees (CART)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Tells us how likely a randomly chosen element would be incorrectly labeled if randomly assigned according to the label distribution.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Formula: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K: number of classes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i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: proportion of instances of class i in the dataset 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" name="Google Shape;250;p50" descr=""/>
          <p:cNvPicPr/>
          <p:nvPr/>
        </p:nvPicPr>
        <p:blipFill>
          <a:blip r:embed="rId1"/>
          <a:stretch/>
        </p:blipFill>
        <p:spPr>
          <a:xfrm>
            <a:off x="1911600" y="2449080"/>
            <a:ext cx="1961280" cy="76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56;p51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Use in Decision Trees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257;p51"/>
          <p:cNvSpPr/>
          <p:nvPr/>
        </p:nvSpPr>
        <p:spPr>
          <a:xfrm>
            <a:off x="342000" y="592200"/>
            <a:ext cx="8453160" cy="41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At each node, Gini is calculated for possible feature splits.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The feature that reduces Gini impurity the most is chosen.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Just like Information Gain (entropy), but uses Gini as the impurity measure.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63;p52"/>
          <p:cNvSpPr/>
          <p:nvPr/>
        </p:nvSpPr>
        <p:spPr>
          <a:xfrm>
            <a:off x="1530000" y="108360"/>
            <a:ext cx="5987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NLP Example — Spam Classification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264;p52"/>
          <p:cNvSpPr/>
          <p:nvPr/>
        </p:nvSpPr>
        <p:spPr>
          <a:xfrm>
            <a:off x="414000" y="592200"/>
            <a:ext cx="8453160" cy="41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You have a binary dataset: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Feature: “contains the word 'offer’”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In the "yes" group: 8 spam, 2 not spam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Gini = 1 − (0.8)</a:t>
            </a:r>
            <a:r>
              <a:rPr b="0" lang="en" sz="1400" spc="-1" strike="noStrike" baseline="30000">
                <a:solidFill>
                  <a:schemeClr val="dk2"/>
                </a:solidFill>
                <a:latin typeface="Unbounded"/>
                <a:ea typeface="Unbounded"/>
              </a:rPr>
              <a:t>2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− (0.2)</a:t>
            </a:r>
            <a:r>
              <a:rPr b="0" lang="en" sz="1400" spc="-1" strike="noStrike" baseline="30000">
                <a:solidFill>
                  <a:schemeClr val="dk2"/>
                </a:solidFill>
                <a:latin typeface="Unbounded"/>
                <a:ea typeface="Unbounded"/>
              </a:rPr>
              <a:t>2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= 1 − 0.64 − 0.04 = 0.32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In the "no" group: 2 spam, 8 not spam → Gini = 0.32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Weighted Gini → used to decide if this feature is a good split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270;p53"/>
          <p:cNvSpPr/>
          <p:nvPr/>
        </p:nvSpPr>
        <p:spPr>
          <a:xfrm>
            <a:off x="1021320" y="108360"/>
            <a:ext cx="705492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Decision Tree — Example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271;p53"/>
          <p:cNvSpPr/>
          <p:nvPr/>
        </p:nvSpPr>
        <p:spPr>
          <a:xfrm>
            <a:off x="399240" y="748800"/>
            <a:ext cx="8418960" cy="40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import pandas as pd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from sklearn.tree import DecisionTreeClassifier, plot_tree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import matplotlib.pyplot as plt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# Sample dataset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data = 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'Outlook': ['Sunny', 'Sunny', 'Overcast', 'Rain', 'Rain', 'Rain', 'Overcast', 'Sunny', 'Sunny', 'Rain'],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'PlayTennis': ['No', 'No', 'Yes', 'Yes', 'Yes', 'No', 'Yes', 'Yes', 'Yes', 'Yes']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df = pd.DataFrame(data)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277;p54"/>
          <p:cNvSpPr/>
          <p:nvPr/>
        </p:nvSpPr>
        <p:spPr>
          <a:xfrm>
            <a:off x="1021320" y="108360"/>
            <a:ext cx="705492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Decision Tree — Example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278;p54"/>
          <p:cNvSpPr/>
          <p:nvPr/>
        </p:nvSpPr>
        <p:spPr>
          <a:xfrm>
            <a:off x="399240" y="748800"/>
            <a:ext cx="8418960" cy="40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# Convert categorical feature to one-hot encoding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X = pd.get_dummies(df[['Outlook']])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y = df['PlayTennis'].map({'Yes': 1, 'No': 0})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# Train decision tree using entropy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clf = DecisionTreeClassifier(criterion='entropy', max_depth=2, random_state=42)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clf.fit(X, y)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plt.figure(figsize=(8, 5))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plot_tree(clf, feature_names=X.columns, class_names=['No', 'Yes'], filled=True)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plt.title("Decision Tree Based on Outlook (Entropy)")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plt.show()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284;p55"/>
          <p:cNvSpPr/>
          <p:nvPr/>
        </p:nvSpPr>
        <p:spPr>
          <a:xfrm>
            <a:off x="1021320" y="108360"/>
            <a:ext cx="705492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a Random Forest?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285;p55"/>
          <p:cNvSpPr/>
          <p:nvPr/>
        </p:nvSpPr>
        <p:spPr>
          <a:xfrm>
            <a:off x="399240" y="748800"/>
            <a:ext cx="8418960" cy="40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An ensemble of multiple decision trees.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Each tree is trained on a random subset of data and features.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Predictions are made via: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Majority vote (classification)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Average prediction (regression)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“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Random Forest = Bagging (Bootstrap Aggregating) + Decision Trees”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291;p56"/>
          <p:cNvSpPr/>
          <p:nvPr/>
        </p:nvSpPr>
        <p:spPr>
          <a:xfrm>
            <a:off x="1021320" y="108360"/>
            <a:ext cx="705492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Why Random?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292;p56"/>
          <p:cNvSpPr/>
          <p:nvPr/>
        </p:nvSpPr>
        <p:spPr>
          <a:xfrm>
            <a:off x="399240" y="748800"/>
            <a:ext cx="8418960" cy="40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Bootstrapping: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 Each tree sees a different subset of training data.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Feature randomness: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 At each split, only a random subset of features is considered.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This increases diversity among trees, reducing overfitting.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298;p57"/>
          <p:cNvSpPr/>
          <p:nvPr/>
        </p:nvSpPr>
        <p:spPr>
          <a:xfrm>
            <a:off x="1021320" y="108360"/>
            <a:ext cx="705492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Benefits of Random Forest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34" name="Google Shape;299;p57"/>
          <p:cNvGraphicFramePr/>
          <p:nvPr/>
        </p:nvGraphicFramePr>
        <p:xfrm>
          <a:off x="544320" y="1295280"/>
          <a:ext cx="8214120" cy="1612080"/>
        </p:xfrm>
        <a:graphic>
          <a:graphicData uri="http://schemas.openxmlformats.org/drawingml/2006/table">
            <a:tbl>
              <a:tblPr/>
              <a:tblGrid>
                <a:gridCol w="3326760"/>
                <a:gridCol w="4887720"/>
              </a:tblGrid>
              <a:tr h="23796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Advantage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Description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Robust to overfitting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Aggregates many weak learners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High accuracy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Works well on both tabular and sparse data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Handles missing values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Well-tolerated by the forest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Feature importance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Can rank most influential features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305;p58"/>
          <p:cNvSpPr/>
          <p:nvPr/>
        </p:nvSpPr>
        <p:spPr>
          <a:xfrm>
            <a:off x="1021320" y="108360"/>
            <a:ext cx="705492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Decision Tree vs. Random Forest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36" name="Google Shape;306;p58"/>
          <p:cNvGraphicFramePr/>
          <p:nvPr/>
        </p:nvGraphicFramePr>
        <p:xfrm>
          <a:off x="380880" y="1219320"/>
          <a:ext cx="8404200" cy="1647000"/>
        </p:xfrm>
        <a:graphic>
          <a:graphicData uri="http://schemas.openxmlformats.org/drawingml/2006/table">
            <a:tbl>
              <a:tblPr/>
              <a:tblGrid>
                <a:gridCol w="1958400"/>
                <a:gridCol w="3263760"/>
                <a:gridCol w="3182400"/>
              </a:tblGrid>
              <a:tr h="23796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Feature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Decision Tree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Random Forest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Accuracy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Lower (risk of overfitting)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Higher (ensemble voting)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Interpretability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Easy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Harder (many trees)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Overfitting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Likely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Reduced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Training Time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Fast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Slower (many models)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312;p59"/>
          <p:cNvSpPr/>
          <p:nvPr/>
        </p:nvSpPr>
        <p:spPr>
          <a:xfrm>
            <a:off x="1021320" y="108360"/>
            <a:ext cx="705492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Random Forest — Example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313;p59"/>
          <p:cNvSpPr/>
          <p:nvPr/>
        </p:nvSpPr>
        <p:spPr>
          <a:xfrm>
            <a:off x="645840" y="762120"/>
            <a:ext cx="7937640" cy="31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from sklearn.ensemble import RandomForestClassifier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from sklearn.feature_extraction.text import TfidfVectorizer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from sklearn.pipeline import make_pipeline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# Sample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X = ["Good movie", "Horrible plot", "Loved the acting", "Worst ever", "Nice!"]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y = [1, 0, 1, 0, 1]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# Build model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model = make_pipeline(TfidfVectorizer(),RandomForestClassifier(n_estimators=100))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model.fit(X, y)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# Predict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Montserrat"/>
                <a:ea typeface="Montserrat"/>
              </a:rPr>
              <a:t>print(model.predict(["Great direction"]))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319;p60" descr=""/>
          <p:cNvPicPr/>
          <p:nvPr/>
        </p:nvPicPr>
        <p:blipFill>
          <a:blip r:embed="rId1"/>
          <a:srcRect l="16650" t="0" r="16656" b="0"/>
          <a:stretch/>
        </p:blipFill>
        <p:spPr>
          <a:xfrm>
            <a:off x="0" y="0"/>
            <a:ext cx="3427920" cy="5142240"/>
          </a:xfrm>
          <a:prstGeom prst="rect">
            <a:avLst/>
          </a:prstGeom>
          <a:ln w="0">
            <a:noFill/>
          </a:ln>
        </p:spPr>
      </p:pic>
      <p:sp>
        <p:nvSpPr>
          <p:cNvPr id="140" name="Google Shape;320;p60"/>
          <p:cNvSpPr/>
          <p:nvPr/>
        </p:nvSpPr>
        <p:spPr>
          <a:xfrm>
            <a:off x="3925080" y="1795680"/>
            <a:ext cx="4721760" cy="88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Questions?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321;p60"/>
          <p:cNvSpPr/>
          <p:nvPr/>
        </p:nvSpPr>
        <p:spPr>
          <a:xfrm>
            <a:off x="3925080" y="2322720"/>
            <a:ext cx="47217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333f70"/>
                </a:solidFill>
                <a:latin typeface="Open Sans"/>
                <a:ea typeface="Open Sans"/>
              </a:rPr>
              <a:t>"He who asks a question is a fool for a minute; he who does not remains a fool forever." – Confucius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2025-06-23T18:59:59Z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