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0283E0B-B57E-427F-B534-99B026ADA56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A7EB7D-A7F3-4AEA-BBC6-F5CFB4634EA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 type="sldNum" idx="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D0EAA4-43E1-4791-AD59-9189D11A2308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8352FF1-B008-4175-9269-6220B7B3345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4BE033-B80B-427A-94F7-B635DBCA3A6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 type="sldNum" idx="8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4255F5-B256-4A37-A395-1C7754B6F08F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9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9FC5DE-9062-43CA-82B5-BA06A4F4B15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sldNum" idx="10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76716B-0731-4B2F-ABC0-08DB3258848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11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42FA254-EA30-4C85-A609-09E24089CCE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2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414688A-01C2-4906-BB12-4459E55FF120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sldNum" idx="13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E4065A-32D1-4594-8E81-C92473D76C7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sldNum" idx="14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B5445B8-066A-4D56-B04A-C700BE5167E6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5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DBF1E21-DFB9-419C-B457-13953AA88DCE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6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BEBB48-8E90-46F0-90B9-0FD8BBF50263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571680" y="714240"/>
            <a:ext cx="4570920" cy="192816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571680" y="2750400"/>
            <a:ext cx="4570920" cy="224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7"/>
          </p:nvPr>
        </p:nvSpPr>
        <p:spPr>
          <a:xfrm>
            <a:off x="3237480" y="5428440"/>
            <a:ext cx="2475720" cy="28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8098FF-0DAC-4D67-A927-B8F93DB17C71}" type="slidenum">
              <a:rPr b="0" lang="en" sz="11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1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51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Google Shape;52;p13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" name="Google Shape;53;p13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105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d6f5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6;p26"/>
          <p:cNvSpPr/>
          <p:nvPr/>
        </p:nvSpPr>
        <p:spPr>
          <a:xfrm>
            <a:off x="0" y="0"/>
            <a:ext cx="9143280" cy="51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Google Shape;107;p26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8024400" y="4843440"/>
            <a:ext cx="1075680" cy="256320"/>
          </a:xfrm>
          <a:prstGeom prst="rect">
            <a:avLst/>
          </a:prstGeom>
          <a:ln w="0">
            <a:noFill/>
          </a:ln>
        </p:spPr>
      </p:pic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63;p39"/>
          <p:cNvSpPr/>
          <p:nvPr/>
        </p:nvSpPr>
        <p:spPr>
          <a:xfrm>
            <a:off x="496080" y="822960"/>
            <a:ext cx="3902400" cy="265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Artificial Intelligence (Machine Learning &amp; Deep Learning)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4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4;p39"/>
          <p:cNvSpPr/>
          <p:nvPr/>
        </p:nvSpPr>
        <p:spPr>
          <a:xfrm>
            <a:off x="496080" y="3828240"/>
            <a:ext cx="8151120" cy="2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100" spc="-1" strike="noStrike">
                <a:solidFill>
                  <a:srgbClr val="333f70"/>
                </a:solidFill>
                <a:latin typeface="Open Sans"/>
                <a:ea typeface="Open Sans"/>
              </a:rPr>
              <a:t>NAVTTC &amp; Strings Technologies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5;p39"/>
          <p:cNvSpPr/>
          <p:nvPr/>
        </p:nvSpPr>
        <p:spPr>
          <a:xfrm>
            <a:off x="496080" y="4224960"/>
            <a:ext cx="226080" cy="226080"/>
          </a:xfrm>
          <a:prstGeom prst="roundRect">
            <a:avLst>
              <a:gd name="adj" fmla="val 25194296"/>
            </a:avLst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6160" rIns="56160" tIns="57240" bIns="572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" name="Google Shape;166;p39" descr="preencoded.png"/>
          <p:cNvPicPr/>
          <p:nvPr/>
        </p:nvPicPr>
        <p:blipFill>
          <a:blip r:embed="rId1"/>
          <a:stretch/>
        </p:blipFill>
        <p:spPr>
          <a:xfrm>
            <a:off x="500760" y="4229640"/>
            <a:ext cx="216720" cy="216720"/>
          </a:xfrm>
          <a:prstGeom prst="rect">
            <a:avLst/>
          </a:prstGeom>
          <a:ln w="0">
            <a:noFill/>
          </a:ln>
        </p:spPr>
      </p:pic>
      <p:sp>
        <p:nvSpPr>
          <p:cNvPr id="92" name="Google Shape;167;p39"/>
          <p:cNvSpPr/>
          <p:nvPr/>
        </p:nvSpPr>
        <p:spPr>
          <a:xfrm>
            <a:off x="793800" y="4214520"/>
            <a:ext cx="217332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Open Sans"/>
                <a:ea typeface="Open Sans"/>
              </a:rPr>
              <a:t>by Salman Ahmad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3" name="Google Shape;168;p39" descr=""/>
          <p:cNvPicPr/>
          <p:nvPr/>
        </p:nvPicPr>
        <p:blipFill>
          <a:blip r:embed="rId2"/>
          <a:stretch/>
        </p:blipFill>
        <p:spPr>
          <a:xfrm>
            <a:off x="6710400" y="0"/>
            <a:ext cx="2428560" cy="5143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174;p40"/>
          <p:cNvSpPr/>
          <p:nvPr/>
        </p:nvSpPr>
        <p:spPr>
          <a:xfrm>
            <a:off x="1776960" y="1158840"/>
            <a:ext cx="5695200" cy="340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1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Recurrent Neural Network (RNN)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Learning from Sequences over Time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5;p40"/>
          <p:cNvSpPr/>
          <p:nvPr/>
        </p:nvSpPr>
        <p:spPr>
          <a:xfrm>
            <a:off x="1086840" y="218160"/>
            <a:ext cx="581760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Outline Week 8 Day 1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181;p41"/>
          <p:cNvSpPr/>
          <p:nvPr/>
        </p:nvSpPr>
        <p:spPr>
          <a:xfrm>
            <a:off x="375840" y="810360"/>
            <a:ext cx="8407800" cy="401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Traditional neural networks assume inputs are independent.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But in many problems (text, speech, time series), order matters.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Example: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“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The movie was not good” ≠ “The movie was good not”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RNNs handle sequential data by maintaining memory of previous inputs.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82;p4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Why Recurrent Neural Network?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88;p42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 neural network that loops over sequence elements.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Maintains a hidden state that captures information from previous time steps.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Each time step reuses the same weights: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= σ⁡ (W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xh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x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+W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h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t−1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+ b)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Allows the model to "remember" context from earlier in the sequence.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89;p42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What is an RNN?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95;p43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Recurrent Unit: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 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= σ⁡ (W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xh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x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+W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hh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t−1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+ b)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24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1" name="Google Shape;196;p43"/>
          <p:cNvGraphicFramePr/>
          <p:nvPr/>
        </p:nvGraphicFramePr>
        <p:xfrm>
          <a:off x="152280" y="1067760"/>
          <a:ext cx="8863200" cy="3839760"/>
        </p:xfrm>
        <a:graphic>
          <a:graphicData uri="http://schemas.openxmlformats.org/drawingml/2006/table">
            <a:tbl>
              <a:tblPr/>
              <a:tblGrid>
                <a:gridCol w="813240"/>
                <a:gridCol w="8049960"/>
              </a:tblGrid>
              <a:tr h="49248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Symbol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Meaning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992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</a:t>
                      </a:r>
                      <a:r>
                        <a:rPr b="0" lang="en" sz="16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Hidden state at time t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Represents the memory of the RNN after seeing input up to time t. It gets passed to the next time step.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27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x</a:t>
                      </a:r>
                      <a:r>
                        <a:rPr b="0" lang="en" sz="16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Input at time t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One step in the input sequence (e.g., a word embedding, a time series value).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544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</a:t>
                      </a:r>
                      <a:r>
                        <a:rPr b="0" lang="en" sz="16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t−1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Hidden state from previous time step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Acts as memory — it carries information forward.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412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W</a:t>
                      </a:r>
                      <a:r>
                        <a:rPr b="0" lang="en" sz="16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xh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Weight matrix for input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Transforms the current input x</a:t>
                      </a:r>
                      <a:r>
                        <a:rPr b="0" lang="en" sz="13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 to hidden space.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35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W</a:t>
                      </a:r>
                      <a:r>
                        <a:rPr b="0" lang="en" sz="16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Weight matrix for hidden state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Transforms the previous hidden state h</a:t>
                      </a:r>
                      <a:r>
                        <a:rPr b="0" lang="en" sz="1300" spc="-1" strike="noStrike" baseline="-25000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t−1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 to influence the current one.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7468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Bias vector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. Added to shift the activation.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25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6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σ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Activation function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 (usually 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Roboto Mono"/>
                          <a:ea typeface="Roboto Mono"/>
                        </a:rPr>
                        <a:t>tanh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 or 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Roboto Mono"/>
                          <a:ea typeface="Roboto Mono"/>
                        </a:rPr>
                        <a:t>ReLU</a:t>
                      </a:r>
                      <a:r>
                        <a:rPr b="0" lang="en" sz="13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). Introduces non-linearity so the network can learn complex patterns.</a:t>
                      </a:r>
                      <a:endParaRPr b="0" lang="en-US" sz="13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202;p44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" name="Google Shape;203;p44" descr=""/>
          <p:cNvPicPr/>
          <p:nvPr/>
        </p:nvPicPr>
        <p:blipFill>
          <a:blip r:embed="rId1"/>
          <a:stretch/>
        </p:blipFill>
        <p:spPr>
          <a:xfrm>
            <a:off x="1447920" y="813240"/>
            <a:ext cx="6286320" cy="3142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209;p45"/>
          <p:cNvSpPr/>
          <p:nvPr/>
        </p:nvSpPr>
        <p:spPr>
          <a:xfrm>
            <a:off x="375840" y="833760"/>
            <a:ext cx="8407800" cy="41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For each time step t: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Takes current input x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​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Combines it with previous hidden state 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t−1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Passes it through non-linearity (usually tanh or ReLU)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AutoNum type="arabicPeriod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Produces new hidden state h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​, and possibly output y</a:t>
            </a:r>
            <a:r>
              <a:rPr b="0" lang="en" sz="1400" spc="-1" strike="noStrike" baseline="-25000">
                <a:solidFill>
                  <a:srgbClr val="333f70"/>
                </a:solidFill>
                <a:latin typeface="Unbounded"/>
                <a:ea typeface="Unbounded"/>
              </a:rPr>
              <a:t>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210;p45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RNN: Forward Pass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216;p46"/>
          <p:cNvSpPr/>
          <p:nvPr/>
        </p:nvSpPr>
        <p:spPr>
          <a:xfrm>
            <a:off x="375840" y="833760"/>
            <a:ext cx="8407800" cy="414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To train RNNs, we apply backpropagation across all time steps.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Gradients are computed over unrolled network: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Loss: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9144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loss = sum([loss(y[t], output[t] ) for t in range(1, T)])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This is called Backpropagation Through Time (BPTT)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Allows learning temporal dependencies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But causes vanishing/exploding gradients in long sequences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217;p46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Backpropagation Through Time (BPTT)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223;p47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Vanishing &amp; Exploding Gradients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09" name="Google Shape;224;p47"/>
          <p:cNvGraphicFramePr/>
          <p:nvPr/>
        </p:nvGraphicFramePr>
        <p:xfrm>
          <a:off x="342000" y="833400"/>
          <a:ext cx="7797960" cy="1125720"/>
        </p:xfrm>
        <a:graphic>
          <a:graphicData uri="http://schemas.openxmlformats.org/drawingml/2006/table">
            <a:tbl>
              <a:tblPr/>
              <a:tblGrid>
                <a:gridCol w="1175040"/>
                <a:gridCol w="3710160"/>
                <a:gridCol w="291240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Problem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Cause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Effect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Vanishing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Repeated multiplication by small derivatives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Gradients disappear, no learning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Exploding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Repeated multiplication by large derivatives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Training becomes unstable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0" name="Google Shape;225;p47"/>
          <p:cNvSpPr/>
          <p:nvPr/>
        </p:nvSpPr>
        <p:spPr>
          <a:xfrm>
            <a:off x="375840" y="2348640"/>
            <a:ext cx="8407800" cy="262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Solutions: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 LSTM / GRU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 gradient clipping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lvl="1" marL="9144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○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Use residual connections (rare in vanilla RNNs)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231;p48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 Use Cases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2" name="Google Shape;232;p48"/>
          <p:cNvGraphicFramePr/>
          <p:nvPr/>
        </p:nvGraphicFramePr>
        <p:xfrm>
          <a:off x="668520" y="1397160"/>
          <a:ext cx="7806600" cy="1890360"/>
        </p:xfrm>
        <a:graphic>
          <a:graphicData uri="http://schemas.openxmlformats.org/drawingml/2006/table">
            <a:tbl>
              <a:tblPr/>
              <a:tblGrid>
                <a:gridCol w="1298520"/>
                <a:gridCol w="650808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Domain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Application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NLP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Text classification, sentiment analysis, machine translation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Time Series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Stock prediction, weather modeling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Speech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Speech recognition, synthesis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Healthcare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Patient vital sign prediction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238;p49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 Limitations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239;p49"/>
          <p:cNvSpPr/>
          <p:nvPr/>
        </p:nvSpPr>
        <p:spPr>
          <a:xfrm>
            <a:off x="375840" y="821880"/>
            <a:ext cx="8407800" cy="415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Struggles with long-term dependencies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Sequential processing limits parallelism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Training is slow and sometimes unstable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LSTM and GRU were developed to fix these issues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245;p50"/>
          <p:cNvSpPr/>
          <p:nvPr/>
        </p:nvSpPr>
        <p:spPr>
          <a:xfrm>
            <a:off x="375840" y="660600"/>
            <a:ext cx="8407800" cy="431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tensorflow.keras.models import Sequential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from tensorflow.keras.layers import Embedding, SimpleRNN, Dense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model = Sequential([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Embedding(input_dim=10000, output_dim=64),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SimpleRNN(128),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	</a:t>
            </a: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Dense(1, activation='sigmoid')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>
              <a:lnSpc>
                <a:spcPct val="200000"/>
              </a:lnSpc>
              <a:tabLst>
                <a:tab algn="l" pos="0"/>
              </a:tabLst>
            </a:pPr>
            <a:r>
              <a:rPr b="0" lang="en" sz="1400" spc="-1" strike="noStrike">
                <a:solidFill>
                  <a:srgbClr val="333f70"/>
                </a:solidFill>
                <a:latin typeface="Montserrat"/>
                <a:ea typeface="Montserrat"/>
              </a:rPr>
              <a:t>])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246;p50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RNN in TF/Keras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47;p50"/>
          <p:cNvSpPr/>
          <p:nvPr/>
        </p:nvSpPr>
        <p:spPr>
          <a:xfrm>
            <a:off x="4504680" y="2794320"/>
            <a:ext cx="4011840" cy="153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Embedding → Converts word IDs into vectors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SimpleRNN → Processes sequence step by step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marL="457200" indent="-317520">
              <a:lnSpc>
                <a:spcPct val="200000"/>
              </a:lnSpc>
              <a:buClr>
                <a:srgbClr val="333f70"/>
              </a:buClr>
              <a:buFont typeface="Unbounded"/>
              <a:buChar char="●"/>
            </a:pPr>
            <a:r>
              <a:rPr b="0" lang="en" sz="1400" spc="-1" strike="noStrike">
                <a:solidFill>
                  <a:srgbClr val="333f70"/>
                </a:solidFill>
                <a:latin typeface="Unbounded"/>
                <a:ea typeface="Unbounded"/>
              </a:rPr>
              <a:t>Dense → Classifies sentiment (e.g., IMDB review)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253;p51"/>
          <p:cNvSpPr/>
          <p:nvPr/>
        </p:nvSpPr>
        <p:spPr>
          <a:xfrm>
            <a:off x="1468080" y="218160"/>
            <a:ext cx="6004080" cy="44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4000"/>
              </a:lnSpc>
              <a:tabLst>
                <a:tab algn="l" pos="0"/>
              </a:tabLst>
            </a:pPr>
            <a:r>
              <a:rPr b="1" lang="en" sz="1800" spc="-1" strike="noStrike">
                <a:solidFill>
                  <a:srgbClr val="333f70"/>
                </a:solidFill>
                <a:latin typeface="Unbounded"/>
                <a:ea typeface="Unbounded"/>
              </a:rPr>
              <a:t>Summary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119" name="Google Shape;254;p51"/>
          <p:cNvGraphicFramePr/>
          <p:nvPr/>
        </p:nvGraphicFramePr>
        <p:xfrm>
          <a:off x="959040" y="1117800"/>
          <a:ext cx="7225560" cy="2272680"/>
        </p:xfrm>
        <a:graphic>
          <a:graphicData uri="http://schemas.openxmlformats.org/drawingml/2006/table">
            <a:tbl>
              <a:tblPr/>
              <a:tblGrid>
                <a:gridCol w="3279960"/>
                <a:gridCol w="3945600"/>
              </a:tblGrid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Aspect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 algn="ctr">
                        <a:lnSpc>
                          <a:spcPct val="115000"/>
                        </a:lnSpc>
                        <a:tabLst>
                          <a:tab algn="l" pos="0"/>
                        </a:tabLst>
                      </a:pPr>
                      <a:r>
                        <a:rPr b="1" lang="en" sz="11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Detail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33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Handles sequence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Yes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Maintains memory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Through hidden state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Learns patterns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Short-term well, long-term poorly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Use cases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NLP, time series, speech, etc.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37960"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Limitations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1080" rIns="91080" tIns="91080" bIns="9108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" sz="1400" spc="-1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</a:rPr>
                        <a:t>Vanishing gradients, slow training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260;p52" descr=""/>
          <p:cNvPicPr/>
          <p:nvPr/>
        </p:nvPicPr>
        <p:blipFill>
          <a:blip r:embed="rId1"/>
          <a:srcRect l="16653" t="0" r="16659" b="0"/>
          <a:stretch/>
        </p:blipFill>
        <p:spPr>
          <a:xfrm>
            <a:off x="0" y="0"/>
            <a:ext cx="3428280" cy="514260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261;p52"/>
          <p:cNvSpPr/>
          <p:nvPr/>
        </p:nvSpPr>
        <p:spPr>
          <a:xfrm>
            <a:off x="3925080" y="1795680"/>
            <a:ext cx="4722120" cy="88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4000"/>
              </a:lnSpc>
              <a:tabLst>
                <a:tab algn="l" pos="0"/>
              </a:tabLst>
            </a:pPr>
            <a:r>
              <a:rPr b="1" lang="en" sz="2800" spc="-1" strike="noStrike">
                <a:solidFill>
                  <a:srgbClr val="333f70"/>
                </a:solidFill>
                <a:latin typeface="Unbounded"/>
                <a:ea typeface="Unbounded"/>
              </a:rPr>
              <a:t>Questions?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62;p52"/>
          <p:cNvSpPr/>
          <p:nvPr/>
        </p:nvSpPr>
        <p:spPr>
          <a:xfrm>
            <a:off x="3925080" y="2322720"/>
            <a:ext cx="4722120" cy="4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62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333f70"/>
                </a:solidFill>
                <a:latin typeface="Open Sans"/>
                <a:ea typeface="Open Sans"/>
              </a:rPr>
              <a:t>"He who asks a question is a fool for a minute; he who does not remains a fool forever." – Confucius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2025-06-30T15:27:43Z</dcterms:modified>
  <cp:revision>3</cp:revision>
  <dc:subject/>
  <dc:title/>
</cp:coreProperties>
</file>