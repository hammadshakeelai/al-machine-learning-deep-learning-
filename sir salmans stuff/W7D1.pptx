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  <p:sldMasterId id="214748368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Unbounded"/>
      <p:regular r:id="rId32"/>
      <p:bold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40BEFD-1521-4917-A434-CE08ED0C678A}">
  <a:tblStyle styleId="{5440BEFD-1521-4917-A434-CE08ED0C678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Montserra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4.xml"/><Relationship Id="rId33" Type="http://schemas.openxmlformats.org/officeDocument/2006/relationships/font" Target="fonts/Unbounded-bold.fntdata"/><Relationship Id="rId10" Type="http://schemas.openxmlformats.org/officeDocument/2006/relationships/slide" Target="slides/slide3.xml"/><Relationship Id="rId32" Type="http://schemas.openxmlformats.org/officeDocument/2006/relationships/font" Target="fonts/Unbounded-regular.fntdata"/><Relationship Id="rId13" Type="http://schemas.openxmlformats.org/officeDocument/2006/relationships/slide" Target="slides/slide6.xml"/><Relationship Id="rId35" Type="http://schemas.openxmlformats.org/officeDocument/2006/relationships/font" Target="fonts/OpenSans-bold.fntdata"/><Relationship Id="rId12" Type="http://schemas.openxmlformats.org/officeDocument/2006/relationships/slide" Target="slides/slide5.xml"/><Relationship Id="rId34" Type="http://schemas.openxmlformats.org/officeDocument/2006/relationships/font" Target="fonts/OpenSans-regular.fntdata"/><Relationship Id="rId15" Type="http://schemas.openxmlformats.org/officeDocument/2006/relationships/slide" Target="slides/slide8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7.xml"/><Relationship Id="rId36" Type="http://schemas.openxmlformats.org/officeDocument/2006/relationships/font" Target="fonts/OpenSans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b1bdceee2_2_54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4b1bdceee2_2_54:notes"/>
          <p:cNvSpPr txBox="1"/>
          <p:nvPr>
            <p:ph idx="1" type="body"/>
          </p:nvPr>
        </p:nvSpPr>
        <p:spPr>
          <a:xfrm>
            <a:off x="571500" y="2750400"/>
            <a:ext cx="4571400" cy="224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4b1bdceee2_2_5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b1bdceee2_2_65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4b1bdceee2_2_6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b1bdceee2_2_6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9cd9cc019_0_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59cd9cc019_0_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59cd9cc019_0_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bdfe00a53_0_20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5bdfe00a53_0_20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5bdfe00a53_0_20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cbee55159_0_1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g35cbee55159_0_1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5cbee55159_0_1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84a915da3_0_3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3684a915da3_0_3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684a915da3_0_3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84a915da3_0_5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g3684a915da3_0_5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684a915da3_0_5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84a915da3_0_6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684a915da3_0_6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684a915da3_0_6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84a915da3_0_78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684a915da3_0_78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684a915da3_0_78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84a915da3_0_8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g3684a915da3_0_8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684a915da3_0_8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84a915da3_0_102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g3684a915da3_0_102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684a915da3_0_102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84a915da3_0_114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g3684a915da3_0_114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684a915da3_0_11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84a915da3_0_12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g3684a915da3_0_12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684a915da3_0_12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b94db2788_0_10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g35b94db2788_0_10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5b94db2788_0_10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cbee55159_0_1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g35cbee55159_0_1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5cbee55159_0_1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684a915da3_0_13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g3684a915da3_0_13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684a915da3_0_13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cbee55159_0_3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g35cbee55159_0_3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5cbee55159_0_3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84a915da3_0_2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g3684a915da3_0_2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684a915da3_0_2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cbee55159_0_44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g35cbee55159_0_44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5cbee55159_0_4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4b1bdceee2_2_47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g34b1bdceee2_2_47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4b1bdceee2_2_47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p33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p13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26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496125" y="822825"/>
            <a:ext cx="3902625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Artificial Intelligence (Machine Learning &amp; Deep Learning)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496125" y="3828150"/>
            <a:ext cx="8151300" cy="2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NAVTCC &amp; Strings Technologies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496125" y="4224825"/>
            <a:ext cx="226350" cy="22635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6" name="Google Shape;1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850" y="4229775"/>
            <a:ext cx="216900" cy="2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9"/>
          <p:cNvSpPr/>
          <p:nvPr/>
        </p:nvSpPr>
        <p:spPr>
          <a:xfrm>
            <a:off x="793800" y="4214475"/>
            <a:ext cx="2173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by Salman Ahmad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0363" y="0"/>
            <a:ext cx="24288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/>
          <p:nvPr/>
        </p:nvSpPr>
        <p:spPr>
          <a:xfrm>
            <a:off x="2306525" y="1182425"/>
            <a:ext cx="39315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Decision Trees — Boosting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75" name="Google Shape;175;p40"/>
          <p:cNvSpPr/>
          <p:nvPr/>
        </p:nvSpPr>
        <p:spPr>
          <a:xfrm>
            <a:off x="1883175" y="218250"/>
            <a:ext cx="54027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Outline Week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7</a:t>
            </a: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Day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1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is Boosting?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1"/>
          <p:cNvSpPr/>
          <p:nvPr/>
        </p:nvSpPr>
        <p:spPr>
          <a:xfrm>
            <a:off x="341925" y="592325"/>
            <a:ext cx="4813200" cy="4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Boosting is an ensemble learning technique.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It combines many weak models (e.g. shallow decision trees) to form a strong predictor.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Each new tree corrects the errors of the previous one.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Think of it as sequential learning: each step focuses on what's hard to predict.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2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Use Boosting with Decision Trees?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2"/>
          <p:cNvSpPr/>
          <p:nvPr/>
        </p:nvSpPr>
        <p:spPr>
          <a:xfrm>
            <a:off x="341925" y="870450"/>
            <a:ext cx="8312700" cy="3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Decision trees can easily overfit or underfit.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But when combined in boosting, small trees (stumps) become very powerful.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Especially useful for handling: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Noisy datasets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Imbalanced data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High-dimensional sparse features (like NLP)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3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How Boosting Works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>
            <a:off x="341925" y="870450"/>
            <a:ext cx="8312700" cy="3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Start with a base prediction (e.g., average or uniform).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Train the first decision tree on the original dataset.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Calculate errors (residuals).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Train a new tree to predict those residuals.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Repeat this process — each new tree learns to fix the mistakes of the ensemble.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Final prediction is a weighted sum of all tree outputs.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4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 Target y from Feature x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3" name="Google Shape;203;p44"/>
          <p:cNvGraphicFramePr/>
          <p:nvPr/>
        </p:nvGraphicFramePr>
        <p:xfrm>
          <a:off x="7867650" y="4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570375"/>
                <a:gridCol w="610700"/>
              </a:tblGrid>
              <a:tr h="30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x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y (true value)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4" name="Google Shape;204;p44"/>
          <p:cNvSpPr txBox="1"/>
          <p:nvPr/>
        </p:nvSpPr>
        <p:spPr>
          <a:xfrm>
            <a:off x="0" y="592325"/>
            <a:ext cx="7517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Step 1: Initial prediction (base model)</a:t>
            </a:r>
            <a:endParaRPr b="1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We start with a constant guess, often the mean of y: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f</a:t>
            </a:r>
            <a:r>
              <a:rPr baseline="-25000" lang="en" sz="13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0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(x) = yˉ= (3+5+7+9+11) / 5 = 7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Initial Predictions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205" name="Google Shape;205;p44"/>
          <p:cNvGraphicFramePr/>
          <p:nvPr/>
        </p:nvGraphicFramePr>
        <p:xfrm>
          <a:off x="563425" y="262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382850"/>
                <a:gridCol w="528425"/>
                <a:gridCol w="1030400"/>
                <a:gridCol w="33026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x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y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f</a:t>
                      </a:r>
                      <a:r>
                        <a:rPr b="1" baseline="-25000" lang="en" sz="1000">
                          <a:solidFill>
                            <a:schemeClr val="dk2"/>
                          </a:solidFill>
                        </a:rPr>
                        <a:t>0</a:t>
                      </a: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(x)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Residual (y - f₀)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5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 Target y from Feature x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2" name="Google Shape;212;p45"/>
          <p:cNvGraphicFramePr/>
          <p:nvPr/>
        </p:nvGraphicFramePr>
        <p:xfrm>
          <a:off x="7867650" y="4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570375"/>
                <a:gridCol w="610700"/>
              </a:tblGrid>
              <a:tr h="30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x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y (true value)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3" name="Google Shape;213;p45"/>
          <p:cNvSpPr txBox="1"/>
          <p:nvPr/>
        </p:nvSpPr>
        <p:spPr>
          <a:xfrm>
            <a:off x="0" y="592325"/>
            <a:ext cx="7517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Step 2: Train Tree 1 on Residuals</a:t>
            </a:r>
            <a:endParaRPr b="1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We fit a simple tree (decision stump) to predict the residuals: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| x ≤ 3 → predict -2.0 | x &gt; 3 → predict 3.0 |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New model: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○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h</a:t>
            </a:r>
            <a:r>
              <a:rPr baseline="-25000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(x) = -2 if x &lt;= 3 else 3</a:t>
            </a:r>
            <a:endParaRPr baseline="-250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214" name="Google Shape;214;p45"/>
          <p:cNvGraphicFramePr/>
          <p:nvPr/>
        </p:nvGraphicFramePr>
        <p:xfrm>
          <a:off x="563425" y="277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234925"/>
                <a:gridCol w="878950"/>
                <a:gridCol w="664675"/>
                <a:gridCol w="1439300"/>
                <a:gridCol w="202645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x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y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f</a:t>
                      </a:r>
                      <a:r>
                        <a:rPr b="1" baseline="-25000" lang="en" sz="1000">
                          <a:solidFill>
                            <a:schemeClr val="dk2"/>
                          </a:solidFill>
                        </a:rPr>
                        <a:t>0</a:t>
                      </a: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(x)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Residual (y - f₀)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h</a:t>
                      </a:r>
                      <a:r>
                        <a:rPr b="1" baseline="-25000" lang="en" sz="1100">
                          <a:solidFill>
                            <a:schemeClr val="dk2"/>
                          </a:solidFill>
                        </a:rPr>
                        <a:t>1</a:t>
                      </a: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(x)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 Target y from Feature x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1" name="Google Shape;221;p46"/>
          <p:cNvGraphicFramePr/>
          <p:nvPr/>
        </p:nvGraphicFramePr>
        <p:xfrm>
          <a:off x="7867650" y="4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570375"/>
                <a:gridCol w="610700"/>
              </a:tblGrid>
              <a:tr h="30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x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y (true value)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2" name="Google Shape;222;p46"/>
          <p:cNvSpPr txBox="1"/>
          <p:nvPr/>
        </p:nvSpPr>
        <p:spPr>
          <a:xfrm>
            <a:off x="0" y="592325"/>
            <a:ext cx="7517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Step 3: Update Model</a:t>
            </a:r>
            <a:endParaRPr b="1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Let’s update our predictions: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○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f</a:t>
            </a:r>
            <a:r>
              <a:rPr baseline="-25000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(x)=f</a:t>
            </a:r>
            <a:r>
              <a:rPr baseline="-25000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0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(x) + η⋅h</a:t>
            </a:r>
            <a:r>
              <a:rPr baseline="-25000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(x) 		(η = 0.5)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223" name="Google Shape;223;p46"/>
          <p:cNvGraphicFramePr/>
          <p:nvPr/>
        </p:nvGraphicFramePr>
        <p:xfrm>
          <a:off x="492975" y="227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382850"/>
                <a:gridCol w="764650"/>
                <a:gridCol w="578250"/>
                <a:gridCol w="1762975"/>
                <a:gridCol w="17629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x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y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f</a:t>
                      </a:r>
                      <a:r>
                        <a:rPr b="1" baseline="-25000" lang="en" sz="1000">
                          <a:solidFill>
                            <a:schemeClr val="dk2"/>
                          </a:solidFill>
                        </a:rPr>
                        <a:t>0</a:t>
                      </a: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(x)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h</a:t>
                      </a:r>
                      <a:r>
                        <a:rPr b="1" baseline="-25000" lang="en" sz="1100">
                          <a:solidFill>
                            <a:schemeClr val="dk2"/>
                          </a:solidFill>
                        </a:rPr>
                        <a:t>1</a:t>
                      </a: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(x)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f₁(x) = f₀ + η·h₁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8.5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8.5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7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 Target y from Feature x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0" name="Google Shape;230;p47"/>
          <p:cNvGraphicFramePr/>
          <p:nvPr/>
        </p:nvGraphicFramePr>
        <p:xfrm>
          <a:off x="7867650" y="4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570375"/>
                <a:gridCol w="610700"/>
              </a:tblGrid>
              <a:tr h="30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x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y (true value)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1" name="Google Shape;231;p47"/>
          <p:cNvSpPr txBox="1"/>
          <p:nvPr/>
        </p:nvSpPr>
        <p:spPr>
          <a:xfrm>
            <a:off x="0" y="592325"/>
            <a:ext cx="75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Step 4: Calculate New Residual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232" name="Google Shape;232;p47"/>
          <p:cNvGraphicFramePr/>
          <p:nvPr/>
        </p:nvGraphicFramePr>
        <p:xfrm>
          <a:off x="246325" y="117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447900"/>
                <a:gridCol w="677575"/>
                <a:gridCol w="1287400"/>
                <a:gridCol w="24392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x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y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f₁(x)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Residual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8.5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0.5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8.5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8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 Target y from Feature x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9" name="Google Shape;239;p48"/>
          <p:cNvGraphicFramePr/>
          <p:nvPr/>
        </p:nvGraphicFramePr>
        <p:xfrm>
          <a:off x="7867650" y="4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570375"/>
                <a:gridCol w="610700"/>
              </a:tblGrid>
              <a:tr h="30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x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y (true value)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0" name="Google Shape;240;p48"/>
          <p:cNvSpPr txBox="1"/>
          <p:nvPr/>
        </p:nvSpPr>
        <p:spPr>
          <a:xfrm>
            <a:off x="0" y="592325"/>
            <a:ext cx="7517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Step 5: Train Tree 2 on New Residuals</a:t>
            </a:r>
            <a:endParaRPr b="1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Suppose it learns: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| x ≤ 2 → predict -2 | x &gt; 2 → predict 1.5 |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New model: h</a:t>
            </a:r>
            <a:r>
              <a:rPr baseline="-25000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(x) = 2 if x &lt;= 2 else 1.5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241" name="Google Shape;241;p48"/>
          <p:cNvGraphicFramePr/>
          <p:nvPr/>
        </p:nvGraphicFramePr>
        <p:xfrm>
          <a:off x="164125" y="241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447900"/>
                <a:gridCol w="677575"/>
                <a:gridCol w="1287400"/>
                <a:gridCol w="24392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x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y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f₁(x)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h</a:t>
                      </a:r>
                      <a:r>
                        <a:rPr b="1" baseline="-25000" lang="en" sz="1100">
                          <a:solidFill>
                            <a:schemeClr val="dk2"/>
                          </a:solidFill>
                        </a:rPr>
                        <a:t>2</a:t>
                      </a: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(x)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8.5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8.5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9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 Target y from Feature x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8" name="Google Shape;248;p49"/>
          <p:cNvGraphicFramePr/>
          <p:nvPr/>
        </p:nvGraphicFramePr>
        <p:xfrm>
          <a:off x="7867650" y="4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570375"/>
                <a:gridCol w="610700"/>
              </a:tblGrid>
              <a:tr h="30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x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y (true value)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9" name="Google Shape;249;p49"/>
          <p:cNvSpPr txBox="1"/>
          <p:nvPr/>
        </p:nvSpPr>
        <p:spPr>
          <a:xfrm>
            <a:off x="0" y="592325"/>
            <a:ext cx="7517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Step 6: Update Again</a:t>
            </a:r>
            <a:endParaRPr b="1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f</a:t>
            </a:r>
            <a:r>
              <a:rPr baseline="-25000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​(x)=f</a:t>
            </a:r>
            <a:r>
              <a:rPr baseline="-25000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​(x)+η⋅h</a:t>
            </a:r>
            <a:r>
              <a:rPr baseline="-25000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​(x)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250" name="Google Shape;250;p49"/>
          <p:cNvGraphicFramePr/>
          <p:nvPr/>
        </p:nvGraphicFramePr>
        <p:xfrm>
          <a:off x="164125" y="217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291475"/>
                <a:gridCol w="440950"/>
                <a:gridCol w="730825"/>
                <a:gridCol w="1694425"/>
                <a:gridCol w="16944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x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y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f₁(x)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h</a:t>
                      </a:r>
                      <a:r>
                        <a:rPr b="1" baseline="-25000" lang="en" sz="1100">
                          <a:solidFill>
                            <a:schemeClr val="dk2"/>
                          </a:solidFill>
                        </a:rPr>
                        <a:t>2</a:t>
                      </a: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(x) 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f</a:t>
                      </a:r>
                      <a:r>
                        <a:rPr b="1" baseline="-25000" lang="en" sz="1100">
                          <a:solidFill>
                            <a:schemeClr val="dk2"/>
                          </a:solidFill>
                        </a:rPr>
                        <a:t>2</a:t>
                      </a: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(x)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-2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6.5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8.5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9.25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8.5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1.5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9.25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0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 Target y from Feature x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7" name="Google Shape;257;p50"/>
          <p:cNvGraphicFramePr/>
          <p:nvPr/>
        </p:nvGraphicFramePr>
        <p:xfrm>
          <a:off x="7867650" y="4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570375"/>
                <a:gridCol w="610700"/>
              </a:tblGrid>
              <a:tr h="30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x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y (true value)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3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5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8" name="Google Shape;258;p50"/>
          <p:cNvSpPr txBox="1"/>
          <p:nvPr/>
        </p:nvSpPr>
        <p:spPr>
          <a:xfrm>
            <a:off x="93950" y="611600"/>
            <a:ext cx="7517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Repeat...</a:t>
            </a:r>
            <a:endParaRPr b="1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Each iteration: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○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Predicts the residuals (errors) of the current model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○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Fits a new tree to fix them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○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Adds the new tree’s predictions (weighted by learning rate) to the ensemble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1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 Target y from Feature x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1"/>
          <p:cNvSpPr txBox="1"/>
          <p:nvPr/>
        </p:nvSpPr>
        <p:spPr>
          <a:xfrm>
            <a:off x="1068625" y="611600"/>
            <a:ext cx="76329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General Form of the Inference Function (Regression)</a:t>
            </a:r>
            <a:endParaRPr b="1" sz="11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After M iterations, the model’s prediction for input xx is:</a:t>
            </a:r>
            <a:endParaRPr sz="11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y^(x)=f</a:t>
            </a:r>
            <a:r>
              <a:rPr baseline="-25000"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M</a:t>
            </a: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(x)= f</a:t>
            </a:r>
            <a:r>
              <a:rPr baseline="-25000"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0</a:t>
            </a: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(x) + η⋅h</a:t>
            </a:r>
            <a:r>
              <a:rPr baseline="-25000"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(x) + η⋅h</a:t>
            </a:r>
            <a:r>
              <a:rPr baseline="-25000"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(x) + ⋯ + η⋅h</a:t>
            </a:r>
            <a:r>
              <a:rPr baseline="-25000"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M</a:t>
            </a: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(x)</a:t>
            </a:r>
            <a:endParaRPr sz="11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Where:</a:t>
            </a:r>
            <a:endParaRPr sz="11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	f</a:t>
            </a:r>
            <a:r>
              <a:rPr baseline="-25000"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0</a:t>
            </a: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​(x): initial prediction (e.g., mean of target values)</a:t>
            </a:r>
            <a:endParaRPr sz="11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	h</a:t>
            </a:r>
            <a:r>
              <a:rPr baseline="-25000"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i</a:t>
            </a: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​(x): prediction from the i-th decision tree</a:t>
            </a:r>
            <a:endParaRPr sz="11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	η: learning rate (usually between 0.01 and 0.3)</a:t>
            </a:r>
            <a:endParaRPr b="1" sz="11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It’s a weighted additive model.</a:t>
            </a:r>
            <a:endParaRPr b="1" sz="11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nbounded"/>
              <a:buChar char="●"/>
            </a:pP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Each iteration:</a:t>
            </a:r>
            <a:endParaRPr sz="11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nbounded"/>
              <a:buChar char="○"/>
            </a:pP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Predicts the residuals (errors) of the current model</a:t>
            </a:r>
            <a:endParaRPr sz="11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nbounded"/>
              <a:buChar char="○"/>
            </a:pP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Fits a new tree to fix them</a:t>
            </a:r>
            <a:endParaRPr sz="11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nbounded"/>
              <a:buChar char="○"/>
            </a:pPr>
            <a:r>
              <a:rPr lang="en" sz="110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Adds the new tree’s predictions (weighted by learning rate) to the ensemble</a:t>
            </a:r>
            <a:endParaRPr sz="110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2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Types of Boosting Algorithms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2" name="Google Shape;272;p52"/>
          <p:cNvGraphicFramePr/>
          <p:nvPr/>
        </p:nvGraphicFramePr>
        <p:xfrm>
          <a:off x="287213" y="108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1568050"/>
                <a:gridCol w="4415200"/>
                <a:gridCol w="24662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Method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Key Idea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Common Use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AdaBoost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Weights data points and misclassified examples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Classification tasks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Gradient Boosting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Models errors as gradients and fits new trees to them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Classification + Regression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XGBoost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Optimized version of Gradient Boosting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High-performance ML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LightGBM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Leaf-wise tree growth (faster)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Big data, real-time models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CatBoost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Native categorical support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NLP &amp; structured data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3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Gradient Boosting Example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3"/>
          <p:cNvSpPr/>
          <p:nvPr/>
        </p:nvSpPr>
        <p:spPr>
          <a:xfrm>
            <a:off x="341925" y="592325"/>
            <a:ext cx="8309700" cy="4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Predict spam vs. ham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Start with predictions (say, 0.5 for every point)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Calculate loss: cross-entropy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Fit a tree to predict the gradient of loss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Update the prediction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4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Gradient Boosting Example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4"/>
          <p:cNvSpPr/>
          <p:nvPr/>
        </p:nvSpPr>
        <p:spPr>
          <a:xfrm>
            <a:off x="341925" y="439925"/>
            <a:ext cx="8309700" cy="4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from sklearn.datasets import load_breast_cancer</a:t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from sklearn.model_selection import train_test_split</a:t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from sklearn.ensemble import GradientBoostingClassifier</a:t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from sklearn.preprocessing import StandardScaler</a:t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data = load_breast_cancer()</a:t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X, y = data.data, data.target</a:t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X_train, X_test, y_train, y_test = train_test_split(X, y, test_size=0.2, random_state=42)</a:t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scaler = StandardScaler()</a:t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X_train = scaler.fit_transform(X_train)</a:t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X_test = scaler.transform(X_test)l</a:t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model = GradientBoostingClassifier(n_estimators=100, learning_rate=0.1, max_depth=3)</a:t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model.fit(X_train, y_train)</a:t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print("Accuracy:", model.score(X_test, y_test))</a:t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5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Boosting in NLP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3" name="Google Shape;293;p55"/>
          <p:cNvGraphicFramePr/>
          <p:nvPr/>
        </p:nvGraphicFramePr>
        <p:xfrm>
          <a:off x="1241188" y="140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2699250"/>
                <a:gridCol w="39623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NLP Task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Use of Boosting Trees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Spam Detection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TF-IDF → GBT/XGBoost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Intent Classification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Bag-of-Words → AdaBoost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Text Quality Scoring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Linguistic features → XGBoost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Sentiment Analysis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Token counts, POS features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6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Boosting Vs Bagging (RF)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0" name="Google Shape;300;p56"/>
          <p:cNvGraphicFramePr/>
          <p:nvPr/>
        </p:nvGraphicFramePr>
        <p:xfrm>
          <a:off x="1041938" y="160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{5440BEFD-1521-4917-A434-CE08ED0C678A}</a:tableStyleId>
              </a:tblPr>
              <a:tblGrid>
                <a:gridCol w="1903400"/>
                <a:gridCol w="2767350"/>
                <a:gridCol w="23893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Feature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Random Forest (Bagging)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</a:rPr>
                        <a:t>Boosting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Training Style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Parallel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Sequential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Focus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Reduce variance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Reduce bias + variance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Risk of Overfitting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Low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Moderate (if too deep)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Model Complexity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Many deep trees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Many shallow trees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7"/>
          <p:cNvSpPr/>
          <p:nvPr/>
        </p:nvSpPr>
        <p:spPr>
          <a:xfrm>
            <a:off x="1529850" y="108425"/>
            <a:ext cx="598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Practice Task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57"/>
          <p:cNvSpPr/>
          <p:nvPr/>
        </p:nvSpPr>
        <p:spPr>
          <a:xfrm>
            <a:off x="341925" y="592325"/>
            <a:ext cx="8309700" cy="4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Task: Sentiment Classification with Gradient Boosted Trees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Dataset: Tweets labeled positive/negative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Steps: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Preprocess using TfidfVectorizer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Train GradientBoostingClassifier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Tune n_estimators, max_depth, learning_rate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Evaluate F1-score and compare to Random Forest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58"/>
          <p:cNvPicPr preferRelativeResize="0"/>
          <p:nvPr/>
        </p:nvPicPr>
        <p:blipFill rotWithShape="1">
          <a:blip r:embed="rId3">
            <a:alphaModFix/>
          </a:blip>
          <a:srcRect b="0" l="16656" r="16663" t="0"/>
          <a:stretch/>
        </p:blipFill>
        <p:spPr>
          <a:xfrm>
            <a:off x="0" y="0"/>
            <a:ext cx="3428550" cy="51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58"/>
          <p:cNvSpPr/>
          <p:nvPr/>
        </p:nvSpPr>
        <p:spPr>
          <a:xfrm>
            <a:off x="3925125" y="1795500"/>
            <a:ext cx="47223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Questions?</a:t>
            </a:r>
            <a:endParaRPr b="0" sz="2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8"/>
          <p:cNvSpPr/>
          <p:nvPr/>
        </p:nvSpPr>
        <p:spPr>
          <a:xfrm>
            <a:off x="3925125" y="2322675"/>
            <a:ext cx="47223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"He who asks a question is a fool for a minute; he who does not remains a fool forever." – Confucius</a:t>
            </a:r>
            <a:endParaRPr b="0" sz="1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