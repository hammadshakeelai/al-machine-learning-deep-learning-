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gif" ContentType="image/gif"/>
  <Override PartName="/ppt/media/image6.jpeg" ContentType="image/jpeg"/>
  <Override PartName="/ppt/media/image5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E670E81-3D8F-44F1-ACBE-4660BC58803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5631A0-0CFB-44DF-B78C-C181697D061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AB4FF3-8B08-4CD6-B282-95418E312A4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B7E966-A7B2-4727-91A1-5980498D9E0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F32569-3E85-4D66-91A7-68C13F480AC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CFD518-F294-43B3-A7DF-EFE3EAAE800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C793F1-268E-4AE8-A99F-010CAD82F8F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8E263E-E2C9-45AA-AC88-996A820CE65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A2DEFF-2E5E-4149-BD0C-41BCC4D31A1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F5718E-F075-4115-BDDF-1EAF81A2C7A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3A123A-5968-4415-BC42-10868E87887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289D75-A447-44B2-812D-4B4518FEEF1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23445A-7208-485D-AB6B-ACC0238E0F0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3E634F-2C9B-48EF-B7B3-C9AAE1C2A10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BC3F8A-623B-4C50-8BF9-63685885353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9258FE-788A-4409-9887-B095A849476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4EAD7C-18CE-48E7-952D-687CC716375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B981BC-5755-4056-9AA6-BE5B3BEC017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6BB17F-3CEF-4D99-9AA3-31A86613A17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2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421B2E-0867-45FF-A6DD-2AA4D80EE8B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2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C9D0C9-768C-4EF7-9041-78B1A8ECC0F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2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333DBF-9844-476C-A036-DBCD0416FA4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2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CD3E8A-D0CC-45B8-A44D-57768448D48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2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502BBC-B1A7-4E19-B39B-6CE7155E7C5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2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6E4235-8B09-4400-8217-3D7DA6AB827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D00B8E-3A1A-41E6-A233-B1364D70A1D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2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E0EA09-AE44-47CD-A08E-B7BB04E0C1E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10400" y="0"/>
            <a:ext cx="24285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1776960" y="1158840"/>
            <a:ext cx="569520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Introduction to Natural Language Processing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Text Preprocessing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algn="ctr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696680" y="218160"/>
            <a:ext cx="58176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6 Day 1&amp;2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154404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NLP?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375840" y="886320"/>
            <a:ext cx="8407800" cy="32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NLP is the intersection of linguistics and machine learning.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It enables computers to understand, interpret, and generate human language.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Why? Because text data is everywhere: emails, chats, documents, reviews.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Key Goals of NLP: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Understand meaning and structure of language.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Translate, summarize, classify, or answer questions.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88;p4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Language Components in NLP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89;p42"/>
          <p:cNvSpPr/>
          <p:nvPr/>
        </p:nvSpPr>
        <p:spPr>
          <a:xfrm>
            <a:off x="610560" y="728640"/>
            <a:ext cx="71629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Syntax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Grammar rules of sentence structure.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Ensures correctness; helps identify sentence boundaries.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Parsing, translation, grammar checking.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90;p42"/>
          <p:cNvSpPr/>
          <p:nvPr/>
        </p:nvSpPr>
        <p:spPr>
          <a:xfrm>
            <a:off x="686880" y="2557440"/>
            <a:ext cx="71629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Semantics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Meaning of words and phrases.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Needed for comprehension.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QA systems, chatbots, sentiment analysis.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96;p43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Language Components in NLP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97;p43"/>
          <p:cNvSpPr/>
          <p:nvPr/>
        </p:nvSpPr>
        <p:spPr>
          <a:xfrm>
            <a:off x="610560" y="728640"/>
            <a:ext cx="71629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Pragmatics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Contextual meaning.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Understand intentions beyond literal text.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Sarcasm detection, conversation modeling.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98;p43"/>
          <p:cNvSpPr/>
          <p:nvPr/>
        </p:nvSpPr>
        <p:spPr>
          <a:xfrm>
            <a:off x="686880" y="2557440"/>
            <a:ext cx="71629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Discourse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Coherence across multiple sentences.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Track subjects, pronouns, and topics.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Summarization, coreference resolution.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4;p44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Curves and Future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205;p44"/>
          <p:cNvSpPr/>
          <p:nvPr/>
        </p:nvSpPr>
        <p:spPr>
          <a:xfrm>
            <a:off x="610560" y="728640"/>
            <a:ext cx="7162920" cy="44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Classical NLP: Rule-based systems.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Statistical NLP: Feature-based models (SVM, CRF).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Deep NLP: Embeddings, RNNs, Transformers.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Current Trends: LLMs (like ChatGPT), few-shot learning.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Future Directions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More contextual understanding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Multimodal NLP (text + vision)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Emotion-aware and empathetic AI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1;p45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Preprocessing for NLP: Why?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212;p45"/>
          <p:cNvSpPr/>
          <p:nvPr/>
        </p:nvSpPr>
        <p:spPr>
          <a:xfrm>
            <a:off x="610560" y="1566720"/>
            <a:ext cx="360468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Raw text is messy. Machines can't handle ambiguity.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Goal: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Clean and structure text to make it processable.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Google Shape;213;p45" descr="a washing machine with a smiley face in a circle on it . (Provided by Tenor)"/>
          <p:cNvPicPr/>
          <p:nvPr/>
        </p:nvPicPr>
        <p:blipFill>
          <a:blip r:embed="rId1"/>
          <a:stretch/>
        </p:blipFill>
        <p:spPr>
          <a:xfrm>
            <a:off x="5601960" y="1194120"/>
            <a:ext cx="2943720" cy="294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19;p46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Preprocessing – steps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220;p46"/>
          <p:cNvSpPr/>
          <p:nvPr/>
        </p:nvSpPr>
        <p:spPr>
          <a:xfrm>
            <a:off x="610560" y="728640"/>
            <a:ext cx="830700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Noise Removal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Remove irrelevant characters (punctuation, HTML tags, emojis).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Reduces clutter and irrelevant information.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Any NLP task (preprocessing step).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Stopword Removal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Remove common words (e.g., "the", "is").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These add little semantic value.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Bag-of-Words, TF-IDF models.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26;p47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Preprocessing – steps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227;p47"/>
          <p:cNvSpPr/>
          <p:nvPr/>
        </p:nvSpPr>
        <p:spPr>
          <a:xfrm>
            <a:off x="610560" y="728640"/>
            <a:ext cx="830700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3.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Tokenization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Split text into words or sentences.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Fundamental for any NLP operation.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Everywhere — classification, parsing, NER.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4.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Word Segmentation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Identify word boundaries in unspaced languages.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Required for languages like Chinese or Thai.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Asian NLP, cross-lingual applications.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33;p48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Preprocessing – steps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234;p48"/>
          <p:cNvSpPr/>
          <p:nvPr/>
        </p:nvSpPr>
        <p:spPr>
          <a:xfrm>
            <a:off x="610560" y="728640"/>
            <a:ext cx="830700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5.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Stemming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Reduce words to base/root form (e.g., "running" -&gt; "run").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Treat similar words the same.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Search, classification, topic modeling.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6.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Lemmatization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Reduce to base form using linguistic rules.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More accurate than stemming.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Search engines, chatbots, QA systems.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40;p49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NLP Preprocessing – steps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241;p49"/>
          <p:cNvSpPr/>
          <p:nvPr/>
        </p:nvSpPr>
        <p:spPr>
          <a:xfrm>
            <a:off x="610560" y="728640"/>
            <a:ext cx="830700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7.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	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Normalization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What: Convert text to a standard format (lowercase, spelling).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Why: Reduces sparsity.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 Text classification, clustering.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47;p50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POS (Part of Speech) Tagging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248;p50"/>
          <p:cNvSpPr/>
          <p:nvPr/>
        </p:nvSpPr>
        <p:spPr>
          <a:xfrm>
            <a:off x="610560" y="728640"/>
            <a:ext cx="8307000" cy="23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Assigns grammatical category to each word: noun, verb, adjective, etc.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Enables syntactic parsing, chunking, and understanding of sentence structure.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Useful for downstream tasks like named entity recognition, sentiment analysis.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Implemented via models like HMMs, CRFs, or deep learning-based taggers.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Modern tools: spaCy (fast and accurate), NLTK (educational), Stanza (multi-language).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54;p5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Named Entity Recognition (NER)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255;p51"/>
          <p:cNvSpPr/>
          <p:nvPr/>
        </p:nvSpPr>
        <p:spPr>
          <a:xfrm>
            <a:off x="610560" y="728640"/>
            <a:ext cx="8307000" cy="23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Extracts named entities from text: people, locations, organizations, dates.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Common annotation formats: BIO, BIOES tagging.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Trained using labeled datasets like CoNLL-2003, OntoNotes.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Crucial for information extraction, question answering, knowledge graph building.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Pretrained models are available in spaCy, HuggingFace Transformers, Flair.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61;p5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Chunking and Chinking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62;p52"/>
          <p:cNvSpPr/>
          <p:nvPr/>
        </p:nvSpPr>
        <p:spPr>
          <a:xfrm>
            <a:off x="610560" y="728640"/>
            <a:ext cx="8307000" cy="23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Chunking: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Groups tagged words into syntactic units (noun phrases, verb phrases).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1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Chinking: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 Removes specific elements from previously formed chunks.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Common in shallow parsing and identifying phrase structures.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Regex-based chunking can be used in NLTK.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Example: Chunk "The quick brown fox" as one noun phrase (NP).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68;p53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WordNet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69;p53"/>
          <p:cNvSpPr/>
          <p:nvPr/>
        </p:nvSpPr>
        <p:spPr>
          <a:xfrm>
            <a:off x="610560" y="728640"/>
            <a:ext cx="8307000" cy="23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lexical database organized by synonym sets (synsets).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Includes relations: synonyms, antonyms, hyponyms, hypernyms.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Enables semantic similarity scoring and word sense disambiguation.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Used in tools like Lesk algorithm and semantic search systems.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Integrated with NLTK for exploration and use in NLP applications.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75;p54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Text as Features — Bag-of-Words (BoW)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76;p54"/>
          <p:cNvSpPr/>
          <p:nvPr/>
        </p:nvSpPr>
        <p:spPr>
          <a:xfrm>
            <a:off x="457920" y="962640"/>
            <a:ext cx="761940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Converts text into fixed-length vector of word frequencies.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Discards grammar, word order, and context.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High dimensional and sparse.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Still useful for basic classification, spam detection, clustering.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Can be enhanced with n-grams to retain some local word order.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75;p 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Text as Features — Bag-of-Words (BoW)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339840" y="745560"/>
            <a:ext cx="8505360" cy="367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282;p55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Text as Features — TF-IDF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283;p55"/>
          <p:cNvSpPr/>
          <p:nvPr/>
        </p:nvSpPr>
        <p:spPr>
          <a:xfrm>
            <a:off x="457920" y="962640"/>
            <a:ext cx="761940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Term Frequency–Inverse Document Frequency gives importance to rare words.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Reduces the impact of common terms in the corpus.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Better than BoW when documents vary in length.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Commonly used in document classification, retrieval, topic modeling.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Implemented via TfidfVectorizer in scikit-learn.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289;p56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Feature Selection &amp; Extraction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290;p56"/>
          <p:cNvSpPr/>
          <p:nvPr/>
        </p:nvSpPr>
        <p:spPr>
          <a:xfrm>
            <a:off x="457920" y="962640"/>
            <a:ext cx="832572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Selects the most informative features to improve model performance.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Reduces overfitting and speeds up training.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Methods include: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Chi-square test: identifies features most associated with target.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Mutual information: measures dependency between feature and label.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PCA/TruncatedSVD: dimensionality reduction techniques.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Used before training ML models or embedding inputs.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296;p57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Document Similarity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297;p57"/>
          <p:cNvSpPr/>
          <p:nvPr/>
        </p:nvSpPr>
        <p:spPr>
          <a:xfrm>
            <a:off x="457920" y="962640"/>
            <a:ext cx="832572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Measures how similar two documents are in meaning or structure.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Techniques include: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Cosine similarity (most common for BoW/TF-IDF vectors).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Jaccard similarity (based on set overlap).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Euclidean distance (for short, normalized vectors).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Embedding-based similarity using Word2Vec, GloVe, BERT.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Applications: document clustering, duplicate detection, recommendations.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303;p58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Libraries for NLP – NLTK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304;p58"/>
          <p:cNvSpPr/>
          <p:nvPr/>
        </p:nvSpPr>
        <p:spPr>
          <a:xfrm>
            <a:off x="457920" y="962640"/>
            <a:ext cx="832572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Educational and modular.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Provides tools for: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Tokenization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POS tagging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Stemming and Lemmatization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Chunking and parsing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WordNet access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Good for learning and prototyping.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310;p59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Libraries for NLP – NLTK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311;p59"/>
          <p:cNvSpPr/>
          <p:nvPr/>
        </p:nvSpPr>
        <p:spPr>
          <a:xfrm>
            <a:off x="457920" y="962640"/>
            <a:ext cx="832572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Industrial-strength NLP library.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Key features: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Pretrained NER, POS, and dependency parsers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Fast vectorization and tokenization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Integration with deep learning pipelines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Support for multiple languages and domain adaptation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Excellent choice for production NLP systems.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317;p60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Sentiment Analysis of Movie Reviews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318;p60"/>
          <p:cNvSpPr/>
          <p:nvPr/>
        </p:nvSpPr>
        <p:spPr>
          <a:xfrm>
            <a:off x="457920" y="660600"/>
            <a:ext cx="8325720" cy="41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Dataset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IMDB Movie Reviews Dataset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50,000 reviews labeled as positive or negative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Available via tensorflow_datasets or Kaggle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Preprocessing Steps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Text Cleaning: Lowercasing, punctuation removal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Tokenization: Word-level using nltk or spaCy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Stopword Removal: Remove common words that add noise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Vectorization: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For ML model: Use TF-IDF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For DL model: Use word embeddings (e.g., Word2Vec, GloVe)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324;p6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Sentiment Analysis of Movie Reviews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325;p61"/>
          <p:cNvSpPr/>
          <p:nvPr/>
        </p:nvSpPr>
        <p:spPr>
          <a:xfrm>
            <a:off x="457920" y="660600"/>
            <a:ext cx="8325720" cy="41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ML Model: Logistic Regression with TF-IDF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Convert preprocessed text into TF-IDF features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Train a logistic regression classifier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Evaluate using accuracy, precision, recall, F1-score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Deep Learning Model: LSTM with Embeddings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Tokenize and pad sequences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Use Embedding + LSTM layers in Keras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Train and validate the model on IMDB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31;p6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Sentiment Analysis of Movie Reviews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332;p62"/>
          <p:cNvSpPr/>
          <p:nvPr/>
        </p:nvSpPr>
        <p:spPr>
          <a:xfrm>
            <a:off x="457920" y="660600"/>
            <a:ext cx="8325720" cy="41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Comparison of Models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Logistic Regression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LSTM Model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Metrics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Accuracy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Speed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Performance on Long Sequences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338;p63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339;p63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340;p63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2025-06-24T23:39:40Z</dcterms:modified>
  <cp:revision>3</cp:revision>
  <dc:subject/>
  <dc:title/>
</cp:coreProperties>
</file>