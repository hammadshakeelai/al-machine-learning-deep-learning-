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gif" ContentType="image/gif"/>
  <Override PartName="/ppt/media/image8.gif" ContentType="image/gif"/>
  <Override PartName="/ppt/media/image9.gif" ContentType="image/gif"/>
  <Override PartName="/ppt/media/image11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86868C6-A602-4CBE-8610-F0AA461D2E5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5CEAAC-3396-467C-80A1-411742DC75C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CB3130-6D6E-46A6-AA63-9EE4949045A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30AA5D-2353-4D92-B5AB-C3C5437B423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053516-9BDB-41F0-AB37-867663C7C4F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197A82-EE41-4724-BF8F-4752D3F2F32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7F84DD-B180-40D3-974A-2178B575669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CF30A9-0DB7-4058-8844-1163733AF71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E21CC4-9F98-47C3-889C-88CE64D0051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676C3F-71CA-49B0-BED1-1B9C64B70BC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A1A08B-900F-49C8-9D5B-D113D43EB04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09A839-E802-4875-9710-6B74BC6EED2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735028-0D98-4BF0-A346-F9387CCF644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55537E-861B-48B6-B012-F8851893605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D95E57-F44D-4E16-9389-DC5F3C9914B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496D8E-9536-47A9-96B2-0D85CD41D0D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72EBBC-F3E4-45A6-9892-243898404CD5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657287-2368-4554-9CA9-C4BB0852E6E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1B6A87-6F3E-44A6-9466-9CDCDB99D57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867DCD-F980-48B0-B969-E81B2ACBD8C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2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504F16-E7C5-43FD-BA79-1CD69B9049C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2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8AAE95-085B-40E4-9FE3-99EFDB4CE41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2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E3C46B-1616-43A5-9E1B-8AB6468542F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2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1F7243-F072-4C23-864D-4FE144E92AD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2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0DEF3C-B430-48C2-9A00-E8D1F700EE4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2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358148-9340-428C-ADD4-18F7235D2267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2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55EE78-BCDB-4616-85B5-6D46A1DE3172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3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99B5B0-4E54-4EA7-9872-21D517BEDAE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3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1AAB24-A440-4A85-AA57-A9D8FEE97F7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gi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gi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400" cy="26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NAVTCC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6080" cy="22608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720" cy="21672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3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5808960" y="677160"/>
            <a:ext cx="2838240" cy="400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4436640" y="352116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4089240" y="127656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76;p40"/>
          <p:cNvSpPr/>
          <p:nvPr/>
        </p:nvSpPr>
        <p:spPr>
          <a:xfrm>
            <a:off x="4436640" y="114804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77;p40"/>
          <p:cNvSpPr/>
          <p:nvPr/>
        </p:nvSpPr>
        <p:spPr>
          <a:xfrm>
            <a:off x="4564800" y="1012680"/>
            <a:ext cx="13320" cy="373464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78;p40"/>
          <p:cNvSpPr/>
          <p:nvPr/>
        </p:nvSpPr>
        <p:spPr>
          <a:xfrm>
            <a:off x="4481640" y="117108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79;p40"/>
          <p:cNvSpPr/>
          <p:nvPr/>
        </p:nvSpPr>
        <p:spPr>
          <a:xfrm>
            <a:off x="845640" y="1180800"/>
            <a:ext cx="31233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Machine learning introduction and types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80;p40"/>
          <p:cNvSpPr/>
          <p:nvPr/>
        </p:nvSpPr>
        <p:spPr>
          <a:xfrm>
            <a:off x="4693320" y="187920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81;p40"/>
          <p:cNvSpPr/>
          <p:nvPr/>
        </p:nvSpPr>
        <p:spPr>
          <a:xfrm>
            <a:off x="4436640" y="175068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82;p40"/>
          <p:cNvSpPr/>
          <p:nvPr/>
        </p:nvSpPr>
        <p:spPr>
          <a:xfrm>
            <a:off x="4481640" y="177336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83;p40"/>
          <p:cNvSpPr/>
          <p:nvPr/>
        </p:nvSpPr>
        <p:spPr>
          <a:xfrm>
            <a:off x="5126760" y="1747440"/>
            <a:ext cx="33314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Classical machine learning pipeline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84;p40"/>
          <p:cNvSpPr/>
          <p:nvPr/>
        </p:nvSpPr>
        <p:spPr>
          <a:xfrm>
            <a:off x="4089240" y="242136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85;p40"/>
          <p:cNvSpPr/>
          <p:nvPr/>
        </p:nvSpPr>
        <p:spPr>
          <a:xfrm>
            <a:off x="4436640" y="229284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86;p40"/>
          <p:cNvSpPr/>
          <p:nvPr/>
        </p:nvSpPr>
        <p:spPr>
          <a:xfrm>
            <a:off x="4481640" y="2315520"/>
            <a:ext cx="1800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87;p40"/>
          <p:cNvSpPr/>
          <p:nvPr/>
        </p:nvSpPr>
        <p:spPr>
          <a:xfrm>
            <a:off x="425880" y="2325600"/>
            <a:ext cx="354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data collection, preprocessing, feature crafting,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r">
              <a:lnSpc>
                <a:spcPct val="127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88;p40"/>
          <p:cNvSpPr/>
          <p:nvPr/>
        </p:nvSpPr>
        <p:spPr>
          <a:xfrm>
            <a:off x="4693320" y="296352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89;p40"/>
          <p:cNvSpPr/>
          <p:nvPr/>
        </p:nvSpPr>
        <p:spPr>
          <a:xfrm>
            <a:off x="4436640" y="2835360"/>
            <a:ext cx="270360" cy="270360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9525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90;p40"/>
          <p:cNvSpPr/>
          <p:nvPr/>
        </p:nvSpPr>
        <p:spPr>
          <a:xfrm>
            <a:off x="4481640" y="2857680"/>
            <a:ext cx="18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91;p40"/>
          <p:cNvSpPr/>
          <p:nvPr/>
        </p:nvSpPr>
        <p:spPr>
          <a:xfrm>
            <a:off x="5174640" y="2867760"/>
            <a:ext cx="237564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modeling, testing and evaluation,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Google Shape;192;p40"/>
          <p:cNvSpPr/>
          <p:nvPr/>
        </p:nvSpPr>
        <p:spPr>
          <a:xfrm>
            <a:off x="2035440" y="218160"/>
            <a:ext cx="508536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4 Day 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Google Shape;193;p40"/>
          <p:cNvSpPr/>
          <p:nvPr/>
        </p:nvSpPr>
        <p:spPr>
          <a:xfrm>
            <a:off x="4089240" y="3640320"/>
            <a:ext cx="360720" cy="13320"/>
          </a:xfrm>
          <a:prstGeom prst="roundRect">
            <a:avLst>
              <a:gd name="adj" fmla="val 354232"/>
            </a:avLst>
          </a:prstGeom>
          <a:solidFill>
            <a:srgbClr val="bcdb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4680" bIns="4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94;p40"/>
          <p:cNvSpPr/>
          <p:nvPr/>
        </p:nvSpPr>
        <p:spPr>
          <a:xfrm>
            <a:off x="4481640" y="3534840"/>
            <a:ext cx="1800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195;p40"/>
          <p:cNvSpPr/>
          <p:nvPr/>
        </p:nvSpPr>
        <p:spPr>
          <a:xfrm>
            <a:off x="425880" y="3544920"/>
            <a:ext cx="354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7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333f70"/>
                </a:solidFill>
                <a:latin typeface="Unbounded"/>
                <a:ea typeface="Unbounded"/>
              </a:rPr>
              <a:t>deployment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01;p41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Machine Learning?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02;p41"/>
          <p:cNvSpPr/>
          <p:nvPr/>
        </p:nvSpPr>
        <p:spPr>
          <a:xfrm>
            <a:off x="342000" y="1816560"/>
            <a:ext cx="4982760" cy="14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“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Learning is any process by which a system improves performance from experience.”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Herbert Simon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Google Shape;203;p41" descr=""/>
          <p:cNvPicPr/>
          <p:nvPr/>
        </p:nvPicPr>
        <p:blipFill>
          <a:blip r:embed="rId1"/>
          <a:stretch/>
        </p:blipFill>
        <p:spPr>
          <a:xfrm>
            <a:off x="5477400" y="820800"/>
            <a:ext cx="3513960" cy="390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09;p42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Machine Learning?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210;p42"/>
          <p:cNvSpPr/>
          <p:nvPr/>
        </p:nvSpPr>
        <p:spPr>
          <a:xfrm>
            <a:off x="951480" y="1359360"/>
            <a:ext cx="709416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subset of AI that allows computers to learn from data and make decisions or predictions without being explicitly programmed.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ML systems improve automatically through experience.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Let the data speak — instead of hard-coding rules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16;p43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Machine Learning?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217;p43"/>
          <p:cNvSpPr/>
          <p:nvPr/>
        </p:nvSpPr>
        <p:spPr>
          <a:xfrm>
            <a:off x="951480" y="1359360"/>
            <a:ext cx="7094160" cy="26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Definition by Tom Mitchell (1998): Machine Learning is the study of algorithms that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improve their performance 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at some task 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with experience 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well-defined learning task is given by &lt;P, T, 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23;p44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Machine Learning?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224;p44"/>
          <p:cNvSpPr/>
          <p:nvPr/>
        </p:nvSpPr>
        <p:spPr>
          <a:xfrm>
            <a:off x="3029760" y="1445040"/>
            <a:ext cx="1594800" cy="630720"/>
          </a:xfrm>
          <a:prstGeom prst="rect">
            <a:avLst/>
          </a:prstGeom>
          <a:solidFill>
            <a:schemeClr val="lt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Computer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225;p44"/>
          <p:cNvSpPr/>
          <p:nvPr/>
        </p:nvSpPr>
        <p:spPr>
          <a:xfrm>
            <a:off x="1009800" y="1251000"/>
            <a:ext cx="5194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Data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226;p44"/>
          <p:cNvSpPr/>
          <p:nvPr/>
        </p:nvSpPr>
        <p:spPr>
          <a:xfrm>
            <a:off x="1009800" y="1922040"/>
            <a:ext cx="9176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Program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7" name="Google Shape;227;p44"/>
          <p:cNvCxnSpPr>
            <a:stCxn id="125" idx="3"/>
            <a:endCxn id="124" idx="1"/>
          </p:cNvCxnSpPr>
          <p:nvPr/>
        </p:nvCxnSpPr>
        <p:spPr>
          <a:xfrm>
            <a:off x="1529280" y="1418760"/>
            <a:ext cx="1500840" cy="34200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128" name="Google Shape;228;p44"/>
          <p:cNvCxnSpPr>
            <a:stCxn id="126" idx="3"/>
            <a:endCxn id="124" idx="1"/>
          </p:cNvCxnSpPr>
          <p:nvPr/>
        </p:nvCxnSpPr>
        <p:spPr>
          <a:xfrm flipV="1">
            <a:off x="1927440" y="1760400"/>
            <a:ext cx="1102680" cy="32976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sp>
        <p:nvSpPr>
          <p:cNvPr id="129" name="Google Shape;229;p44"/>
          <p:cNvSpPr/>
          <p:nvPr/>
        </p:nvSpPr>
        <p:spPr>
          <a:xfrm>
            <a:off x="5637960" y="1583640"/>
            <a:ext cx="9176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Output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0" name="Google Shape;230;p44"/>
          <p:cNvCxnSpPr>
            <a:stCxn id="124" idx="3"/>
            <a:endCxn id="129" idx="1"/>
          </p:cNvCxnSpPr>
          <p:nvPr/>
        </p:nvCxnSpPr>
        <p:spPr>
          <a:xfrm flipV="1">
            <a:off x="4624560" y="1751400"/>
            <a:ext cx="1013760" cy="936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sp>
        <p:nvSpPr>
          <p:cNvPr id="131" name="Google Shape;231;p44"/>
          <p:cNvSpPr/>
          <p:nvPr/>
        </p:nvSpPr>
        <p:spPr>
          <a:xfrm>
            <a:off x="3029760" y="3654720"/>
            <a:ext cx="1594800" cy="630720"/>
          </a:xfrm>
          <a:prstGeom prst="rect">
            <a:avLst/>
          </a:prstGeom>
          <a:solidFill>
            <a:schemeClr val="lt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Computer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232;p44"/>
          <p:cNvSpPr/>
          <p:nvPr/>
        </p:nvSpPr>
        <p:spPr>
          <a:xfrm>
            <a:off x="1009800" y="3460680"/>
            <a:ext cx="5194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Data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233;p44"/>
          <p:cNvSpPr/>
          <p:nvPr/>
        </p:nvSpPr>
        <p:spPr>
          <a:xfrm>
            <a:off x="1009800" y="4131720"/>
            <a:ext cx="9176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Output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4" name="Google Shape;234;p44"/>
          <p:cNvCxnSpPr>
            <a:stCxn id="132" idx="3"/>
            <a:endCxn id="131" idx="1"/>
          </p:cNvCxnSpPr>
          <p:nvPr/>
        </p:nvCxnSpPr>
        <p:spPr>
          <a:xfrm>
            <a:off x="1529280" y="3628440"/>
            <a:ext cx="1500840" cy="34200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cxnSp>
        <p:nvCxnSpPr>
          <p:cNvPr id="135" name="Google Shape;235;p44"/>
          <p:cNvCxnSpPr>
            <a:stCxn id="133" idx="3"/>
            <a:endCxn id="131" idx="1"/>
          </p:cNvCxnSpPr>
          <p:nvPr/>
        </p:nvCxnSpPr>
        <p:spPr>
          <a:xfrm flipV="1">
            <a:off x="1927440" y="3970080"/>
            <a:ext cx="1102680" cy="32976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sp>
        <p:nvSpPr>
          <p:cNvPr id="136" name="Google Shape;236;p44"/>
          <p:cNvSpPr/>
          <p:nvPr/>
        </p:nvSpPr>
        <p:spPr>
          <a:xfrm>
            <a:off x="5637960" y="3793320"/>
            <a:ext cx="9176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  <a:ea typeface="Arial"/>
              </a:rPr>
              <a:t>Program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7" name="Google Shape;237;p44"/>
          <p:cNvCxnSpPr>
            <a:stCxn id="131" idx="3"/>
            <a:endCxn id="136" idx="1"/>
          </p:cNvCxnSpPr>
          <p:nvPr/>
        </p:nvCxnSpPr>
        <p:spPr>
          <a:xfrm flipV="1">
            <a:off x="4624560" y="3961080"/>
            <a:ext cx="1013760" cy="9360"/>
          </a:xfrm>
          <a:prstGeom prst="straightConnector1">
            <a:avLst/>
          </a:prstGeom>
          <a:ln w="9525">
            <a:solidFill>
              <a:srgbClr val="44546a"/>
            </a:solidFill>
            <a:round/>
            <a:tailEnd len="med" type="triangle" w="med"/>
          </a:ln>
        </p:spPr>
      </p:cxnSp>
      <p:sp>
        <p:nvSpPr>
          <p:cNvPr id="138" name="Google Shape;238;p44"/>
          <p:cNvSpPr/>
          <p:nvPr/>
        </p:nvSpPr>
        <p:spPr>
          <a:xfrm>
            <a:off x="1009800" y="717480"/>
            <a:ext cx="2845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Traditional Programming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239;p44"/>
          <p:cNvSpPr/>
          <p:nvPr/>
        </p:nvSpPr>
        <p:spPr>
          <a:xfrm>
            <a:off x="1009800" y="3003480"/>
            <a:ext cx="2845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Machine Learning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245;p45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When to use ML?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46;p45"/>
          <p:cNvSpPr/>
          <p:nvPr/>
        </p:nvSpPr>
        <p:spPr>
          <a:xfrm>
            <a:off x="745920" y="1387800"/>
            <a:ext cx="7160760" cy="15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Human expertise does not exist (navigating on Mars)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Humans can’t explain their expertise (speech recognition)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Models must be customized (personalized medicine)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Models are based on huge amounts of data (genomics)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252;p46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When Not to use ML?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253;p46"/>
          <p:cNvSpPr/>
          <p:nvPr/>
        </p:nvSpPr>
        <p:spPr>
          <a:xfrm>
            <a:off x="1408680" y="1387800"/>
            <a:ext cx="5889240" cy="15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You have very little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The task can be solved with simple rules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-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You need 100% deterministic output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259;p47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When to use ML?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Google Shape;260;p47" descr=""/>
          <p:cNvPicPr/>
          <p:nvPr/>
        </p:nvPicPr>
        <p:blipFill>
          <a:blip r:embed="rId1"/>
          <a:stretch/>
        </p:blipFill>
        <p:spPr>
          <a:xfrm>
            <a:off x="3983040" y="1120320"/>
            <a:ext cx="5160600" cy="345564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261;p47"/>
          <p:cNvSpPr/>
          <p:nvPr/>
        </p:nvSpPr>
        <p:spPr>
          <a:xfrm>
            <a:off x="245520" y="1671840"/>
            <a:ext cx="3362400" cy="20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A classic example of a task that requires machine learning: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It is very hard to say what makes a 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267;p48"/>
          <p:cNvSpPr/>
          <p:nvPr/>
        </p:nvSpPr>
        <p:spPr>
          <a:xfrm>
            <a:off x="245520" y="71640"/>
            <a:ext cx="8658720" cy="52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Recognizing patterns: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9144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Facial identities or facial expressions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9144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Handwritten or spoken words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9144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Medical images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4572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Generating patterns: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9144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Generating images or motion sequences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4572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Recognizing anomalies: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9144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Unusual credit card transactions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9144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Unusual patterns of sensor readings in a nuclear power plant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4572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Prediction: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914400" indent="-324000">
              <a:lnSpc>
                <a:spcPct val="20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500" spc="-1" strike="noStrike">
                <a:solidFill>
                  <a:schemeClr val="dk2"/>
                </a:solidFill>
                <a:latin typeface="Unbounded"/>
                <a:ea typeface="Unbounded"/>
              </a:rPr>
              <a:t>Future stock prices or currency exchange rates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268;p48"/>
          <p:cNvSpPr/>
          <p:nvPr/>
        </p:nvSpPr>
        <p:spPr>
          <a:xfrm>
            <a:off x="7283520" y="51840"/>
            <a:ext cx="179388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Other Examples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274;p49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Machine Learning?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275;p49"/>
          <p:cNvSpPr/>
          <p:nvPr/>
        </p:nvSpPr>
        <p:spPr>
          <a:xfrm>
            <a:off x="342000" y="1816560"/>
            <a:ext cx="4982760" cy="14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“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Machine Learning: Field of study that gives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computers the ability to learn without being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explicitly programmed.” — Arthur Samuel (1959)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" name="Google Shape;276;p49" descr=""/>
          <p:cNvPicPr/>
          <p:nvPr/>
        </p:nvPicPr>
        <p:blipFill>
          <a:blip r:embed="rId1"/>
          <a:stretch/>
        </p:blipFill>
        <p:spPr>
          <a:xfrm>
            <a:off x="6273720" y="1779120"/>
            <a:ext cx="2327040" cy="154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82;p50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Defining the Learning Task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83;p50"/>
          <p:cNvSpPr/>
          <p:nvPr/>
        </p:nvSpPr>
        <p:spPr>
          <a:xfrm>
            <a:off x="372960" y="768240"/>
            <a:ext cx="847728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Improve on task T, with respect to performance metric P, based on experience 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284;p50"/>
          <p:cNvSpPr/>
          <p:nvPr/>
        </p:nvSpPr>
        <p:spPr>
          <a:xfrm>
            <a:off x="284760" y="1264680"/>
            <a:ext cx="8477280" cy="29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T: Playing checkers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P: Percentage of games won against an arbitrary opponent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E: Playing practice games against itself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T: Recognizing hand-written words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P: Percentage of words correctly classified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E: Database of human-labeled images of handwritten words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290;p51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Defining the Learning Task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291;p51"/>
          <p:cNvSpPr/>
          <p:nvPr/>
        </p:nvSpPr>
        <p:spPr>
          <a:xfrm>
            <a:off x="372960" y="768240"/>
            <a:ext cx="847728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Improve on task T, with respect to performance metric P, based on experience 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292;p51"/>
          <p:cNvSpPr/>
          <p:nvPr/>
        </p:nvSpPr>
        <p:spPr>
          <a:xfrm>
            <a:off x="284760" y="1264680"/>
            <a:ext cx="8477280" cy="36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T: Driving on four-lane highways using vision sensors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P: Average distance traveled before a human-judged error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E: A sequence of images and steering commands recorded while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observing a human driver.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T: Categorize email messages as spam or legitimate.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P: Percentage of email messages correctly classified.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E: Database of emails, some with human-given labels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298;p52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Types of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99;p52"/>
          <p:cNvSpPr/>
          <p:nvPr/>
        </p:nvSpPr>
        <p:spPr>
          <a:xfrm>
            <a:off x="1275480" y="989280"/>
            <a:ext cx="6180120" cy="35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Supervised (inductive)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Given: training data + desired outputs (labels)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Unsupervised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Given: training data (without desired outputs)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Semi-supervised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Given: training data + a few desired outputs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Reinforcement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Rewards from sequence of actions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305;p53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Types of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306;p53"/>
          <p:cNvSpPr/>
          <p:nvPr/>
        </p:nvSpPr>
        <p:spPr>
          <a:xfrm>
            <a:off x="56160" y="989280"/>
            <a:ext cx="6180120" cy="35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Supervised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Learns from labeled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Input → Output (e.g., image → “cat”)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Goal: Predict labels on new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Classification (e.g., spam vs. not spam)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Regression (e.g., predict house price)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Google Shape;307;p53" descr="a penguin is pointing at a blackboard that says abcde (Provided by Tenor)"/>
          <p:cNvPicPr/>
          <p:nvPr/>
        </p:nvPicPr>
        <p:blipFill>
          <a:blip r:embed="rId1"/>
          <a:stretch/>
        </p:blipFill>
        <p:spPr>
          <a:xfrm>
            <a:off x="6237000" y="1125720"/>
            <a:ext cx="2602080" cy="260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313;p54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Types of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Google Shape;314;p54"/>
          <p:cNvSpPr/>
          <p:nvPr/>
        </p:nvSpPr>
        <p:spPr>
          <a:xfrm>
            <a:off x="56160" y="989280"/>
            <a:ext cx="6180120" cy="35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Unsupervised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Learns from unlabeled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Finds patterns or structure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Clustering (e.g., customer segments)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Dimensionality reduction (e.g., PCA)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5" name="Google Shape;315;p54" descr="two blue circles with white lines on them are in the middle of a galaxy (Provided by Tenor)"/>
          <p:cNvPicPr/>
          <p:nvPr/>
        </p:nvPicPr>
        <p:blipFill>
          <a:blip r:embed="rId1"/>
          <a:stretch/>
        </p:blipFill>
        <p:spPr>
          <a:xfrm>
            <a:off x="5476320" y="3375000"/>
            <a:ext cx="3667320" cy="176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321;p55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Types of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322;p55"/>
          <p:cNvSpPr/>
          <p:nvPr/>
        </p:nvSpPr>
        <p:spPr>
          <a:xfrm>
            <a:off x="589680" y="989280"/>
            <a:ext cx="7779960" cy="35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Semi-Supervised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Mix of labeled + unlabeled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Helps when labels are costly but you have lots of raw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hybrid approach that combines a small amount of labeled data with a large amount of unlabeled data.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Learns patterns from both labeled and unlabeled examples.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Positioned between supervised and unsupervised learning.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328;p56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Types of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329;p56"/>
          <p:cNvSpPr/>
          <p:nvPr/>
        </p:nvSpPr>
        <p:spPr>
          <a:xfrm>
            <a:off x="208800" y="668520"/>
            <a:ext cx="8818920" cy="43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Reinforcement Learning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Learns via trial and error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Agent interacts with environment, gets rewards/penalties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Given a sequence of states and actions with (delayed) rewards, output a policy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Policy is a mapping from states à actions that tells you what to do in a given state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Game-playing (e.g., AlphaGo)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■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Robotics and self-driving cars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335;p57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Reinforcement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1" name="Google Shape;336;p57" descr="a drawing of a wooden stick sitting on top of a black block . (Provided by Tenor)"/>
          <p:cNvPicPr/>
          <p:nvPr/>
        </p:nvPicPr>
        <p:blipFill>
          <a:blip r:embed="rId1"/>
          <a:stretch/>
        </p:blipFill>
        <p:spPr>
          <a:xfrm>
            <a:off x="2330280" y="1158120"/>
            <a:ext cx="4743000" cy="315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342;p58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Reinforcement Learning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3" name="Google Shape;343;p58" descr=""/>
          <p:cNvPicPr/>
          <p:nvPr/>
        </p:nvPicPr>
        <p:blipFill>
          <a:blip r:embed="rId1"/>
          <a:stretch/>
        </p:blipFill>
        <p:spPr>
          <a:xfrm>
            <a:off x="2109960" y="849960"/>
            <a:ext cx="4924080" cy="1904760"/>
          </a:xfrm>
          <a:prstGeom prst="rect">
            <a:avLst/>
          </a:prstGeom>
          <a:ln w="0">
            <a:noFill/>
          </a:ln>
        </p:spPr>
      </p:pic>
      <p:sp>
        <p:nvSpPr>
          <p:cNvPr id="174" name="Google Shape;344;p58"/>
          <p:cNvSpPr/>
          <p:nvPr/>
        </p:nvSpPr>
        <p:spPr>
          <a:xfrm>
            <a:off x="1642320" y="3232800"/>
            <a:ext cx="58590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Agent observes state at step t : st ∈S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produces action at step t : at ∈ A(st 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gets resulting reward : rt +1 ∈ℜ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and resulting next state : st +1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350;p59"/>
          <p:cNvSpPr/>
          <p:nvPr/>
        </p:nvSpPr>
        <p:spPr>
          <a:xfrm>
            <a:off x="1530000" y="18468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2300" spc="-1" strike="noStrike">
                <a:solidFill>
                  <a:srgbClr val="333f70"/>
                </a:solidFill>
                <a:latin typeface="Unbounded"/>
                <a:ea typeface="Unbounded"/>
              </a:rPr>
              <a:t>Classical ML Pipeline</a:t>
            </a:r>
            <a:endParaRPr b="0" lang="en-US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351;p59"/>
          <p:cNvSpPr/>
          <p:nvPr/>
        </p:nvSpPr>
        <p:spPr>
          <a:xfrm>
            <a:off x="1566000" y="2547000"/>
            <a:ext cx="58590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 structured process that automates and streamlines the development of machine learning models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352;p59"/>
          <p:cNvSpPr/>
          <p:nvPr/>
        </p:nvSpPr>
        <p:spPr>
          <a:xfrm>
            <a:off x="392040" y="136476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Data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353;p59"/>
          <p:cNvSpPr/>
          <p:nvPr/>
        </p:nvSpPr>
        <p:spPr>
          <a:xfrm>
            <a:off x="1773000" y="136476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Pre-processing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354;p59"/>
          <p:cNvSpPr/>
          <p:nvPr/>
        </p:nvSpPr>
        <p:spPr>
          <a:xfrm>
            <a:off x="3153600" y="136476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Feature Crafting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355;p59"/>
          <p:cNvSpPr/>
          <p:nvPr/>
        </p:nvSpPr>
        <p:spPr>
          <a:xfrm>
            <a:off x="4534560" y="136476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356;p59"/>
          <p:cNvSpPr/>
          <p:nvPr/>
        </p:nvSpPr>
        <p:spPr>
          <a:xfrm>
            <a:off x="5915520" y="136476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357;p59"/>
          <p:cNvSpPr/>
          <p:nvPr/>
        </p:nvSpPr>
        <p:spPr>
          <a:xfrm>
            <a:off x="7296480" y="136476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Deploy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363;p60"/>
          <p:cNvSpPr/>
          <p:nvPr/>
        </p:nvSpPr>
        <p:spPr>
          <a:xfrm>
            <a:off x="476280" y="1024560"/>
            <a:ext cx="8124840" cy="24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Gather raw data from: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Databases, APIs, files (CSV, JSON)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Sensors, surveys, logs, scraping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Storing it in a data repository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Storing processed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Storing raw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Example: Collecting customer purchase history for churn prediction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364;p60"/>
          <p:cNvSpPr/>
          <p:nvPr/>
        </p:nvSpPr>
        <p:spPr>
          <a:xfrm>
            <a:off x="39204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333f70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Data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365;p60"/>
          <p:cNvSpPr/>
          <p:nvPr/>
        </p:nvSpPr>
        <p:spPr>
          <a:xfrm>
            <a:off x="17730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Pre-processing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366;p60"/>
          <p:cNvSpPr/>
          <p:nvPr/>
        </p:nvSpPr>
        <p:spPr>
          <a:xfrm>
            <a:off x="31536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Feature Crafting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367;p60"/>
          <p:cNvSpPr/>
          <p:nvPr/>
        </p:nvSpPr>
        <p:spPr>
          <a:xfrm>
            <a:off x="453456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368;p60"/>
          <p:cNvSpPr/>
          <p:nvPr/>
        </p:nvSpPr>
        <p:spPr>
          <a:xfrm>
            <a:off x="591552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369;p60"/>
          <p:cNvSpPr/>
          <p:nvPr/>
        </p:nvSpPr>
        <p:spPr>
          <a:xfrm>
            <a:off x="729648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Deploy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375;p61"/>
          <p:cNvSpPr/>
          <p:nvPr/>
        </p:nvSpPr>
        <p:spPr>
          <a:xfrm>
            <a:off x="476280" y="1024560"/>
            <a:ext cx="8124840" cy="24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Clean and structure raw data: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Handle missing values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Normalize/standardize numeric features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Encode categorical variables (label/one-hot encoding)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Remove duplicates &amp; outliers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ETL and ELT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Goal: Make data usable for ML models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376;p61"/>
          <p:cNvSpPr/>
          <p:nvPr/>
        </p:nvSpPr>
        <p:spPr>
          <a:xfrm>
            <a:off x="39204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Data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377;p61"/>
          <p:cNvSpPr/>
          <p:nvPr/>
        </p:nvSpPr>
        <p:spPr>
          <a:xfrm>
            <a:off x="1773000" y="-6840"/>
            <a:ext cx="1584720" cy="62028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Pre-processing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378;p61"/>
          <p:cNvSpPr/>
          <p:nvPr/>
        </p:nvSpPr>
        <p:spPr>
          <a:xfrm>
            <a:off x="31536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Feature Crafting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379;p61"/>
          <p:cNvSpPr/>
          <p:nvPr/>
        </p:nvSpPr>
        <p:spPr>
          <a:xfrm>
            <a:off x="453456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oogle Shape;380;p61"/>
          <p:cNvSpPr/>
          <p:nvPr/>
        </p:nvSpPr>
        <p:spPr>
          <a:xfrm>
            <a:off x="591552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381;p61"/>
          <p:cNvSpPr/>
          <p:nvPr/>
        </p:nvSpPr>
        <p:spPr>
          <a:xfrm>
            <a:off x="729648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Deploy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387;p62"/>
          <p:cNvSpPr/>
          <p:nvPr/>
        </p:nvSpPr>
        <p:spPr>
          <a:xfrm>
            <a:off x="476280" y="1024560"/>
            <a:ext cx="8124840" cy="27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 feature (also known as a variable or attribute) is an individual measurable property or characteristic of a data point that is used as input for a machine learning algorithm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Extract, select, or create meaningful inputs: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Combine or transform columns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Text → word counts, TF-IDF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Date → day/month/weekend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Polynomial features, interaction terms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Key to improving model performance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Google Shape;388;p62"/>
          <p:cNvSpPr/>
          <p:nvPr/>
        </p:nvSpPr>
        <p:spPr>
          <a:xfrm>
            <a:off x="39204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Data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389;p62"/>
          <p:cNvSpPr/>
          <p:nvPr/>
        </p:nvSpPr>
        <p:spPr>
          <a:xfrm>
            <a:off x="17730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Pre-processing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390;p62"/>
          <p:cNvSpPr/>
          <p:nvPr/>
        </p:nvSpPr>
        <p:spPr>
          <a:xfrm>
            <a:off x="3153600" y="-6840"/>
            <a:ext cx="1584720" cy="62028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Feature Crafting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391;p62"/>
          <p:cNvSpPr/>
          <p:nvPr/>
        </p:nvSpPr>
        <p:spPr>
          <a:xfrm>
            <a:off x="453456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Google Shape;392;p62"/>
          <p:cNvSpPr/>
          <p:nvPr/>
        </p:nvSpPr>
        <p:spPr>
          <a:xfrm>
            <a:off x="591552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393;p62"/>
          <p:cNvSpPr/>
          <p:nvPr/>
        </p:nvSpPr>
        <p:spPr>
          <a:xfrm>
            <a:off x="729648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Deploy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399;p63"/>
          <p:cNvSpPr/>
          <p:nvPr/>
        </p:nvSpPr>
        <p:spPr>
          <a:xfrm>
            <a:off x="476280" y="1024560"/>
            <a:ext cx="8124840" cy="24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Choose algorithm (e.g., Decision Tree, SVM, Random Forest, etc.)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Split data into: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Train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validation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test sets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Train model to learn patterns from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Tune hyperparameters (e.g., learning rate, max_depth)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Google Shape;400;p63"/>
          <p:cNvSpPr/>
          <p:nvPr/>
        </p:nvSpPr>
        <p:spPr>
          <a:xfrm>
            <a:off x="39204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Data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401;p63"/>
          <p:cNvSpPr/>
          <p:nvPr/>
        </p:nvSpPr>
        <p:spPr>
          <a:xfrm>
            <a:off x="17730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Pre-processing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402;p63"/>
          <p:cNvSpPr/>
          <p:nvPr/>
        </p:nvSpPr>
        <p:spPr>
          <a:xfrm>
            <a:off x="31536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Feature Crafting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oogle Shape;403;p63"/>
          <p:cNvSpPr/>
          <p:nvPr/>
        </p:nvSpPr>
        <p:spPr>
          <a:xfrm>
            <a:off x="4534560" y="-6840"/>
            <a:ext cx="1584720" cy="62028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Google Shape;404;p63"/>
          <p:cNvSpPr/>
          <p:nvPr/>
        </p:nvSpPr>
        <p:spPr>
          <a:xfrm>
            <a:off x="591552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405;p63"/>
          <p:cNvSpPr/>
          <p:nvPr/>
        </p:nvSpPr>
        <p:spPr>
          <a:xfrm>
            <a:off x="729648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Deploy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411;p64"/>
          <p:cNvSpPr/>
          <p:nvPr/>
        </p:nvSpPr>
        <p:spPr>
          <a:xfrm>
            <a:off x="476280" y="1024560"/>
            <a:ext cx="8124840" cy="337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Test model on unseen data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Use metrics: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Classification: Accuracy, Precision, Recall, F1-score, AUC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Regression: MSE, MAE, R²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Cross-validation to check generalization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Avoid overfitting/underfitting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Overfitting  — model learns the training data too well, including noise and irrelevant details, leads to poor performance on test set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Underfitting — model is too simple to capture the underlying patterns in the data, poor performance on test and train set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Google Shape;412;p64"/>
          <p:cNvSpPr/>
          <p:nvPr/>
        </p:nvSpPr>
        <p:spPr>
          <a:xfrm>
            <a:off x="39204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Data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413;p64"/>
          <p:cNvSpPr/>
          <p:nvPr/>
        </p:nvSpPr>
        <p:spPr>
          <a:xfrm>
            <a:off x="17730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Pre-processing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Google Shape;414;p64"/>
          <p:cNvSpPr/>
          <p:nvPr/>
        </p:nvSpPr>
        <p:spPr>
          <a:xfrm>
            <a:off x="31536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Feature Crafting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415;p64"/>
          <p:cNvSpPr/>
          <p:nvPr/>
        </p:nvSpPr>
        <p:spPr>
          <a:xfrm>
            <a:off x="453456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Google Shape;416;p64"/>
          <p:cNvSpPr/>
          <p:nvPr/>
        </p:nvSpPr>
        <p:spPr>
          <a:xfrm>
            <a:off x="5915520" y="-6840"/>
            <a:ext cx="1584720" cy="62028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417;p64"/>
          <p:cNvSpPr/>
          <p:nvPr/>
        </p:nvSpPr>
        <p:spPr>
          <a:xfrm>
            <a:off x="729648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Deploy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423;p65"/>
          <p:cNvSpPr/>
          <p:nvPr/>
        </p:nvSpPr>
        <p:spPr>
          <a:xfrm>
            <a:off x="476280" y="1024560"/>
            <a:ext cx="8124840" cy="17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Integrate the trained model into real-world applications: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Expose via API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Embed in web/mobile apps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Monitor performance in production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44546a"/>
              </a:buClr>
              <a:buFont typeface="Unbounded"/>
              <a:buChar char="-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Optionally retrain with new data (MLOps)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424;p65"/>
          <p:cNvSpPr/>
          <p:nvPr/>
        </p:nvSpPr>
        <p:spPr>
          <a:xfrm>
            <a:off x="39204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Data Collection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425;p65"/>
          <p:cNvSpPr/>
          <p:nvPr/>
        </p:nvSpPr>
        <p:spPr>
          <a:xfrm>
            <a:off x="17730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Pre-processing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426;p65"/>
          <p:cNvSpPr/>
          <p:nvPr/>
        </p:nvSpPr>
        <p:spPr>
          <a:xfrm>
            <a:off x="315360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Feature Crafting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427;p65"/>
          <p:cNvSpPr/>
          <p:nvPr/>
        </p:nvSpPr>
        <p:spPr>
          <a:xfrm>
            <a:off x="453456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428;p65"/>
          <p:cNvSpPr/>
          <p:nvPr/>
        </p:nvSpPr>
        <p:spPr>
          <a:xfrm>
            <a:off x="5915520" y="-6840"/>
            <a:ext cx="1584720" cy="620280"/>
          </a:xfrm>
          <a:prstGeom prst="chevron">
            <a:avLst>
              <a:gd name="adj" fmla="val 50000"/>
            </a:avLst>
          </a:prstGeom>
          <a:solidFill>
            <a:srgbClr val="4a86e8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Testing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429;p65"/>
          <p:cNvSpPr/>
          <p:nvPr/>
        </p:nvSpPr>
        <p:spPr>
          <a:xfrm>
            <a:off x="7296480" y="-6840"/>
            <a:ext cx="1584720" cy="620280"/>
          </a:xfrm>
          <a:prstGeom prst="chevron">
            <a:avLst>
              <a:gd name="adj" fmla="val 50000"/>
            </a:avLst>
          </a:prstGeom>
          <a:solidFill>
            <a:schemeClr val="dk2"/>
          </a:solidFill>
          <a:ln w="9525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lt1"/>
                </a:solidFill>
                <a:latin typeface="Arial"/>
                <a:ea typeface="Arial"/>
              </a:rPr>
              <a:t>Deploy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435;p66" descr=""/>
          <p:cNvPicPr/>
          <p:nvPr/>
        </p:nvPicPr>
        <p:blipFill>
          <a:blip r:embed="rId1"/>
          <a:srcRect l="16653" t="0" r="16659" b="0"/>
          <a:stretch/>
        </p:blipFill>
        <p:spPr>
          <a:xfrm>
            <a:off x="0" y="0"/>
            <a:ext cx="3428280" cy="5142600"/>
          </a:xfrm>
          <a:prstGeom prst="rect">
            <a:avLst/>
          </a:prstGeom>
          <a:ln w="0">
            <a:noFill/>
          </a:ln>
        </p:spPr>
      </p:pic>
      <p:sp>
        <p:nvSpPr>
          <p:cNvPr id="226" name="Google Shape;436;p66"/>
          <p:cNvSpPr/>
          <p:nvPr/>
        </p:nvSpPr>
        <p:spPr>
          <a:xfrm>
            <a:off x="3925080" y="1795680"/>
            <a:ext cx="4722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Google Shape;437;p66"/>
          <p:cNvSpPr/>
          <p:nvPr/>
        </p:nvSpPr>
        <p:spPr>
          <a:xfrm>
            <a:off x="3925080" y="2322720"/>
            <a:ext cx="4722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2025-05-14T14:25:12Z</dcterms:modified>
  <cp:revision>1</cp:revision>
  <dc:subject/>
  <dc:title/>
</cp:coreProperties>
</file>