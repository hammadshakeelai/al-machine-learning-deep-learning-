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y="5143500" cx="9144000"/>
  <p:notesSz cx="6858000" cy="9144000"/>
  <p:embeddedFontLst>
    <p:embeddedFont>
      <p:font typeface="Unbounded"/>
      <p:regular r:id="rId39"/>
      <p:bold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861000-0E59-4A49-A630-A455AFE61FFB}">
  <a:tblStyle styleId="{22861000-0E59-4A49-A630-A455AFE61F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nbounded-bold.fntdata"/><Relationship Id="rId20" Type="http://schemas.openxmlformats.org/officeDocument/2006/relationships/slide" Target="slides/slide12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4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3.xml"/><Relationship Id="rId43" Type="http://schemas.openxmlformats.org/officeDocument/2006/relationships/font" Target="fonts/OpenSans-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Unbounded-regular.fntdata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1bdceee2_2_54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4b1bdceee2_2_54:notes"/>
          <p:cNvSpPr txBox="1"/>
          <p:nvPr>
            <p:ph idx="1" type="body"/>
          </p:nvPr>
        </p:nvSpPr>
        <p:spPr>
          <a:xfrm>
            <a:off x="571500" y="2750400"/>
            <a:ext cx="4571400" cy="22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4b1bdceee2_2_5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1bdceee2_2_65:notes"/>
          <p:cNvSpPr/>
          <p:nvPr>
            <p:ph idx="2" type="sldImg"/>
          </p:nvPr>
        </p:nvSpPr>
        <p:spPr>
          <a:xfrm>
            <a:off x="571500" y="714375"/>
            <a:ext cx="4571400" cy="1928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4b1bdceee2_2_6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b1bdceee2_2_6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2422f3453_0_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g362422f3453_0_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2422f3453_0_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ed4bae3a8_0_14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6ed4bae3a8_0_14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ed4bae3a8_0_14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ed4bae3a8_0_2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6ed4bae3a8_0_2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6ed4bae3a8_0_2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ed4bae3a8_0_3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6ed4bae3a8_0_3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6ed4bae3a8_0_3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ed4bae3a8_0_3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6ed4bae3a8_0_3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ed4bae3a8_0_3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ed4bae3a8_0_4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6ed4bae3a8_0_4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ed4bae3a8_0_4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ed4bae3a8_0_5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6ed4bae3a8_0_5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6ed4bae3a8_0_5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ed4bae3a8_0_6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6ed4bae3a8_0_6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ed4bae3a8_0_6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6ed4bae3a8_0_7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6ed4bae3a8_0_7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6ed4bae3a8_0_7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ed4bae3a8_0_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6ed4bae3a8_0_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ed4bae3a8_0_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e86e77694_0_3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6e86e77694_0_3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e86e77694_0_3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e86e77694_0_1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6e86e77694_0_1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6e86e77694_0_1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e86e77694_0_62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36e86e77694_0_62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e86e77694_0_62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e86e77694_0_2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6e86e77694_0_2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e86e77694_0_2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e86e77694_0_29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6e86e77694_0_29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6e86e77694_0_29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e86e77694_0_3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6e86e77694_0_3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6e86e77694_0_3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e86e77694_0_71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g36e86e77694_0_71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e86e77694_0_71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e86e77694_0_4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g36e86e77694_0_4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6e86e77694_0_4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e86e77694_0_8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6e86e77694_0_8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6e86e77694_0_8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e86e77694_0_8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6e86e77694_0_8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6e86e77694_0_8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e86e77694_0_9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6e86e77694_0_9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6e86e77694_0_9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e86e77694_0_106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36e86e77694_0_106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6e86e77694_0_106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ed115a62d_0_0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6ed115a62d_0_0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6ed115a62d_0_0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ed115a62d_0_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6ed115a62d_0_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6ed115a62d_0_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ed115a62d_0_17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6ed115a62d_0_17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6ed115a62d_0_17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ed115a62d_0_28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g36ed115a62d_0_28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6ed115a62d_0_28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e86e77694_0_5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6e86e77694_0_5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6e86e77694_0_5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b1bdceee2_2_475:notes"/>
          <p:cNvSpPr/>
          <p:nvPr>
            <p:ph idx="2" type="sldImg"/>
          </p:nvPr>
        </p:nvSpPr>
        <p:spPr>
          <a:xfrm>
            <a:off x="571500" y="714375"/>
            <a:ext cx="4571400" cy="192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g34b1bdceee2_2_475:notes"/>
          <p:cNvSpPr txBox="1"/>
          <p:nvPr>
            <p:ph idx="1" type="body"/>
          </p:nvPr>
        </p:nvSpPr>
        <p:spPr>
          <a:xfrm>
            <a:off x="571500" y="2750400"/>
            <a:ext cx="45714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651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4b1bdceee2_2_475:notes"/>
          <p:cNvSpPr txBox="1"/>
          <p:nvPr>
            <p:ph idx="12" type="sldNum"/>
          </p:nvPr>
        </p:nvSpPr>
        <p:spPr>
          <a:xfrm>
            <a:off x="3237300" y="5428350"/>
            <a:ext cx="247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b="0" lang="en" sz="110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1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subTitle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6" name="Google Shape;116;p29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idx="1" type="subTitle"/>
          </p:nvPr>
        </p:nvSpPr>
        <p:spPr>
          <a:xfrm>
            <a:off x="457200" y="205200"/>
            <a:ext cx="8229375" cy="39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2" type="body"/>
          </p:nvPr>
        </p:nvSpPr>
        <p:spPr>
          <a:xfrm>
            <a:off x="4673925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457200" y="1203525"/>
            <a:ext cx="4015800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3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p35"/>
          <p:cNvSpPr txBox="1"/>
          <p:nvPr>
            <p:ph idx="3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57200" y="1203525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457200" y="2761650"/>
            <a:ext cx="8229375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7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457200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37"/>
          <p:cNvSpPr txBox="1"/>
          <p:nvPr>
            <p:ph idx="2" type="body"/>
          </p:nvPr>
        </p:nvSpPr>
        <p:spPr>
          <a:xfrm>
            <a:off x="4673925" y="1203525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3" type="body"/>
          </p:nvPr>
        </p:nvSpPr>
        <p:spPr>
          <a:xfrm>
            <a:off x="457200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4" type="body"/>
          </p:nvPr>
        </p:nvSpPr>
        <p:spPr>
          <a:xfrm>
            <a:off x="4673925" y="2761650"/>
            <a:ext cx="40158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2" type="body"/>
          </p:nvPr>
        </p:nvSpPr>
        <p:spPr>
          <a:xfrm>
            <a:off x="323955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3" type="body"/>
          </p:nvPr>
        </p:nvSpPr>
        <p:spPr>
          <a:xfrm>
            <a:off x="6021900" y="1203525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4" type="body"/>
          </p:nvPr>
        </p:nvSpPr>
        <p:spPr>
          <a:xfrm>
            <a:off x="4572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5" type="body"/>
          </p:nvPr>
        </p:nvSpPr>
        <p:spPr>
          <a:xfrm>
            <a:off x="323955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6" type="body"/>
          </p:nvPr>
        </p:nvSpPr>
        <p:spPr>
          <a:xfrm>
            <a:off x="6021900" y="2761650"/>
            <a:ext cx="2649600" cy="142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0" y="0"/>
            <a:ext cx="9143550" cy="51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7" name="Google Shape;107;p26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4400" y="4843575"/>
            <a:ext cx="1076175" cy="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 txBox="1"/>
          <p:nvPr>
            <p:ph type="title"/>
          </p:nvPr>
        </p:nvSpPr>
        <p:spPr>
          <a:xfrm>
            <a:off x="457200" y="205200"/>
            <a:ext cx="8229375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457200" y="1203525"/>
            <a:ext cx="8229375" cy="298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496125" y="822825"/>
            <a:ext cx="390262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Artificial Intelligence (Machine Learning &amp; Deep Learning)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496125" y="3828150"/>
            <a:ext cx="8151300" cy="2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NAVT</a:t>
            </a:r>
            <a:r>
              <a:rPr lang="en"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" sz="11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 &amp; Strings Technologies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496125" y="4224825"/>
            <a:ext cx="226350" cy="22635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6250" spcFirstLastPara="1" rIns="562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6" name="Google Shape;1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850" y="4229775"/>
            <a:ext cx="216900" cy="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/>
          <p:nvPr/>
        </p:nvSpPr>
        <p:spPr>
          <a:xfrm>
            <a:off x="793800" y="4214475"/>
            <a:ext cx="21735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Salman Ahmad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363" y="0"/>
            <a:ext cx="2428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/>
          <p:nvPr/>
        </p:nvSpPr>
        <p:spPr>
          <a:xfrm>
            <a:off x="229375" y="1158950"/>
            <a:ext cx="8685900" cy="3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MS Azure AI Service</a:t>
            </a:r>
            <a:endParaRPr b="1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5" name="Google Shape;175;p40"/>
          <p:cNvSpPr/>
          <p:nvPr/>
        </p:nvSpPr>
        <p:spPr>
          <a:xfrm>
            <a:off x="1086900" y="218250"/>
            <a:ext cx="75444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Outline Week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11</a:t>
            </a:r>
            <a:r>
              <a:rPr b="1" i="0" lang="en" sz="28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 Day </a:t>
            </a:r>
            <a:r>
              <a:rPr b="1" lang="en" sz="2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Cloud Computing?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/>
          <p:nvPr/>
        </p:nvSpPr>
        <p:spPr>
          <a:xfrm>
            <a:off x="1366375" y="660750"/>
            <a:ext cx="68109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On-demand delivery of: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Compute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Storage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Networking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AI / data services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Pay-as-you-go model → scale up/down anytime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Removes need to buy &amp; manage physical servers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Microsoft Azure?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/>
          <p:nvPr/>
        </p:nvSpPr>
        <p:spPr>
          <a:xfrm>
            <a:off x="1366375" y="660750"/>
            <a:ext cx="68109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Microsoft’s cloud computing platform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Offers 200+ services: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Compute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Storage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AI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Databases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Networking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Used by developers, enterprises, startups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Resource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Fundamental manageable item in Azure: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Virtual Machine (VM)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Database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Storage account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AI service (Cognitive Service)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Each resource has: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Name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Location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Pricing tier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Resource Group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4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Logical container for related resources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Helps manage: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Access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Billing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Monitoring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E.g., all resources for a web app in one resource group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5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Compute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5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Services that run applications and process data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Virtual Machines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App Services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Container Instances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Functions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6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Functions (Azure Functions)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6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Event-driven serverless compute service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Write small pieces of code → triggered by: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HTTP requests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Queue messages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Timer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Pay only for compute time when function runs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Serverless Computing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7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 need to provision/manage servers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Focus on writing code; cloud handles scaling &amp; infrastructure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Examples: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Azure Functions (code)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Logic Apps (workflows)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Containers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8"/>
          <p:cNvSpPr/>
          <p:nvPr/>
        </p:nvSpPr>
        <p:spPr>
          <a:xfrm>
            <a:off x="692850" y="660750"/>
            <a:ext cx="74844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Lightweight, portable units for apps &amp; dependencies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Run the same on: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Local machine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Cloud VM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Kubernetes cluster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supports: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Container Instances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AKS (Azure Kubernetes Service)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Other Key Terms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8" name="Google Shape;238;p49"/>
          <p:cNvGraphicFramePr/>
          <p:nvPr/>
        </p:nvGraphicFramePr>
        <p:xfrm>
          <a:off x="5334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{22861000-0E59-4A49-A630-A455AFE61FFB}</a:tableStyleId>
              </a:tblPr>
              <a:tblGrid>
                <a:gridCol w="2422875"/>
                <a:gridCol w="57319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Term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Meaning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Subscription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Billing boundary; holds resource groups &amp; resources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Region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Geographic location where Azure hosts data centers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Availability Zone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Physically separate DCs in a region → fault tolerance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App 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Fully managed platform for web/mobile APIs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Storage Account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Container for blobs, tables, files, queues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0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Why selection matters?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0"/>
          <p:cNvSpPr/>
          <p:nvPr/>
        </p:nvSpPr>
        <p:spPr>
          <a:xfrm>
            <a:off x="1366375" y="889350"/>
            <a:ext cx="68109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offers specialized services for different AI tasks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Choosing the right service: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reduces complexity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improves performance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○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saves cost and time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1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Selection of service for a vision solution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52" name="Google Shape;252;p51"/>
          <p:cNvSpPr/>
          <p:nvPr/>
        </p:nvSpPr>
        <p:spPr>
          <a:xfrm>
            <a:off x="1366375" y="889350"/>
            <a:ext cx="68109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Typical scenarios: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Object detection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Face recognition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OCR (text extraction)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Image classification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2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services to consider: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59" name="Google Shape;259;p52"/>
          <p:cNvGraphicFramePr/>
          <p:nvPr/>
        </p:nvGraphicFramePr>
        <p:xfrm>
          <a:off x="620300" y="99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{22861000-0E59-4A49-A630-A455AFE61FFB}</a:tableStyleId>
              </a:tblPr>
              <a:tblGrid>
                <a:gridCol w="2302700"/>
                <a:gridCol w="56018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Case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Computer Vision API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Image analysis, tagging, OCR, spatial analysis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Custom Vision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Build/train custom models for your specific categories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Face API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Detect &amp; recognize human faces, age, emotion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Video Indexer</a:t>
                      </a:r>
                      <a:endParaRPr b="1" sz="11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Extract insights from videos: spoken text, faces, scenes</a:t>
                      </a:r>
                      <a:endParaRPr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services to consider: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66" name="Google Shape;266;p53"/>
          <p:cNvSpPr txBox="1"/>
          <p:nvPr/>
        </p:nvSpPr>
        <p:spPr>
          <a:xfrm>
            <a:off x="2133600" y="914400"/>
            <a:ext cx="4818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[Input Images]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[Azure Blob Storage / Camera Feed]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[Computer Vision API / Custom Vision]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[Insights / Predictions]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[Dashboard or App]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4"/>
          <p:cNvSpPr/>
          <p:nvPr/>
        </p:nvSpPr>
        <p:spPr>
          <a:xfrm>
            <a:off x="1544100" y="218250"/>
            <a:ext cx="6004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73" name="Google Shape;273;p54"/>
          <p:cNvSpPr/>
          <p:nvPr/>
        </p:nvSpPr>
        <p:spPr>
          <a:xfrm>
            <a:off x="1366375" y="889350"/>
            <a:ext cx="6810900" cy="42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quick generic solution? → Computer Vision API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domain-specific custom labels? → Custom Vision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face detection/verification? → Face API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5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Selection of service for a language analysis solution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80" name="Google Shape;280;p55"/>
          <p:cNvSpPr/>
          <p:nvPr/>
        </p:nvSpPr>
        <p:spPr>
          <a:xfrm>
            <a:off x="1366375" y="1174325"/>
            <a:ext cx="68109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Typical scenarios: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Sentiment analysis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Key phrase extrac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</a:t>
            </a: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Named entity recognition (NER)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Translation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Speech-to-text / text-to-speech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6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services to consider: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287" name="Google Shape;287;p56"/>
          <p:cNvGraphicFramePr/>
          <p:nvPr/>
        </p:nvGraphicFramePr>
        <p:xfrm>
          <a:off x="3810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{22861000-0E59-4A49-A630-A455AFE61FFB}</a:tableStyleId>
              </a:tblPr>
              <a:tblGrid>
                <a:gridCol w="3729725"/>
                <a:gridCol w="47489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Case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Text Analytics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Sentiment, language detection, NER, key phrases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Translator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Real-time text translation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Speech 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Speech-to-text, text-to-speech, speaker recognition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Language Understanding (LUIS)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Intent and entity extraction for chatbots &amp; apps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Conversational Language Understanding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More advanced multi-turn conversation understanding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services to consider: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94" name="Google Shape;294;p57"/>
          <p:cNvSpPr txBox="1"/>
          <p:nvPr/>
        </p:nvSpPr>
        <p:spPr>
          <a:xfrm>
            <a:off x="2135250" y="889350"/>
            <a:ext cx="4873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[User text / documents]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[Text Analytics API]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[Extract: Sentiment, key phrases, NER]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 	↓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[Store in DB / visualize]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choose: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01" name="Google Shape;301;p58"/>
          <p:cNvSpPr/>
          <p:nvPr/>
        </p:nvSpPr>
        <p:spPr>
          <a:xfrm>
            <a:off x="1366375" y="1174325"/>
            <a:ext cx="68109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Quick sentiment &amp; entities → Text Analytics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Build custom chatbot intent model → LUIS or Conversational Language Understanding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translation? → Translator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speech? → Speech Service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Pricing Consideration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308" name="Google Shape;308;p59"/>
          <p:cNvGraphicFramePr/>
          <p:nvPr/>
        </p:nvGraphicFramePr>
        <p:xfrm>
          <a:off x="331650" y="89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{22861000-0E59-4A49-A630-A455AFE61FFB}</a:tableStyleId>
              </a:tblPr>
              <a:tblGrid>
                <a:gridCol w="1766200"/>
                <a:gridCol w="3082600"/>
                <a:gridCol w="36201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Pricing basis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Best for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Computer Vision API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 transaction / per image analyzed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Quick image understanding, OCR, tags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Custom Vision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Training &amp; prediction transactions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Domain-specific categories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Face API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 transaction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Facial detection, verification, emotion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Text Analytics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 1,000 text records analyzed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Sentiment, language detection, key phrases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Translator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 character translated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Multi-language apps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LUIS / CLU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Per API call, per prediction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Chatbots, custom NLU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0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Integration tips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15" name="Google Shape;315;p60"/>
          <p:cNvSpPr txBox="1"/>
          <p:nvPr/>
        </p:nvSpPr>
        <p:spPr>
          <a:xfrm>
            <a:off x="622375" y="950950"/>
            <a:ext cx="8091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Use Azure SDKs in Python, C#, or JavaScript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Combine multiple services for richer applications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○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e.g., Speech-to-text → Text Analytics → Power BI dashboard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Consider Logic Apps or Azure Functions for orchestration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Store processed data in Azure SQL, Cosmos DB, or Blob Storage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1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End-to-end vision pipeline example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22" name="Google Shape;322;p61"/>
          <p:cNvSpPr txBox="1"/>
          <p:nvPr/>
        </p:nvSpPr>
        <p:spPr>
          <a:xfrm>
            <a:off x="1260450" y="1103350"/>
            <a:ext cx="6623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Upload images → Azure Blob Storage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Trigger Function → call Custom Vision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Store tags/predictions in database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Power BI dashboard shows results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2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End-to-end language pipeline example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29" name="Google Shape;329;p62"/>
          <p:cNvSpPr txBox="1"/>
          <p:nvPr/>
        </p:nvSpPr>
        <p:spPr>
          <a:xfrm>
            <a:off x="1260450" y="1179550"/>
            <a:ext cx="6623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Collect customer reviews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Call Text Analytics → get sentiment + entities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Store results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AutoNum type="arabicPeriod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Dashboard / alerts on negative sentiment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3"/>
          <p:cNvSpPr/>
          <p:nvPr/>
        </p:nvSpPr>
        <p:spPr>
          <a:xfrm>
            <a:off x="1544100" y="218250"/>
            <a:ext cx="60045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is a Decision Support solution?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36" name="Google Shape;336;p63"/>
          <p:cNvSpPr txBox="1"/>
          <p:nvPr/>
        </p:nvSpPr>
        <p:spPr>
          <a:xfrm>
            <a:off x="422750" y="763300"/>
            <a:ext cx="8067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Systems that help humans or applications make better, data-driven decisions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Often combine: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</a:t>
            </a: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Prediction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Classification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Recommendations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	Forecasting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nbounded"/>
              <a:buChar char="●"/>
            </a:pPr>
            <a:r>
              <a:rPr lang="en">
                <a:solidFill>
                  <a:schemeClr val="dk2"/>
                </a:solidFill>
                <a:latin typeface="Unbounded"/>
                <a:ea typeface="Unbounded"/>
                <a:cs typeface="Unbounded"/>
                <a:sym typeface="Unbounded"/>
              </a:rPr>
              <a:t>Examples: demand forecasting, medical decision support, risk scoring, product recommendation</a:t>
            </a:r>
            <a:endParaRPr>
              <a:solidFill>
                <a:schemeClr val="dk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4"/>
          <p:cNvSpPr/>
          <p:nvPr/>
        </p:nvSpPr>
        <p:spPr>
          <a:xfrm>
            <a:off x="1544100" y="218250"/>
            <a:ext cx="60045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Relevant Azure AI services for Decision Support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graphicFrame>
        <p:nvGraphicFramePr>
          <p:cNvPr id="343" name="Google Shape;343;p64"/>
          <p:cNvGraphicFramePr/>
          <p:nvPr/>
        </p:nvGraphicFramePr>
        <p:xfrm>
          <a:off x="573200" y="135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{22861000-0E59-4A49-A630-A455AFE61FFB}</a:tableStyleId>
              </a:tblPr>
              <a:tblGrid>
                <a:gridCol w="3351175"/>
                <a:gridCol w="46464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Service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Use Case / Why relevant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Azure Machine Learning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Build, train, deploy custom ML models to support decisions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Azure Cognitive Services – Personalizer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Context-aware personalization / recommendations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Azure Cognitive Search + AI enrichment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Build intelligent search-driven decision portals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QnA Maker (Language service)</a:t>
                      </a:r>
                      <a:endParaRPr b="1"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Provide curated question–answer knowledge base</a:t>
                      </a:r>
                      <a:endParaRPr sz="1200">
                        <a:solidFill>
                          <a:schemeClr val="dk2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5"/>
          <p:cNvSpPr/>
          <p:nvPr/>
        </p:nvSpPr>
        <p:spPr>
          <a:xfrm>
            <a:off x="1544100" y="218250"/>
            <a:ext cx="6004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 the right service?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50" name="Google Shape;350;p65"/>
          <p:cNvSpPr/>
          <p:nvPr/>
        </p:nvSpPr>
        <p:spPr>
          <a:xfrm>
            <a:off x="387525" y="880725"/>
            <a:ext cx="81732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predictive models, e.g., risk score, demand forecast?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Machine Learning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Full ML lifecycle: data prep, training, deployment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Use AutoML for quick baseline models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recommendations (which option is better for this user/context)?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Personalizer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Reinforcement learning based, adapts to feedback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Great for real-time recommendations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6"/>
          <p:cNvSpPr/>
          <p:nvPr/>
        </p:nvSpPr>
        <p:spPr>
          <a:xfrm>
            <a:off x="1544100" y="218250"/>
            <a:ext cx="6004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How to choose the right service?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57" name="Google Shape;357;p66"/>
          <p:cNvSpPr/>
          <p:nvPr/>
        </p:nvSpPr>
        <p:spPr>
          <a:xfrm>
            <a:off x="387525" y="786800"/>
            <a:ext cx="8173200" cy="3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search-driven decision portal?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Azure Cognitive Search + AI enrichment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Index documents, add entity recognition / OCR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Enable users to explore and discover insights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Need FAQ-like decision assistant?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QnA Maker (now part of Azure Language Service)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-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Transform documents or tables into a question–answer service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7"/>
          <p:cNvSpPr/>
          <p:nvPr/>
        </p:nvSpPr>
        <p:spPr>
          <a:xfrm>
            <a:off x="1544100" y="218250"/>
            <a:ext cx="60045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Summary</a:t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364" name="Google Shape;364;p67"/>
          <p:cNvSpPr/>
          <p:nvPr/>
        </p:nvSpPr>
        <p:spPr>
          <a:xfrm>
            <a:off x="1366375" y="1174325"/>
            <a:ext cx="68109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Microsoft Azure AI services are designed for plug-and-play as well as custom solutions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Best choice depends on: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your domain (vision vs text vs speech)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data specificity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real-time vs offline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00"/>
              <a:buFont typeface="Unbounded"/>
              <a:buChar char="●"/>
            </a:pPr>
            <a:r>
              <a:rPr lang="en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	cost &amp; ease of integration</a:t>
            </a:r>
            <a:endParaRPr>
              <a:solidFill>
                <a:srgbClr val="333F70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68"/>
          <p:cNvPicPr preferRelativeResize="0"/>
          <p:nvPr/>
        </p:nvPicPr>
        <p:blipFill rotWithShape="1">
          <a:blip r:embed="rId3">
            <a:alphaModFix/>
          </a:blip>
          <a:srcRect b="0" l="16656" r="16663" t="0"/>
          <a:stretch/>
        </p:blipFill>
        <p:spPr>
          <a:xfrm>
            <a:off x="0" y="0"/>
            <a:ext cx="3428550" cy="51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8"/>
          <p:cNvSpPr/>
          <p:nvPr/>
        </p:nvSpPr>
        <p:spPr>
          <a:xfrm>
            <a:off x="3925125" y="1795500"/>
            <a:ext cx="47223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Questions?</a:t>
            </a:r>
            <a:endParaRPr b="0" sz="2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8"/>
          <p:cNvSpPr/>
          <p:nvPr/>
        </p:nvSpPr>
        <p:spPr>
          <a:xfrm>
            <a:off x="3925125" y="2322675"/>
            <a:ext cx="472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"He who asks a question is a fool for a minute; he who does not remains a fool forever." – Confucius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