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11.jpeg" ContentType="image/jpeg"/>
  <Override PartName="/ppt/media/image9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9AC4362-4F68-4567-8CCC-E844429A459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4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C2F5D89-26D6-4A73-AD95-7160A1431121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5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C183248-C600-469A-A041-8408932DFC79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6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282A738-E50F-48E1-A2E5-12F4D0C39F7E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7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3353F7E-A8BB-4C7C-A1FF-E26D9EA39A5D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8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5F874A9-A206-4359-8D3B-432C55B468D4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9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4225BF-23CA-4FD4-9F77-0FCCC5B60CFE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10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8ECA21D-5CB0-473A-922C-95498B0AF29A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11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FD741B5-FDC1-4E81-AB0E-D9A39FB38E80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12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1B4D30D-4EA2-4FFB-994E-6BA0137AAB93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13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AD58242-58A1-42C3-AD61-4DEE218BE99A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14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2F10207-20D6-4ECC-949B-DC3BB2967419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15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448A877-3145-4F1B-9ACF-F9A4CE083F84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16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EF8A526-427A-4F14-8102-6BCB7692C8EF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17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BBB4952-AE18-49DF-8E13-3C0BEBEB8809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18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F9138E4-1872-4786-AC11-B25110B63188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19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77FE273-4B65-43E4-A424-DB03B936DCDD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51;p13"/>
          <p:cNvSpPr/>
          <p:nvPr/>
        </p:nvSpPr>
        <p:spPr>
          <a:xfrm>
            <a:off x="0" y="0"/>
            <a:ext cx="9143280" cy="5142600"/>
          </a:xfrm>
          <a:prstGeom prst="rect">
            <a:avLst/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Google Shape;52;p13"/>
          <p:cNvSpPr/>
          <p:nvPr/>
        </p:nvSpPr>
        <p:spPr>
          <a:xfrm>
            <a:off x="0" y="0"/>
            <a:ext cx="9143280" cy="5142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Google Shape;53;p13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4400" y="4843440"/>
            <a:ext cx="1075680" cy="2563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105;p26"/>
          <p:cNvSpPr/>
          <p:nvPr/>
        </p:nvSpPr>
        <p:spPr>
          <a:xfrm>
            <a:off x="0" y="0"/>
            <a:ext cx="9143280" cy="5142600"/>
          </a:xfrm>
          <a:prstGeom prst="rect">
            <a:avLst/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Google Shape;106;p26"/>
          <p:cNvSpPr/>
          <p:nvPr/>
        </p:nvSpPr>
        <p:spPr>
          <a:xfrm>
            <a:off x="0" y="0"/>
            <a:ext cx="9143280" cy="5142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" name="Google Shape;107;p26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4400" y="4843440"/>
            <a:ext cx="1075680" cy="25632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163;p39"/>
          <p:cNvSpPr/>
          <p:nvPr/>
        </p:nvSpPr>
        <p:spPr>
          <a:xfrm>
            <a:off x="496080" y="822960"/>
            <a:ext cx="3902400" cy="26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" sz="2800" spc="-1" strike="noStrike">
                <a:solidFill>
                  <a:srgbClr val="333f70"/>
                </a:solidFill>
                <a:latin typeface="Unbounded"/>
                <a:ea typeface="Unbounded"/>
              </a:rPr>
              <a:t>Artificial Intelligence (Machine Learning &amp; Deep Learning)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4000"/>
              </a:lnSpc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4000"/>
              </a:lnSpc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Google Shape;164;p39"/>
          <p:cNvSpPr/>
          <p:nvPr/>
        </p:nvSpPr>
        <p:spPr>
          <a:xfrm>
            <a:off x="496080" y="3828240"/>
            <a:ext cx="815112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333f70"/>
                </a:solidFill>
                <a:latin typeface="Open Sans"/>
                <a:ea typeface="Open Sans"/>
              </a:rPr>
              <a:t>NAVTTC &amp; Strings Technologies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Google Shape;165;p39"/>
          <p:cNvSpPr/>
          <p:nvPr/>
        </p:nvSpPr>
        <p:spPr>
          <a:xfrm>
            <a:off x="496080" y="4224960"/>
            <a:ext cx="226080" cy="226080"/>
          </a:xfrm>
          <a:prstGeom prst="roundRect">
            <a:avLst>
              <a:gd name="adj" fmla="val 25194296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1" name="Google Shape;166;p39" descr="preencoded.png"/>
          <p:cNvPicPr/>
          <p:nvPr/>
        </p:nvPicPr>
        <p:blipFill>
          <a:blip r:embed="rId1"/>
          <a:stretch/>
        </p:blipFill>
        <p:spPr>
          <a:xfrm>
            <a:off x="500760" y="4229640"/>
            <a:ext cx="216720" cy="216720"/>
          </a:xfrm>
          <a:prstGeom prst="rect">
            <a:avLst/>
          </a:prstGeom>
          <a:ln w="0">
            <a:noFill/>
          </a:ln>
        </p:spPr>
      </p:pic>
      <p:sp>
        <p:nvSpPr>
          <p:cNvPr id="92" name="Google Shape;167;p39"/>
          <p:cNvSpPr/>
          <p:nvPr/>
        </p:nvSpPr>
        <p:spPr>
          <a:xfrm>
            <a:off x="793800" y="4214520"/>
            <a:ext cx="21733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Open Sans"/>
                <a:ea typeface="Open Sans"/>
              </a:rPr>
              <a:t>by Salman Ahmad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3" name="Google Shape;168;p39" descr=""/>
          <p:cNvPicPr/>
          <p:nvPr/>
        </p:nvPicPr>
        <p:blipFill>
          <a:blip r:embed="rId2"/>
          <a:stretch/>
        </p:blipFill>
        <p:spPr>
          <a:xfrm>
            <a:off x="6746400" y="0"/>
            <a:ext cx="2428560" cy="514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174;p40"/>
          <p:cNvSpPr/>
          <p:nvPr/>
        </p:nvSpPr>
        <p:spPr>
          <a:xfrm>
            <a:off x="1596960" y="1182600"/>
            <a:ext cx="5976720" cy="34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MLP Feed Forward Neural Network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AutoNum type="arabicPeriod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Forward and backward passes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AutoNum type="arabicPeriod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Nonlinearity: Activation functions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AutoNum type="arabicPeriod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Cross-Entropy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AutoNum type="arabicPeriod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Computational graph and Backpropagation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AutoNum type="arabicPeriod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Vanishing and exploding gradients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AutoNum type="arabicPeriod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Overfitting, underfitting, dropout regularization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Google Shape;175;p40"/>
          <p:cNvSpPr/>
          <p:nvPr/>
        </p:nvSpPr>
        <p:spPr>
          <a:xfrm>
            <a:off x="1883160" y="218160"/>
            <a:ext cx="540252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" sz="2800" spc="-1" strike="noStrike">
                <a:solidFill>
                  <a:srgbClr val="333f70"/>
                </a:solidFill>
                <a:latin typeface="Unbounded"/>
                <a:ea typeface="Unbounded"/>
              </a:rPr>
              <a:t>Outline Week 7 Day 2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181;p41"/>
          <p:cNvSpPr/>
          <p:nvPr/>
        </p:nvSpPr>
        <p:spPr>
          <a:xfrm>
            <a:off x="1530000" y="10836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What is an MLP (Feedforward Neural Network)?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Google Shape;182;p41"/>
          <p:cNvSpPr/>
          <p:nvPr/>
        </p:nvSpPr>
        <p:spPr>
          <a:xfrm>
            <a:off x="342000" y="763200"/>
            <a:ext cx="8382960" cy="399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A Multilayer Perceptron (MLP) is a type of Feedforward Neural Network.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Composed of: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Input layer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1 or more hidden layers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Output layer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Each layer performs: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Z = Wx + b , a = σ ( z )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Where σ is a nonlinear activation function.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8" name="Google Shape;183;p41" descr=""/>
          <p:cNvPicPr/>
          <p:nvPr/>
        </p:nvPicPr>
        <p:blipFill>
          <a:blip r:embed="rId1"/>
          <a:stretch/>
        </p:blipFill>
        <p:spPr>
          <a:xfrm>
            <a:off x="5249160" y="1197720"/>
            <a:ext cx="3475440" cy="2288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189;p42"/>
          <p:cNvSpPr/>
          <p:nvPr/>
        </p:nvSpPr>
        <p:spPr>
          <a:xfrm>
            <a:off x="1530000" y="10836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Forward Pass (Inference)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Google Shape;190;p42"/>
          <p:cNvSpPr/>
          <p:nvPr/>
        </p:nvSpPr>
        <p:spPr>
          <a:xfrm>
            <a:off x="342000" y="870480"/>
            <a:ext cx="8312400" cy="38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Input flows layer by layer to compute the output.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At each layer: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Compute linear combination: z=Wx+b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Apply activation: a=σ(z)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Final output is used for prediction or loss calculation.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1" name="Google Shape;191;p42" descr=""/>
          <p:cNvPicPr/>
          <p:nvPr/>
        </p:nvPicPr>
        <p:blipFill>
          <a:blip r:embed="rId1"/>
          <a:stretch/>
        </p:blipFill>
        <p:spPr>
          <a:xfrm>
            <a:off x="1753920" y="3200400"/>
            <a:ext cx="6063480" cy="1829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97;p43"/>
          <p:cNvSpPr/>
          <p:nvPr/>
        </p:nvSpPr>
        <p:spPr>
          <a:xfrm>
            <a:off x="1530000" y="10836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Backward Pass (Training)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Google Shape;198;p43"/>
          <p:cNvSpPr/>
          <p:nvPr/>
        </p:nvSpPr>
        <p:spPr>
          <a:xfrm>
            <a:off x="342000" y="870480"/>
            <a:ext cx="8312400" cy="38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Uses Backpropagation to update weights.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Steps: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AutoNum type="arabicPeriod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Compute loss: L(y^,y)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AutoNum type="arabicPeriod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Compute gradients of loss w.r.t. output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AutoNum type="arabicPeriod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Propagate gradients backward through the network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AutoNum type="arabicPeriod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Update weights using Gradient Descent: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AutoNum type="arabicPeriod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W ← W − η⋅ (∂L / ∂W)​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204;p44"/>
          <p:cNvSpPr/>
          <p:nvPr/>
        </p:nvSpPr>
        <p:spPr>
          <a:xfrm>
            <a:off x="1530000" y="10836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Nonlinearity – Activation Functions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Google Shape;205;p44"/>
          <p:cNvSpPr/>
          <p:nvPr/>
        </p:nvSpPr>
        <p:spPr>
          <a:xfrm>
            <a:off x="234720" y="803880"/>
            <a:ext cx="8795520" cy="10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Nonlinearities allow neural networks to approximate complex functions.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Example: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6" name="Google Shape;206;p44" descr=""/>
          <p:cNvPicPr/>
          <p:nvPr/>
        </p:nvPicPr>
        <p:blipFill>
          <a:blip r:embed="rId1"/>
          <a:stretch/>
        </p:blipFill>
        <p:spPr>
          <a:xfrm>
            <a:off x="799920" y="1708200"/>
            <a:ext cx="7182720" cy="3166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212;p45"/>
          <p:cNvSpPr/>
          <p:nvPr/>
        </p:nvSpPr>
        <p:spPr>
          <a:xfrm>
            <a:off x="1530000" y="10836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Cross-Entropy Loss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Google Shape;213;p45"/>
          <p:cNvSpPr/>
          <p:nvPr/>
        </p:nvSpPr>
        <p:spPr>
          <a:xfrm>
            <a:off x="856080" y="611640"/>
            <a:ext cx="7517160" cy="32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Used in classification problems: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Where: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y</a:t>
            </a:r>
            <a:r>
              <a:rPr b="0" lang="en" sz="1400" spc="-1" strike="noStrike" baseline="-25000">
                <a:solidFill>
                  <a:schemeClr val="dk2"/>
                </a:solidFill>
                <a:latin typeface="Unbounded"/>
                <a:ea typeface="Unbounded"/>
              </a:rPr>
              <a:t>i</a:t>
            </a: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: true label (one-hot)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y^</a:t>
            </a:r>
            <a:r>
              <a:rPr b="0" lang="en" sz="1400" spc="-1" strike="noStrike" baseline="-25000">
                <a:solidFill>
                  <a:schemeClr val="dk2"/>
                </a:solidFill>
                <a:latin typeface="Unbounded"/>
                <a:ea typeface="Unbounded"/>
              </a:rPr>
              <a:t>​i</a:t>
            </a: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​: predicted probability from softmax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Encourages high confidence for correct classes.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9" name="Google Shape;214;p45" descr=""/>
          <p:cNvPicPr/>
          <p:nvPr/>
        </p:nvPicPr>
        <p:blipFill>
          <a:blip r:embed="rId1"/>
          <a:stretch/>
        </p:blipFill>
        <p:spPr>
          <a:xfrm>
            <a:off x="1328040" y="1192320"/>
            <a:ext cx="1634400" cy="695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220;p46"/>
          <p:cNvSpPr/>
          <p:nvPr/>
        </p:nvSpPr>
        <p:spPr>
          <a:xfrm>
            <a:off x="1530000" y="10836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Computational Graph &amp; Backpropagation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Google Shape;221;p46"/>
          <p:cNvSpPr/>
          <p:nvPr/>
        </p:nvSpPr>
        <p:spPr>
          <a:xfrm>
            <a:off x="192960" y="940320"/>
            <a:ext cx="4930920" cy="359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A computational graph is a directed graph used to represent mathematical expressions or algorithms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A neural network can be viewed as a computational graph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Backpropagation = reverse-mode automatic differentiation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We use the chain rule to compute gradients from output to input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2" name="Google Shape;222;p46" descr=""/>
          <p:cNvPicPr/>
          <p:nvPr/>
        </p:nvPicPr>
        <p:blipFill>
          <a:blip r:embed="rId1"/>
          <a:stretch/>
        </p:blipFill>
        <p:spPr>
          <a:xfrm>
            <a:off x="5047560" y="1354320"/>
            <a:ext cx="3647880" cy="3314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228;p47"/>
          <p:cNvSpPr/>
          <p:nvPr/>
        </p:nvSpPr>
        <p:spPr>
          <a:xfrm>
            <a:off x="1530000" y="10836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Computational Graph &amp; Backpropagation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Google Shape;229;p47"/>
          <p:cNvSpPr/>
          <p:nvPr/>
        </p:nvSpPr>
        <p:spPr>
          <a:xfrm>
            <a:off x="192960" y="940320"/>
            <a:ext cx="4930920" cy="273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In backpropagation, partial derivatives are calculated and propagated backward throughout the network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Computational graph helps in calculating derivatives/gradients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The computation graph can be static or dynamic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5" name="Google Shape;230;p47" descr=""/>
          <p:cNvPicPr/>
          <p:nvPr/>
        </p:nvPicPr>
        <p:blipFill>
          <a:blip r:embed="rId1"/>
          <a:stretch/>
        </p:blipFill>
        <p:spPr>
          <a:xfrm>
            <a:off x="5288760" y="1219320"/>
            <a:ext cx="3714480" cy="314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236;p48"/>
          <p:cNvSpPr/>
          <p:nvPr/>
        </p:nvSpPr>
        <p:spPr>
          <a:xfrm>
            <a:off x="1530000" y="10836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Vanishing and Exploding Gradients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Google Shape;237;p48"/>
          <p:cNvSpPr/>
          <p:nvPr/>
        </p:nvSpPr>
        <p:spPr>
          <a:xfrm>
            <a:off x="192960" y="940320"/>
            <a:ext cx="8523720" cy="40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In deep networks: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○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Gradients can shrink (vanish) with sigmoid/tanh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○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Or explode with large weights or ReLU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○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Problem: Poor learning or unstable updates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Example: Sigmoid function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○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Max derivative: 0.25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○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If you stack 20 layers: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2" marL="13716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■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Gradient∼(0.25)</a:t>
            </a:r>
            <a:r>
              <a:rPr b="0" lang="en" sz="1400" spc="-1" strike="noStrike" baseline="30000">
                <a:solidFill>
                  <a:schemeClr val="dk2"/>
                </a:solidFill>
                <a:latin typeface="Unbounded"/>
                <a:ea typeface="Unbounded"/>
              </a:rPr>
              <a:t>20 </a:t>
            </a: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= 1.0e</a:t>
            </a:r>
            <a:r>
              <a:rPr b="0" lang="en" sz="1400" spc="-1" strike="noStrike" baseline="30000">
                <a:solidFill>
                  <a:schemeClr val="dk2"/>
                </a:solidFill>
                <a:latin typeface="Unbounded"/>
                <a:ea typeface="Unbounded"/>
              </a:rPr>
              <a:t>-12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2" marL="13716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■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That’s nearly zero — the gradient disappears.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243;p49"/>
          <p:cNvSpPr/>
          <p:nvPr/>
        </p:nvSpPr>
        <p:spPr>
          <a:xfrm>
            <a:off x="1530000" y="10836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Vanishing and Exploding Gradients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Google Shape;244;p49"/>
          <p:cNvSpPr/>
          <p:nvPr/>
        </p:nvSpPr>
        <p:spPr>
          <a:xfrm>
            <a:off x="192960" y="940320"/>
            <a:ext cx="8523720" cy="18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Solutions: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○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Use ReLU, LayerNorm, or BatchNorm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○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Use proper weight initialization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○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Use residual connections (ResNets)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250;p50"/>
          <p:cNvSpPr/>
          <p:nvPr/>
        </p:nvSpPr>
        <p:spPr>
          <a:xfrm>
            <a:off x="1530000" y="10836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Overfitting &amp; Underfitting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21" name="Google Shape;251;p50"/>
          <p:cNvGraphicFramePr/>
          <p:nvPr/>
        </p:nvGraphicFramePr>
        <p:xfrm>
          <a:off x="762120" y="1066680"/>
          <a:ext cx="7819200" cy="1525320"/>
        </p:xfrm>
        <a:graphic>
          <a:graphicData uri="http://schemas.openxmlformats.org/drawingml/2006/table">
            <a:tbl>
              <a:tblPr/>
              <a:tblGrid>
                <a:gridCol w="1143720"/>
                <a:gridCol w="3222000"/>
                <a:gridCol w="3453120"/>
              </a:tblGrid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1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Phenomenon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1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Description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1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Solution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Underfitting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Model too simple, can't capture patterns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Add layers, train longer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Overfitting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Model memorizes training data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Use regularization, dropout, early stopping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250;p 1"/>
          <p:cNvSpPr/>
          <p:nvPr/>
        </p:nvSpPr>
        <p:spPr>
          <a:xfrm>
            <a:off x="1530000" y="10836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Overfitting &amp; Underfitting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1346400" y="11880"/>
            <a:ext cx="6492240" cy="514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257;p51"/>
          <p:cNvSpPr/>
          <p:nvPr/>
        </p:nvSpPr>
        <p:spPr>
          <a:xfrm>
            <a:off x="1530000" y="10836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Practice Task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Google Shape;258;p51"/>
          <p:cNvSpPr/>
          <p:nvPr/>
        </p:nvSpPr>
        <p:spPr>
          <a:xfrm>
            <a:off x="192960" y="940320"/>
            <a:ext cx="8523720" cy="31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Explore TensorFlow Playground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Try: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○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Linear and non-linear network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○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Different number of layers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○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Different number of nodes per layer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○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Learning Rate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○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Regularization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264;p52"/>
          <p:cNvSpPr/>
          <p:nvPr/>
        </p:nvSpPr>
        <p:spPr>
          <a:xfrm>
            <a:off x="1530000" y="108360"/>
            <a:ext cx="5987520" cy="48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5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Practice Task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Google Shape;265;p52"/>
          <p:cNvSpPr/>
          <p:nvPr/>
        </p:nvSpPr>
        <p:spPr>
          <a:xfrm>
            <a:off x="192960" y="940320"/>
            <a:ext cx="8523720" cy="40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Build a 3-layer MLP using TensorFlow/Keras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Train on: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○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MNIST (digits)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○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IMDB (sentiment) — with word embeddings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Try adding: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○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Dropout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○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ReLU vs. Tanh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○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Cross-entropy vs. MSE loss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44546a"/>
              </a:buClr>
              <a:buFont typeface="Unbounded"/>
              <a:buChar char="●"/>
            </a:pPr>
            <a:r>
              <a:rPr b="0" lang="en" sz="1400" spc="-1" strike="noStrike">
                <a:solidFill>
                  <a:schemeClr val="dk2"/>
                </a:solidFill>
                <a:latin typeface="Unbounded"/>
                <a:ea typeface="Unbounded"/>
              </a:rPr>
              <a:t>Plot training &amp; validation accuracy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271;p53" descr=""/>
          <p:cNvPicPr/>
          <p:nvPr/>
        </p:nvPicPr>
        <p:blipFill>
          <a:blip r:embed="rId1"/>
          <a:srcRect l="16653" t="0" r="16659" b="0"/>
          <a:stretch/>
        </p:blipFill>
        <p:spPr>
          <a:xfrm>
            <a:off x="0" y="0"/>
            <a:ext cx="3428280" cy="5142600"/>
          </a:xfrm>
          <a:prstGeom prst="rect">
            <a:avLst/>
          </a:prstGeom>
          <a:ln w="0">
            <a:noFill/>
          </a:ln>
        </p:spPr>
      </p:pic>
      <p:sp>
        <p:nvSpPr>
          <p:cNvPr id="129" name="Google Shape;272;p53"/>
          <p:cNvSpPr/>
          <p:nvPr/>
        </p:nvSpPr>
        <p:spPr>
          <a:xfrm>
            <a:off x="3925080" y="1795680"/>
            <a:ext cx="4722120" cy="88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" sz="2800" spc="-1" strike="noStrike">
                <a:solidFill>
                  <a:srgbClr val="333f70"/>
                </a:solidFill>
                <a:latin typeface="Unbounded"/>
                <a:ea typeface="Unbounded"/>
              </a:rPr>
              <a:t>Questions?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Google Shape;273;p53"/>
          <p:cNvSpPr/>
          <p:nvPr/>
        </p:nvSpPr>
        <p:spPr>
          <a:xfrm>
            <a:off x="3925080" y="2322720"/>
            <a:ext cx="472212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" sz="1500" spc="-1" strike="noStrike">
                <a:solidFill>
                  <a:srgbClr val="333f70"/>
                </a:solidFill>
                <a:latin typeface="Open Sans"/>
                <a:ea typeface="Open Sans"/>
              </a:rPr>
              <a:t>"He who asks a question is a fool for a minute; he who does not remains a fool forever." – Confucius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2025-06-25T23:50:36Z</dcterms:modified>
  <cp:revision>4</cp:revision>
  <dc:subject/>
  <dc:title/>
</cp:coreProperties>
</file>