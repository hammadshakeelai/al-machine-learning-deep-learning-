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y="5143500" cx="9144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Unbounded"/>
      <p:regular r:id="rId31"/>
      <p:bold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125576-6A08-4513-9020-715A90665F36}">
  <a:tblStyle styleId="{15125576-6A08-4513-9020-715A90665F3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Unbounded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3.xml"/><Relationship Id="rId33" Type="http://schemas.openxmlformats.org/officeDocument/2006/relationships/font" Target="fonts/OpenSans-regular.fntdata"/><Relationship Id="rId10" Type="http://schemas.openxmlformats.org/officeDocument/2006/relationships/slide" Target="slides/slide2.xml"/><Relationship Id="rId32" Type="http://schemas.openxmlformats.org/officeDocument/2006/relationships/font" Target="fonts/Unbounded-bold.fntdata"/><Relationship Id="rId13" Type="http://schemas.openxmlformats.org/officeDocument/2006/relationships/slide" Target="slides/slide5.xml"/><Relationship Id="rId35" Type="http://schemas.openxmlformats.org/officeDocument/2006/relationships/font" Target="fonts/OpenSans-italic.fntdata"/><Relationship Id="rId12" Type="http://schemas.openxmlformats.org/officeDocument/2006/relationships/slide" Target="slides/slide4.xml"/><Relationship Id="rId34" Type="http://schemas.openxmlformats.org/officeDocument/2006/relationships/font" Target="fonts/OpenSans-bold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2422f3453_0_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62422f3453_0_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2422f3453_0_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95bbfe020_0_7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695bbfe020_0_7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95bbfe020_0_7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95bbfe020_0_7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695bbfe020_0_7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695bbfe020_0_7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95bbfe020_0_8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695bbfe020_0_8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695bbfe020_0_8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95bbfe020_0_6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g3695bbfe020_0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695bbfe020_0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9480f0fbf_0_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g369480f0fbf_0_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69480f0fbf_0_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87f81bc00_0_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g3687f81bc00_0_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687f81bc00_0_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95bbfe020_0_2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3695bbfe020_0_2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695bbfe020_0_2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9480f0fbf_0_1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69480f0fbf_0_1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69480f0fbf_0_1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95bbfe020_0_3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695bbfe020_0_3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695bbfe020_0_3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95bbfe020_0_4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695bbfe020_0_4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95bbfe020_0_4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95bbfe020_0_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695bbfe020_0_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695bbfe020_0_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95bbfe020_0_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g3695bbfe020_0_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695bbfe020_0_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95bbfe020_0_1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695bbfe020_0_1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695bbfe020_0_1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95bbfe020_0_5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695bbfe020_0_5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695bbfe020_0_5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</a:t>
            </a:r>
            <a:r>
              <a:rPr lang="en"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363" y="0"/>
            <a:ext cx="2428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1776875" y="1158950"/>
            <a:ext cx="5695500" cy="3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NLP: Word Embeddings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Learning Meaningful representation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1086900" y="218250"/>
            <a:ext cx="5817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9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1&amp;2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Word Embeddings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1"/>
          <p:cNvSpPr/>
          <p:nvPr/>
        </p:nvSpPr>
        <p:spPr>
          <a:xfrm>
            <a:off x="375775" y="660750"/>
            <a:ext cx="8408100" cy="4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Word embeddings convert words into dense vector representations.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Captures semantic meaning: similar words have similar vectors.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Unlike one-hot encoding, embeddings encode contextual similarity.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Each word is represented as a real-valued vector in a continuous vector space.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it matters?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Embeddings allow models to generalize across similar words.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Enable deep learning models to work effectively with text.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Form the basis of modern NLP architectures.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Vectors are typically 100–300 dimensions (Word2Vec, GloVe, FastText, Bert, Trainable lookup tables)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2"/>
          <p:cNvSpPr/>
          <p:nvPr/>
        </p:nvSpPr>
        <p:spPr>
          <a:xfrm>
            <a:off x="1569750" y="235050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Not Use Just Integer Indices?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of a rooster with the words becaaauusee written below it (Provided by Tenor)"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275" y="1590675"/>
            <a:ext cx="474345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/>
          <p:nvPr/>
        </p:nvSpPr>
        <p:spPr>
          <a:xfrm>
            <a:off x="1569750" y="235050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Integers do not represent any semantic or statistical relationship between words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5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</a:t>
            </a: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Word Embeddings?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5"/>
          <p:cNvSpPr/>
          <p:nvPr/>
        </p:nvSpPr>
        <p:spPr>
          <a:xfrm>
            <a:off x="375775" y="660750"/>
            <a:ext cx="4215900" cy="4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Word embeddings convert discrete word indices into continuous dense vectors that: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Capture semantic similarity (e.g., “king” and “queen” will be close)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Are learned representations of word usage across a corpus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Can be updated during training to improve performance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08" name="Google Shape;208;p45"/>
          <p:cNvGraphicFramePr/>
          <p:nvPr/>
        </p:nvGraphicFramePr>
        <p:xfrm>
          <a:off x="5119775" y="14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{15125576-6A08-4513-9020-715A90665F36}</a:tableStyleId>
              </a:tblPr>
              <a:tblGrid>
                <a:gridCol w="1019275"/>
                <a:gridCol w="712375"/>
                <a:gridCol w="21484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Word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Index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Embedding (3D simplified)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king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10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[0.52, 0.41, 0.77]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queen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21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[0.49, 0.40, 0.79]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banana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55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[0.10, 0.90, 0.20]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6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Word2Vec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6"/>
          <p:cNvSpPr/>
          <p:nvPr/>
        </p:nvSpPr>
        <p:spPr>
          <a:xfrm>
            <a:off x="375775" y="660750"/>
            <a:ext cx="8408100" cy="4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Developed by Google (Mikolov et al., 2013)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Learns word embeddings using a neural network.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Based on predicting surrounding words (context).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Two main training architectures: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CBOW (Continuous Bag of Words)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Skip-gram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Learns from large unlabeled corpora.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Produces embeddings where similar words are close in vector space.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Efficient training using negative sampling or hierarchical softmax.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Continuous Bag of Words (CBOW)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22" name="Google Shape;222;p47"/>
          <p:cNvSpPr/>
          <p:nvPr/>
        </p:nvSpPr>
        <p:spPr>
          <a:xfrm>
            <a:off x="399275" y="810275"/>
            <a:ext cx="8290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Predicts a target word from a window of context words.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Averages (or sums) the embeddings of surrounding context words.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Suitable when you care more about common context and speed.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Context: ["the", "brown", "fox", "over", "the"] → Predict "jumps"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Model structure: Embedding input → Hidden → Softmax output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Faster to train than Skip-gram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Better for frequent words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Tends to smooth embeddings more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8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Continuous Bag of Words (CBOW)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29" name="Google Shape;229;p48"/>
          <p:cNvSpPr/>
          <p:nvPr/>
        </p:nvSpPr>
        <p:spPr>
          <a:xfrm>
            <a:off x="399275" y="810275"/>
            <a:ext cx="3757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Context Words (e.g., 4 words)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  ↓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[Embedding Lookup] for each word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  ↓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[Average/Mean] the embeddings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  ↓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Feedforward layer (Projection)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  ↓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[Softmax] over vocabulary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  ↓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Target Word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30" name="Google Shape;230;p48"/>
          <p:cNvSpPr/>
          <p:nvPr/>
        </p:nvSpPr>
        <p:spPr>
          <a:xfrm>
            <a:off x="4742675" y="1648475"/>
            <a:ext cx="37578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00"/>
              <a:buFont typeface="Unbounded"/>
              <a:buChar char="●"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Faster to train than Skip-gram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00"/>
              <a:buFont typeface="Unbounded"/>
              <a:buChar char="●"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Works better for frequent words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00"/>
              <a:buFont typeface="Unbounded"/>
              <a:buChar char="●"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Tends to produce smoother embeddings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9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Continuous Skip-gram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37" name="Google Shape;237;p49"/>
          <p:cNvSpPr/>
          <p:nvPr/>
        </p:nvSpPr>
        <p:spPr>
          <a:xfrm>
            <a:off x="399275" y="810275"/>
            <a:ext cx="8290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Opposite of CBOW: Predict context words given a target word.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For a given word, predicts words around it within a defined window.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Target: "jumps" → Predict: ["the", "brown", "fox", "over", "the"]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More powerful for infrequent words or domain-specific language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Slower to train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Produces higher-quality embeddings, especially for rare words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Captures semantic and syntactic regularities better than CBOW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0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Continuous Skip-gram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44" name="Google Shape;244;p50"/>
          <p:cNvSpPr/>
          <p:nvPr/>
        </p:nvSpPr>
        <p:spPr>
          <a:xfrm>
            <a:off x="399275" y="660750"/>
            <a:ext cx="3757800" cy="4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Input: One-Hot vector of target word (e.g., "black")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  ↓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Embedding Matrix Lookup → Get dense vector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  ↓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Multiple outputs: One for each context position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  ↓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Each output → Softmax over vocab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  ↓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Try to predict context words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45" name="Google Shape;245;p50"/>
          <p:cNvSpPr/>
          <p:nvPr/>
        </p:nvSpPr>
        <p:spPr>
          <a:xfrm>
            <a:off x="4742675" y="1648475"/>
            <a:ext cx="37578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00"/>
              <a:buFont typeface="Unbounded"/>
              <a:buChar char="●"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Better for rare words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00"/>
              <a:buFont typeface="Unbounded"/>
              <a:buChar char="●"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Slower to train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00"/>
              <a:buFont typeface="Unbounded"/>
              <a:buChar char="●"/>
            </a:pPr>
            <a:r>
              <a:rPr lang="en" sz="1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Captures semantic and syntactic relationships more richly</a:t>
            </a:r>
            <a:endParaRPr sz="12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1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CBOW vs </a:t>
            </a: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Continuous Skip-gram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52" name="Google Shape;252;p51"/>
          <p:cNvGraphicFramePr/>
          <p:nvPr/>
        </p:nvGraphicFramePr>
        <p:xfrm>
          <a:off x="569225" y="71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{15125576-6A08-4513-9020-715A90665F36}</a:tableStyleId>
              </a:tblPr>
              <a:tblGrid>
                <a:gridCol w="3478675"/>
                <a:gridCol w="2050350"/>
                <a:gridCol w="24765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Scenario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Use CBOW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Use Skip-gram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Large dataset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Yes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Yes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Small dataset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(less effective)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(performs better)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Frequent words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Learns better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Less effective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Rare or domain-specific words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Struggles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Captures rare words well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Faster training needed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Faster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Slower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High-quality embeddings preferred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Smoother, less sharp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Richer embeddings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Limited compute resources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Lighter model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Heavier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Syntax and semantic nuance important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Not ideal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Better for nuanced tasks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2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Training Word2Vec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59" name="Google Shape;259;p52"/>
          <p:cNvSpPr/>
          <p:nvPr/>
        </p:nvSpPr>
        <p:spPr>
          <a:xfrm>
            <a:off x="399275" y="810275"/>
            <a:ext cx="8290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new Word2Vec model is trained if a suitable pretrained does not exits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Word2Vec is self-supervised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Labels are generated from the data itself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First is to get a copus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Followed by preprocessing (tokenization, lowercase etc)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Next, configure and train word2vec model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gensim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package is used for training a new Word2Vec model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53"/>
          <p:cNvGraphicFramePr/>
          <p:nvPr/>
        </p:nvGraphicFramePr>
        <p:xfrm>
          <a:off x="228600" y="135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{15125576-6A08-4513-9020-715A90665F36}</a:tableStyleId>
              </a:tblPr>
              <a:tblGrid>
                <a:gridCol w="1777250"/>
                <a:gridCol w="3000125"/>
                <a:gridCol w="3899900"/>
              </a:tblGrid>
              <a:tr h="396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Word2Vec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BERT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Architecture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Shallow neural network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Deep Transformer encoder (multi-layered)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Context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Static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: same vector for word in all contexts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Contextual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: vector changes depending on sentence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Directionality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Unidirectional (CBOW or Skip-gram)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Bidirectional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 (full context left &amp; right)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Training Objective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Predict context words (CBOW/Skip-gram)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Masked Language Modeling + Next Sentence Prediction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Pretrained on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Raw text (e.g., Google News)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Huge corpora (Wikipedia, BooksCorpus, etc.)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6" name="Google Shape;266;p53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Bert vs</a:t>
            </a: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Word2Vec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" name="Google Shape;272;p54"/>
          <p:cNvGraphicFramePr/>
          <p:nvPr/>
        </p:nvGraphicFramePr>
        <p:xfrm>
          <a:off x="228600" y="127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{15125576-6A08-4513-9020-715A90665F36}</a:tableStyleId>
              </a:tblPr>
              <a:tblGrid>
                <a:gridCol w="1777250"/>
                <a:gridCol w="3000125"/>
                <a:gridCol w="3899900"/>
              </a:tblGrid>
              <a:tr h="396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Word2Vec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BERT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Output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One vector per word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One vector per word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per sentence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Handling polysemy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Same vector for all meanings of a word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Different vectors depending on usage/context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Use case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Simple NLP tasks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Complex tasks (QA, NER, classification, sentence pairs)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Training time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Fast (minutes-hours)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Very slow (days on TPUs for BERT-base)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Fine-tuning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Usually not needed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Fine-tuning is common and powerful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3" name="Google Shape;273;p54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Bert vs</a:t>
            </a: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Word2Vec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" name="Google Shape;279;p55"/>
          <p:cNvGraphicFramePr/>
          <p:nvPr/>
        </p:nvGraphicFramePr>
        <p:xfrm>
          <a:off x="228600" y="127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{15125576-6A08-4513-9020-715A90665F36}</a:tableStyleId>
              </a:tblPr>
              <a:tblGrid>
                <a:gridCol w="1777250"/>
                <a:gridCol w="3000125"/>
                <a:gridCol w="3899900"/>
              </a:tblGrid>
              <a:tr h="396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Word2Vec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BERT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Output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One vector per word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One vector per word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per sentence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Handling polysemy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Same vector for all meanings of a word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Different vectors depending on usage/context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Use case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Simple NLP tasks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Complex tasks (QA, NER, classification, sentence pairs)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Training time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Fast (minutes-hours)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Very slow (days on TPUs for BERT-base)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Fine-tuning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Usually not needed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Fine-tuning is common and powerful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0" name="Google Shape;280;p55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Bert vs Word2Vec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56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6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6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